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5.xml" ContentType="application/vnd.openxmlformats-officedocument.drawingml.chart+xml"/>
  <Override PartName="/ppt/charts/chart16.xml" ContentType="application/vnd.openxmlformats-officedocument.drawingml.chart+xml"/>
  <Override PartName="/ppt/notesSlides/notesSlide1.xml" ContentType="application/vnd.openxmlformats-officedocument.presentationml.notesSlide+xml"/>
  <Override PartName="/ppt/charts/chart17.xml" ContentType="application/vnd.openxmlformats-officedocument.drawingml.chart+xml"/>
  <Override PartName="/ppt/notesSlides/notesSlide2.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handoutMasterIdLst>
    <p:handoutMasterId r:id="rId39"/>
  </p:handoutMasterIdLst>
  <p:sldIdLst>
    <p:sldId id="256" r:id="rId2"/>
    <p:sldId id="331" r:id="rId3"/>
    <p:sldId id="351" r:id="rId4"/>
    <p:sldId id="343" r:id="rId5"/>
    <p:sldId id="371" r:id="rId6"/>
    <p:sldId id="340" r:id="rId7"/>
    <p:sldId id="273" r:id="rId8"/>
    <p:sldId id="370" r:id="rId9"/>
    <p:sldId id="275" r:id="rId10"/>
    <p:sldId id="365" r:id="rId11"/>
    <p:sldId id="326" r:id="rId12"/>
    <p:sldId id="356" r:id="rId13"/>
    <p:sldId id="357" r:id="rId14"/>
    <p:sldId id="329" r:id="rId15"/>
    <p:sldId id="374" r:id="rId16"/>
    <p:sldId id="375" r:id="rId17"/>
    <p:sldId id="333" r:id="rId18"/>
    <p:sldId id="311" r:id="rId19"/>
    <p:sldId id="376" r:id="rId20"/>
    <p:sldId id="258" r:id="rId21"/>
    <p:sldId id="257" r:id="rId22"/>
    <p:sldId id="327" r:id="rId23"/>
    <p:sldId id="328" r:id="rId24"/>
    <p:sldId id="321" r:id="rId25"/>
    <p:sldId id="378" r:id="rId26"/>
    <p:sldId id="379" r:id="rId27"/>
    <p:sldId id="302" r:id="rId28"/>
    <p:sldId id="368" r:id="rId29"/>
    <p:sldId id="266" r:id="rId30"/>
    <p:sldId id="269" r:id="rId31"/>
    <p:sldId id="276" r:id="rId32"/>
    <p:sldId id="323" r:id="rId33"/>
    <p:sldId id="348" r:id="rId34"/>
    <p:sldId id="336" r:id="rId35"/>
    <p:sldId id="337" r:id="rId36"/>
    <p:sldId id="259" r:id="rId3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A5989798-A5F3-4565-9832-E82E1B37B9D6}">
          <p14:sldIdLst>
            <p14:sldId id="256"/>
            <p14:sldId id="331"/>
            <p14:sldId id="351"/>
            <p14:sldId id="343"/>
            <p14:sldId id="371"/>
            <p14:sldId id="340"/>
            <p14:sldId id="273"/>
            <p14:sldId id="370"/>
            <p14:sldId id="275"/>
            <p14:sldId id="365"/>
            <p14:sldId id="326"/>
            <p14:sldId id="356"/>
            <p14:sldId id="357"/>
            <p14:sldId id="329"/>
            <p14:sldId id="374"/>
            <p14:sldId id="375"/>
            <p14:sldId id="333"/>
            <p14:sldId id="311"/>
            <p14:sldId id="376"/>
            <p14:sldId id="258"/>
            <p14:sldId id="257"/>
            <p14:sldId id="327"/>
            <p14:sldId id="328"/>
            <p14:sldId id="321"/>
            <p14:sldId id="378"/>
            <p14:sldId id="379"/>
            <p14:sldId id="302"/>
            <p14:sldId id="368"/>
            <p14:sldId id="266"/>
            <p14:sldId id="269"/>
            <p14:sldId id="276"/>
            <p14:sldId id="323"/>
            <p14:sldId id="348"/>
            <p14:sldId id="336"/>
            <p14:sldId id="337"/>
            <p14:sldId id="259"/>
          </p14:sldIdLst>
        </p14:section>
        <p14:section name="Seção sem Título" id="{360F12A9-A58A-44F8-8DA2-241BA616756F}">
          <p14:sldIdLst/>
        </p14:section>
      </p14:sectionLst>
    </p:ex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F9BB7E-9629-2792-115B-B5AB209F708B}" name="Hebrom Bispo" initials="HB" userId="5abe2cf4e973f85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3F8"/>
    <a:srgbClr val="2F68D3"/>
    <a:srgbClr val="FFB700"/>
    <a:srgbClr val="FF3399"/>
    <a:srgbClr val="040148"/>
    <a:srgbClr val="7395D3"/>
    <a:srgbClr val="537DC9"/>
    <a:srgbClr val="305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com Tema 1 - Ênfas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Estilo Médio 1 - Ênfas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083E6E3-FA7D-4D7B-A595-EF9225AFEA82}" styleName="Estilo Claro 1 - Ênfase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Ênfas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Estilo Claro 3 - Ênfase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Estilo Claro 1 - Ênfase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Estilo Claro 3 - Ênfase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Estilo Claro 3 - Ênfas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D7AC3CCA-C797-4891-BE02-D94E43425B78}" styleName="Estilo Mé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Estilo Médio 4 - Ênfas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Estilo Escuro 1 - Ênfas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020" y="-2752"/>
      </p:cViewPr>
      <p:guideLst>
        <p:guide orient="horz" pos="3120"/>
        <p:guide pos="2160"/>
      </p:guideLst>
    </p:cSldViewPr>
  </p:slideViewPr>
  <p:notesTextViewPr>
    <p:cViewPr>
      <p:scale>
        <a:sx n="1" d="1"/>
        <a:sy n="1" d="1"/>
      </p:scale>
      <p:origin x="0" y="0"/>
    </p:cViewPr>
  </p:notesTextViewPr>
  <p:sorterViewPr>
    <p:cViewPr>
      <p:scale>
        <a:sx n="120" d="100"/>
        <a:sy n="120" d="100"/>
      </p:scale>
      <p:origin x="0" y="-430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handoutMaster" Target="handoutMasters/handoutMaster1.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microsoft.com/office/2018/10/relationships/authors" Target="author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tableStyles" Target="tableStyles.xml" /></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6F919CC988C2D38F/Boletim/Gr&#225;ficos%20V21.xlsx" TargetMode="External" /><Relationship Id="rId2" Type="http://schemas.microsoft.com/office/2011/relationships/chartColorStyle" Target="colors1.xml" /><Relationship Id="rId1" Type="http://schemas.microsoft.com/office/2011/relationships/chartStyle" Target="style1.xml" /></Relationships>
</file>

<file path=ppt/charts/_rels/chart2.xml.rels><?xml version="1.0" encoding="UTF-8" standalone="yes"?>
<Relationships xmlns="http://schemas.openxmlformats.org/package/2006/relationships"><Relationship Id="rId1" Type="http://schemas.openxmlformats.org/officeDocument/2006/relationships/oleObject" Target="https://d.docs.live.net/6F919CC988C2D38F/Boletim/Gr&#225;ficos%20V2.xlsx" TargetMode="External" /></Relationships>
</file>

<file path=ppt/charts/_rels/chart3.xml.rels><?xml version="1.0" encoding="UTF-8" standalone="yes"?>
<Relationships xmlns="http://schemas.openxmlformats.org/package/2006/relationships"><Relationship Id="rId1" Type="http://schemas.openxmlformats.org/officeDocument/2006/relationships/oleObject" Target="https://d.docs.live.net/6F919CC988C2D38F/Boletim/Gr&#225;ficos%20V2.xlsx" TargetMode="External" /></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6F919CC988C2D38F/Boletim/Gr&#225;ficos%20V2.xlsx" TargetMode="External" /><Relationship Id="rId2" Type="http://schemas.microsoft.com/office/2011/relationships/chartColorStyle" Target="colors2.xml" /><Relationship Id="rId1" Type="http://schemas.microsoft.com/office/2011/relationships/chartStyle" Target="style2.xml" /></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6F919CC988C2D38F/Boletim/Gr&#225;ficos%20V2.xlsx" TargetMode="External" /><Relationship Id="rId2" Type="http://schemas.microsoft.com/office/2011/relationships/chartColorStyle" Target="colors3.xml" /><Relationship Id="rId1" Type="http://schemas.microsoft.com/office/2011/relationships/chartStyle" Target="style3.xml" /></Relationships>
</file>

<file path=ppt/charts/_rels/chart6.xml.rels><?xml version="1.0" encoding="UTF-8" standalone="yes"?>
<Relationships xmlns="http://schemas.openxmlformats.org/package/2006/relationships"><Relationship Id="rId1" Type="http://schemas.openxmlformats.org/officeDocument/2006/relationships/oleObject" Target="https://d.docs.live.net/6F919CC988C2D38F/Boletim/Gr&#225;ficos%20V2.xlsx" TargetMode="External" /></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6F919CC988C2D38F/Boletim/Gr&#225;ficos%20V2.xlsx" TargetMode="External" /><Relationship Id="rId2" Type="http://schemas.microsoft.com/office/2011/relationships/chartColorStyle" Target="colors4.xml" /><Relationship Id="rId1" Type="http://schemas.microsoft.com/office/2011/relationships/chartStyle" Target="style4.xml" /></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6F919CC988C2D38F/Boletim/Gr&#225;ficos%20Trimestrais%20IPEA%20-%20Carlos.xlsx" TargetMode="External" /><Relationship Id="rId2" Type="http://schemas.microsoft.com/office/2011/relationships/chartColorStyle" Target="colors5.xml" /><Relationship Id="rId1" Type="http://schemas.microsoft.com/office/2011/relationships/chartStyle" Target="style5.xml" /></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6F919CC988C2D38F/Boletim/Gr&#225;ficos%20Trimestrais%20IPEA%20-%20Carlos.xlsx" TargetMode="External" /><Relationship Id="rId2" Type="http://schemas.microsoft.com/office/2011/relationships/chartColorStyle" Target="colors6.xml" /><Relationship Id="rId1" Type="http://schemas.microsoft.com/office/2011/relationships/chartStyle" Target="style6.xml" /></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6F919CC988C2D38F/Boletim/Balan&#231;a%20dez.xlsx" TargetMode="External" /><Relationship Id="rId2" Type="http://schemas.microsoft.com/office/2011/relationships/chartColorStyle" Target="colors7.xml" /><Relationship Id="rId1" Type="http://schemas.microsoft.com/office/2011/relationships/chartStyle" Target="style7.xml" /></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6F919CC988C2D38F/Boletim/Balan&#231;a%20dez.xlsx" TargetMode="External" /><Relationship Id="rId2" Type="http://schemas.microsoft.com/office/2011/relationships/chartColorStyle" Target="colors8.xml" /><Relationship Id="rId1" Type="http://schemas.microsoft.com/office/2011/relationships/chartStyle" Target="style8.xml" /></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6f919cc988c2d38f/Boletim/Balan&#231;a%20dez.xlsx" TargetMode="External" /><Relationship Id="rId2" Type="http://schemas.microsoft.com/office/2011/relationships/chartColorStyle" Target="colors9.xml" /><Relationship Id="rId1" Type="http://schemas.microsoft.com/office/2011/relationships/chartStyle" Target="style9.xml" /></Relationships>
</file>

<file path=ppt/charts/_rels/chart13.xml.rels><?xml version="1.0" encoding="UTF-8" standalone="yes"?>
<Relationships xmlns="http://schemas.openxmlformats.org/package/2006/relationships"><Relationship Id="rId3" Type="http://schemas.openxmlformats.org/officeDocument/2006/relationships/oleObject" Target="https://d.docs.live.net/6F919CC988C2D38F/Boletim/Gr&#225;ficos%20V2.xlsx" TargetMode="External" /><Relationship Id="rId2" Type="http://schemas.microsoft.com/office/2011/relationships/chartColorStyle" Target="colors10.xml" /><Relationship Id="rId1" Type="http://schemas.microsoft.com/office/2011/relationships/chartStyle" Target="style10.xml" /></Relationships>
</file>

<file path=ppt/charts/_rels/chart14.xml.rels><?xml version="1.0" encoding="UTF-8" standalone="yes"?>
<Relationships xmlns="http://schemas.openxmlformats.org/package/2006/relationships"><Relationship Id="rId3" Type="http://schemas.openxmlformats.org/officeDocument/2006/relationships/oleObject" Target="https://d.docs.live.net/6F919CC988C2D38F/Boletim/Gr&#225;ficos%20V2.xlsx" TargetMode="External" /><Relationship Id="rId2" Type="http://schemas.microsoft.com/office/2011/relationships/chartColorStyle" Target="colors11.xml" /><Relationship Id="rId1" Type="http://schemas.microsoft.com/office/2011/relationships/chartStyle" Target="style11.xml" /></Relationships>
</file>

<file path=ppt/charts/_rels/chart15.xml.rels><?xml version="1.0" encoding="UTF-8" standalone="yes"?>
<Relationships xmlns="http://schemas.openxmlformats.org/package/2006/relationships"><Relationship Id="rId1" Type="http://schemas.openxmlformats.org/officeDocument/2006/relationships/oleObject" Target="file:///C:\Users\victo\Downloads\Faculdade%20Economia\Boletim%20Focus%20-%20Produ&#231;&#227;o%20de%20A&#231;o\planilha%20do%20victorio.xlsx" TargetMode="External" /></Relationships>
</file>

<file path=ppt/charts/_rels/chart16.xml.rels><?xml version="1.0" encoding="UTF-8" standalone="yes"?>
<Relationships xmlns="http://schemas.openxmlformats.org/package/2006/relationships"><Relationship Id="rId1" Type="http://schemas.openxmlformats.org/officeDocument/2006/relationships/oleObject" Target="file:///C:\Users\victo\Downloads\Faculdade%20Economia\Boletim%20Focus%20-%20Produ&#231;&#227;o%20de%20A&#231;o\planilha%20do%20victorio.xlsx" TargetMode="External" /></Relationships>
</file>

<file path=ppt/charts/_rels/chart17.xml.rels><?xml version="1.0" encoding="UTF-8" standalone="yes"?>
<Relationships xmlns="http://schemas.openxmlformats.org/package/2006/relationships"><Relationship Id="rId1" Type="http://schemas.openxmlformats.org/officeDocument/2006/relationships/oleObject" Target="https://d.docs.live.net/6F919CC988C2D38F/Boletim/Gr&#225;ficos%20V21.xlsx" TargetMode="External" /></Relationships>
</file>

<file path=ppt/charts/_rels/chart18.xml.rels><?xml version="1.0" encoding="UTF-8" standalone="yes"?>
<Relationships xmlns="http://schemas.openxmlformats.org/package/2006/relationships"><Relationship Id="rId3" Type="http://schemas.openxmlformats.org/officeDocument/2006/relationships/oleObject" Target="https://d.docs.live.net/6F919CC988C2D38F/Boletim/Gr&#225;ficos%20Trimestrais%20IPEA%20-%20Carlos.xlsx" TargetMode="External" /><Relationship Id="rId2" Type="http://schemas.microsoft.com/office/2011/relationships/chartColorStyle" Target="colors12.xml" /><Relationship Id="rId1" Type="http://schemas.microsoft.com/office/2011/relationships/chartStyle" Target="style12.xm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Índice de Atividade Econômica - (2022 = 100) - IBC-Br - Bacen</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IBC-Br!$J$66</c:f>
              <c:strCache>
                <c:ptCount val="1"/>
                <c:pt idx="0">
                  <c:v>IBC-Br</c:v>
                </c:pt>
              </c:strCache>
            </c:strRef>
          </c:tx>
          <c:spPr>
            <a:ln w="28575" cap="rnd">
              <a:solidFill>
                <a:srgbClr val="2F68D3"/>
              </a:solidFill>
              <a:round/>
            </a:ln>
            <a:effectLst/>
          </c:spPr>
          <c:marker>
            <c:symbol val="square"/>
            <c:size val="5"/>
            <c:spPr>
              <a:solidFill>
                <a:srgbClr val="2F68D3"/>
              </a:solidFill>
              <a:ln w="9525" cmpd="dbl">
                <a:solidFill>
                  <a:srgbClr val="2F68D3"/>
                </a:solidFill>
              </a:ln>
              <a:effectLst/>
            </c:spPr>
          </c:marker>
          <c:dPt>
            <c:idx val="8"/>
            <c:marker>
              <c:symbol val="square"/>
              <c:size val="7"/>
              <c:spPr>
                <a:solidFill>
                  <a:srgbClr val="2F68D3"/>
                </a:solidFill>
                <a:ln w="9525" cmpd="dbl">
                  <a:solidFill>
                    <a:srgbClr val="2F68D3"/>
                  </a:solidFill>
                </a:ln>
                <a:effectLst/>
              </c:spPr>
            </c:marker>
            <c:bubble3D val="0"/>
            <c:extLst>
              <c:ext xmlns:c16="http://schemas.microsoft.com/office/drawing/2014/chart" uri="{C3380CC4-5D6E-409C-BE32-E72D297353CC}">
                <c16:uniqueId val="{00000000-70BA-4E60-8161-807C02730E13}"/>
              </c:ext>
            </c:extLst>
          </c:dPt>
          <c:dLbls>
            <c:dLbl>
              <c:idx val="8"/>
              <c:layout>
                <c:manualLayout>
                  <c:x val="-1.2684138219508835E-16"/>
                  <c:y val="-7.10787212695518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0BA-4E60-8161-807C02730E1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IBC-Br!$I$71:$I$79</c:f>
              <c:strCache>
                <c:ptCount val="9"/>
                <c:pt idx="0">
                  <c:v>1T24</c:v>
                </c:pt>
                <c:pt idx="1">
                  <c:v>2T24</c:v>
                </c:pt>
                <c:pt idx="2">
                  <c:v>3T24</c:v>
                </c:pt>
                <c:pt idx="3">
                  <c:v>4T24</c:v>
                </c:pt>
                <c:pt idx="4">
                  <c:v>1T25</c:v>
                </c:pt>
                <c:pt idx="5">
                  <c:v>2T25</c:v>
                </c:pt>
                <c:pt idx="6">
                  <c:v>3T25</c:v>
                </c:pt>
                <c:pt idx="7">
                  <c:v>4T25</c:v>
                </c:pt>
                <c:pt idx="8">
                  <c:v>1T26</c:v>
                </c:pt>
              </c:strCache>
            </c:strRef>
          </c:cat>
          <c:val>
            <c:numRef>
              <c:f>IBC-Br!$J$71:$J$79</c:f>
              <c:numCache>
                <c:formatCode>General</c:formatCode>
                <c:ptCount val="9"/>
                <c:pt idx="0">
                  <c:v>104.7</c:v>
                </c:pt>
                <c:pt idx="1">
                  <c:v>106.6</c:v>
                </c:pt>
                <c:pt idx="2">
                  <c:v>108</c:v>
                </c:pt>
                <c:pt idx="3">
                  <c:v>107</c:v>
                </c:pt>
                <c:pt idx="4">
                  <c:v>110.2</c:v>
                </c:pt>
                <c:pt idx="5">
                  <c:v>108.8</c:v>
                </c:pt>
                <c:pt idx="6">
                  <c:v>108.7</c:v>
                </c:pt>
                <c:pt idx="7">
                  <c:v>109.2</c:v>
                </c:pt>
                <c:pt idx="8">
                  <c:v>110.2</c:v>
                </c:pt>
              </c:numCache>
            </c:numRef>
          </c:val>
          <c:smooth val="1"/>
          <c:extLst>
            <c:ext xmlns:c16="http://schemas.microsoft.com/office/drawing/2014/chart" uri="{C3380CC4-5D6E-409C-BE32-E72D297353CC}">
              <c16:uniqueId val="{00000001-70BA-4E60-8161-807C02730E13}"/>
            </c:ext>
          </c:extLst>
        </c:ser>
        <c:ser>
          <c:idx val="1"/>
          <c:order val="1"/>
          <c:tx>
            <c:strRef>
              <c:f>IBC-Br!$K$66</c:f>
              <c:strCache>
                <c:ptCount val="1"/>
                <c:pt idx="0">
                  <c:v>Agropecuária</c:v>
                </c:pt>
              </c:strCache>
            </c:strRef>
          </c:tx>
          <c:spPr>
            <a:ln w="28575" cap="rnd">
              <a:solidFill>
                <a:srgbClr val="FFB700"/>
              </a:solidFill>
              <a:round/>
            </a:ln>
            <a:effectLst/>
          </c:spPr>
          <c:marker>
            <c:symbol val="triangle"/>
            <c:size val="7"/>
            <c:spPr>
              <a:solidFill>
                <a:srgbClr val="FFB700"/>
              </a:solidFill>
              <a:ln w="9525">
                <a:solidFill>
                  <a:srgbClr val="FFB700"/>
                </a:solidFill>
              </a:ln>
              <a:effectLst/>
            </c:spPr>
          </c:marker>
          <c:dLbls>
            <c:dLbl>
              <c:idx val="8"/>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0BA-4E60-8161-807C02730E1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IBC-Br!$I$71:$I$79</c:f>
              <c:strCache>
                <c:ptCount val="9"/>
                <c:pt idx="0">
                  <c:v>1T24</c:v>
                </c:pt>
                <c:pt idx="1">
                  <c:v>2T24</c:v>
                </c:pt>
                <c:pt idx="2">
                  <c:v>3T24</c:v>
                </c:pt>
                <c:pt idx="3">
                  <c:v>4T24</c:v>
                </c:pt>
                <c:pt idx="4">
                  <c:v>1T25</c:v>
                </c:pt>
                <c:pt idx="5">
                  <c:v>2T25</c:v>
                </c:pt>
                <c:pt idx="6">
                  <c:v>3T25</c:v>
                </c:pt>
                <c:pt idx="7">
                  <c:v>4T25</c:v>
                </c:pt>
                <c:pt idx="8">
                  <c:v>1T26</c:v>
                </c:pt>
              </c:strCache>
            </c:strRef>
          </c:cat>
          <c:val>
            <c:numRef>
              <c:f>IBC-Br!$K$71:$K$79</c:f>
              <c:numCache>
                <c:formatCode>General</c:formatCode>
                <c:ptCount val="9"/>
                <c:pt idx="0">
                  <c:v>108.4</c:v>
                </c:pt>
                <c:pt idx="1">
                  <c:v>115.2</c:v>
                </c:pt>
                <c:pt idx="2">
                  <c:v>118.3</c:v>
                </c:pt>
                <c:pt idx="3">
                  <c:v>120.8</c:v>
                </c:pt>
                <c:pt idx="4">
                  <c:v>132.1</c:v>
                </c:pt>
                <c:pt idx="5">
                  <c:v>126</c:v>
                </c:pt>
                <c:pt idx="6">
                  <c:v>125.6</c:v>
                </c:pt>
                <c:pt idx="7">
                  <c:v>130.19999999999999</c:v>
                </c:pt>
                <c:pt idx="8">
                  <c:v>130</c:v>
                </c:pt>
              </c:numCache>
            </c:numRef>
          </c:val>
          <c:smooth val="1"/>
          <c:extLst>
            <c:ext xmlns:c16="http://schemas.microsoft.com/office/drawing/2014/chart" uri="{C3380CC4-5D6E-409C-BE32-E72D297353CC}">
              <c16:uniqueId val="{00000003-70BA-4E60-8161-807C02730E13}"/>
            </c:ext>
          </c:extLst>
        </c:ser>
        <c:ser>
          <c:idx val="2"/>
          <c:order val="2"/>
          <c:tx>
            <c:strRef>
              <c:f>IBC-Br!$L$66</c:f>
              <c:strCache>
                <c:ptCount val="1"/>
                <c:pt idx="0">
                  <c:v>Indústria</c:v>
                </c:pt>
              </c:strCache>
            </c:strRef>
          </c:tx>
          <c:spPr>
            <a:ln w="28575" cap="rnd">
              <a:solidFill>
                <a:srgbClr val="FF7CFF"/>
              </a:solidFill>
              <a:round/>
            </a:ln>
            <a:effectLst/>
          </c:spPr>
          <c:marker>
            <c:symbol val="circle"/>
            <c:size val="6"/>
            <c:spPr>
              <a:solidFill>
                <a:srgbClr val="FF7CFF"/>
              </a:solidFill>
              <a:ln w="9525">
                <a:solidFill>
                  <a:srgbClr val="FF7CFF"/>
                </a:solidFill>
              </a:ln>
              <a:effectLst/>
            </c:spPr>
          </c:marker>
          <c:dLbls>
            <c:dLbl>
              <c:idx val="8"/>
              <c:layout>
                <c:manualLayout>
                  <c:x val="-1.2684138219508835E-16"/>
                  <c:y val="3.31700699257908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0BA-4E60-8161-807C02730E1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IBC-Br!$I$71:$I$79</c:f>
              <c:strCache>
                <c:ptCount val="9"/>
                <c:pt idx="0">
                  <c:v>1T24</c:v>
                </c:pt>
                <c:pt idx="1">
                  <c:v>2T24</c:v>
                </c:pt>
                <c:pt idx="2">
                  <c:v>3T24</c:v>
                </c:pt>
                <c:pt idx="3">
                  <c:v>4T24</c:v>
                </c:pt>
                <c:pt idx="4">
                  <c:v>1T25</c:v>
                </c:pt>
                <c:pt idx="5">
                  <c:v>2T25</c:v>
                </c:pt>
                <c:pt idx="6">
                  <c:v>3T25</c:v>
                </c:pt>
                <c:pt idx="7">
                  <c:v>4T25</c:v>
                </c:pt>
                <c:pt idx="8">
                  <c:v>1T26</c:v>
                </c:pt>
              </c:strCache>
            </c:strRef>
          </c:cat>
          <c:val>
            <c:numRef>
              <c:f>IBC-Br!$L$71:$L$79</c:f>
              <c:numCache>
                <c:formatCode>General</c:formatCode>
                <c:ptCount val="9"/>
                <c:pt idx="0">
                  <c:v>102.2</c:v>
                </c:pt>
                <c:pt idx="1">
                  <c:v>104.2</c:v>
                </c:pt>
                <c:pt idx="2">
                  <c:v>104.8</c:v>
                </c:pt>
                <c:pt idx="3">
                  <c:v>104.8</c:v>
                </c:pt>
                <c:pt idx="4">
                  <c:v>107.5</c:v>
                </c:pt>
                <c:pt idx="5">
                  <c:v>105.4</c:v>
                </c:pt>
                <c:pt idx="6">
                  <c:v>104.8</c:v>
                </c:pt>
                <c:pt idx="7">
                  <c:v>104.7</c:v>
                </c:pt>
                <c:pt idx="8">
                  <c:v>105.9</c:v>
                </c:pt>
              </c:numCache>
            </c:numRef>
          </c:val>
          <c:smooth val="1"/>
          <c:extLst>
            <c:ext xmlns:c16="http://schemas.microsoft.com/office/drawing/2014/chart" uri="{C3380CC4-5D6E-409C-BE32-E72D297353CC}">
              <c16:uniqueId val="{00000005-70BA-4E60-8161-807C02730E13}"/>
            </c:ext>
          </c:extLst>
        </c:ser>
        <c:ser>
          <c:idx val="3"/>
          <c:order val="3"/>
          <c:tx>
            <c:strRef>
              <c:f>IBC-Br!$M$66</c:f>
              <c:strCache>
                <c:ptCount val="1"/>
                <c:pt idx="0">
                  <c:v>Serviços</c:v>
                </c:pt>
              </c:strCache>
            </c:strRef>
          </c:tx>
          <c:spPr>
            <a:ln w="28575" cap="rnd">
              <a:solidFill>
                <a:srgbClr val="EF0988"/>
              </a:solidFill>
              <a:round/>
            </a:ln>
            <a:effectLst/>
          </c:spPr>
          <c:marker>
            <c:symbol val="diamond"/>
            <c:size val="7"/>
            <c:spPr>
              <a:solidFill>
                <a:srgbClr val="EF0988"/>
              </a:solidFill>
              <a:ln w="9525">
                <a:solidFill>
                  <a:srgbClr val="EF0988"/>
                </a:solidFill>
              </a:ln>
              <a:effectLst/>
            </c:spPr>
          </c:marker>
          <c:dLbls>
            <c:dLbl>
              <c:idx val="8"/>
              <c:layout>
                <c:manualLayout>
                  <c:x val="-1.2684138219508835E-16"/>
                  <c:y val="1.42157442539103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0BA-4E60-8161-807C02730E13}"/>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IBC-Br!$I$71:$I$79</c:f>
              <c:strCache>
                <c:ptCount val="9"/>
                <c:pt idx="0">
                  <c:v>1T24</c:v>
                </c:pt>
                <c:pt idx="1">
                  <c:v>2T24</c:v>
                </c:pt>
                <c:pt idx="2">
                  <c:v>3T24</c:v>
                </c:pt>
                <c:pt idx="3">
                  <c:v>4T24</c:v>
                </c:pt>
                <c:pt idx="4">
                  <c:v>1T25</c:v>
                </c:pt>
                <c:pt idx="5">
                  <c:v>2T25</c:v>
                </c:pt>
                <c:pt idx="6">
                  <c:v>3T25</c:v>
                </c:pt>
                <c:pt idx="7">
                  <c:v>4T25</c:v>
                </c:pt>
                <c:pt idx="8">
                  <c:v>1T26</c:v>
                </c:pt>
              </c:strCache>
            </c:strRef>
          </c:cat>
          <c:val>
            <c:numRef>
              <c:f>IBC-Br!$M$71:$M$79</c:f>
              <c:numCache>
                <c:formatCode>General</c:formatCode>
                <c:ptCount val="9"/>
                <c:pt idx="0">
                  <c:v>105.8</c:v>
                </c:pt>
                <c:pt idx="1">
                  <c:v>106.4</c:v>
                </c:pt>
                <c:pt idx="2">
                  <c:v>107.7</c:v>
                </c:pt>
                <c:pt idx="3">
                  <c:v>106.7</c:v>
                </c:pt>
                <c:pt idx="4">
                  <c:v>108.3</c:v>
                </c:pt>
                <c:pt idx="5">
                  <c:v>108.7</c:v>
                </c:pt>
                <c:pt idx="6">
                  <c:v>108.9</c:v>
                </c:pt>
                <c:pt idx="7">
                  <c:v>109.5</c:v>
                </c:pt>
                <c:pt idx="8">
                  <c:v>110</c:v>
                </c:pt>
              </c:numCache>
            </c:numRef>
          </c:val>
          <c:smooth val="1"/>
          <c:extLst>
            <c:ext xmlns:c16="http://schemas.microsoft.com/office/drawing/2014/chart" uri="{C3380CC4-5D6E-409C-BE32-E72D297353CC}">
              <c16:uniqueId val="{00000007-70BA-4E60-8161-807C02730E13}"/>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1"/>
      </c:catAx>
      <c:valAx>
        <c:axId val="1369505151"/>
        <c:scaling>
          <c:orientation val="minMax"/>
          <c:min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valAx>
      <c:spPr>
        <a:noFill/>
        <a:ln>
          <a:noFill/>
        </a:ln>
        <a:effectLst/>
      </c:spPr>
    </c:plotArea>
    <c:legend>
      <c:legendPos val="b"/>
      <c:layout>
        <c:manualLayout>
          <c:xMode val="edge"/>
          <c:yMode val="edge"/>
          <c:x val="0.24060078641961005"/>
          <c:y val="0.86085643828658875"/>
          <c:w val="0.53946824994445808"/>
          <c:h val="8.3284586587095533E-2"/>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ICEI - Região</a:t>
            </a:r>
          </a:p>
        </c:rich>
      </c:tx>
      <c:overlay val="0"/>
      <c:spPr>
        <a:noFill/>
        <a:ln>
          <a:noFill/>
        </a:ln>
        <a:effectLst/>
      </c:sp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'Graf - ICEI 3'!$B$2</c:f>
              <c:strCache>
                <c:ptCount val="1"/>
                <c:pt idx="0">
                  <c:v>Parâmetro de Confiança</c:v>
                </c:pt>
              </c:strCache>
            </c:strRef>
          </c:tx>
          <c:spPr>
            <a:ln w="25400" cap="rnd">
              <a:solidFill>
                <a:srgbClr val="EF0988"/>
              </a:solidFill>
              <a:bevel/>
            </a:ln>
            <a:effectLst/>
          </c:spPr>
          <c:marker>
            <c:symbol val="square"/>
            <c:size val="5"/>
            <c:spPr>
              <a:solidFill>
                <a:srgbClr val="EF0988"/>
              </a:solidFill>
              <a:ln w="9525" cmpd="dbl">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3'!$B$3:$B$11</c:f>
              <c:numCache>
                <c:formatCode>General</c:formatCode>
                <c:ptCount val="9"/>
                <c:pt idx="0">
                  <c:v>50</c:v>
                </c:pt>
                <c:pt idx="1">
                  <c:v>50</c:v>
                </c:pt>
                <c:pt idx="2">
                  <c:v>50</c:v>
                </c:pt>
                <c:pt idx="3">
                  <c:v>50</c:v>
                </c:pt>
                <c:pt idx="4">
                  <c:v>50</c:v>
                </c:pt>
                <c:pt idx="5">
                  <c:v>50</c:v>
                </c:pt>
                <c:pt idx="6">
                  <c:v>50</c:v>
                </c:pt>
                <c:pt idx="7">
                  <c:v>50</c:v>
                </c:pt>
                <c:pt idx="8">
                  <c:v>50</c:v>
                </c:pt>
              </c:numCache>
            </c:numRef>
          </c:val>
          <c:smooth val="1"/>
          <c:extLst>
            <c:ext xmlns:c16="http://schemas.microsoft.com/office/drawing/2014/chart" uri="{C3380CC4-5D6E-409C-BE32-E72D297353CC}">
              <c16:uniqueId val="{00000000-4EEA-4FA9-8C02-C7D1E63B57CB}"/>
            </c:ext>
          </c:extLst>
        </c:ser>
        <c:ser>
          <c:idx val="1"/>
          <c:order val="1"/>
          <c:tx>
            <c:strRef>
              <c:f>'Graf - ICEI 3'!$J$2</c:f>
              <c:strCache>
                <c:ptCount val="1"/>
                <c:pt idx="0">
                  <c:v>Região Norte</c:v>
                </c:pt>
              </c:strCache>
            </c:strRef>
          </c:tx>
          <c:spPr>
            <a:ln w="25400">
              <a:solidFill>
                <a:srgbClr val="00B050"/>
              </a:solidFill>
            </a:ln>
            <a:effectLst/>
          </c:spPr>
          <c:marker>
            <c:symbol val="triangle"/>
            <c:size val="9"/>
            <c:spPr>
              <a:solidFill>
                <a:srgbClr val="00B05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3'!$J$3:$J$11</c:f>
              <c:numCache>
                <c:formatCode>General</c:formatCode>
                <c:ptCount val="9"/>
                <c:pt idx="0">
                  <c:v>55.3</c:v>
                </c:pt>
                <c:pt idx="1">
                  <c:v>55</c:v>
                </c:pt>
                <c:pt idx="2">
                  <c:v>55.7</c:v>
                </c:pt>
                <c:pt idx="3">
                  <c:v>52.2</c:v>
                </c:pt>
                <c:pt idx="4">
                  <c:v>52.7</c:v>
                </c:pt>
                <c:pt idx="5">
                  <c:v>53</c:v>
                </c:pt>
                <c:pt idx="6">
                  <c:v>47.9</c:v>
                </c:pt>
                <c:pt idx="7">
                  <c:v>48.8</c:v>
                </c:pt>
                <c:pt idx="8">
                  <c:v>48.7</c:v>
                </c:pt>
              </c:numCache>
            </c:numRef>
          </c:val>
          <c:smooth val="1"/>
          <c:extLst>
            <c:ext xmlns:c16="http://schemas.microsoft.com/office/drawing/2014/chart" uri="{C3380CC4-5D6E-409C-BE32-E72D297353CC}">
              <c16:uniqueId val="{00000001-4EEA-4FA9-8C02-C7D1E63B57CB}"/>
            </c:ext>
          </c:extLst>
        </c:ser>
        <c:ser>
          <c:idx val="2"/>
          <c:order val="2"/>
          <c:tx>
            <c:strRef>
              <c:f>'Graf - ICEI 3'!$K$2</c:f>
              <c:strCache>
                <c:ptCount val="1"/>
                <c:pt idx="0">
                  <c:v>Região Nordeste</c:v>
                </c:pt>
              </c:strCache>
            </c:strRef>
          </c:tx>
          <c:spPr>
            <a:ln w="25400" cap="rnd">
              <a:solidFill>
                <a:srgbClr val="FF7C00"/>
              </a:solidFill>
              <a:round/>
            </a:ln>
            <a:effectLst/>
          </c:spPr>
          <c:marker>
            <c:symbol val="circle"/>
            <c:size val="8"/>
            <c:spPr>
              <a:solidFill>
                <a:srgbClr val="FF7C0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3'!$K$3:$K$11</c:f>
              <c:numCache>
                <c:formatCode>General</c:formatCode>
                <c:ptCount val="9"/>
                <c:pt idx="0">
                  <c:v>54.2</c:v>
                </c:pt>
                <c:pt idx="1">
                  <c:v>55.5</c:v>
                </c:pt>
                <c:pt idx="2">
                  <c:v>57.9</c:v>
                </c:pt>
                <c:pt idx="3">
                  <c:v>53.8</c:v>
                </c:pt>
                <c:pt idx="4">
                  <c:v>52.9</c:v>
                </c:pt>
                <c:pt idx="5">
                  <c:v>52.3</c:v>
                </c:pt>
                <c:pt idx="6">
                  <c:v>51.5</c:v>
                </c:pt>
                <c:pt idx="7">
                  <c:v>53.7</c:v>
                </c:pt>
                <c:pt idx="8">
                  <c:v>52.8</c:v>
                </c:pt>
              </c:numCache>
            </c:numRef>
          </c:val>
          <c:smooth val="1"/>
          <c:extLst>
            <c:ext xmlns:c16="http://schemas.microsoft.com/office/drawing/2014/chart" uri="{C3380CC4-5D6E-409C-BE32-E72D297353CC}">
              <c16:uniqueId val="{00000002-4EEA-4FA9-8C02-C7D1E63B57CB}"/>
            </c:ext>
          </c:extLst>
        </c:ser>
        <c:ser>
          <c:idx val="3"/>
          <c:order val="3"/>
          <c:tx>
            <c:strRef>
              <c:f>'Graf - ICEI 3'!$M$2</c:f>
              <c:strCache>
                <c:ptCount val="1"/>
                <c:pt idx="0">
                  <c:v>Região Sudeste</c:v>
                </c:pt>
              </c:strCache>
            </c:strRef>
          </c:tx>
          <c:spPr>
            <a:ln w="19050" cap="rnd">
              <a:solidFill>
                <a:srgbClr val="FF7CFF"/>
              </a:solidFill>
              <a:round/>
            </a:ln>
            <a:effectLst/>
          </c:spPr>
          <c:marker>
            <c:symbol val="diamond"/>
            <c:size val="9"/>
            <c:spPr>
              <a:solidFill>
                <a:srgbClr val="FF7CFF"/>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3'!$M$3:$M$11</c:f>
              <c:numCache>
                <c:formatCode>General</c:formatCode>
                <c:ptCount val="9"/>
                <c:pt idx="0">
                  <c:v>52.7</c:v>
                </c:pt>
                <c:pt idx="1">
                  <c:v>50.5</c:v>
                </c:pt>
                <c:pt idx="2">
                  <c:v>51.9</c:v>
                </c:pt>
                <c:pt idx="3">
                  <c:v>48.7</c:v>
                </c:pt>
                <c:pt idx="4">
                  <c:v>47.2</c:v>
                </c:pt>
                <c:pt idx="5">
                  <c:v>47.2</c:v>
                </c:pt>
                <c:pt idx="6">
                  <c:v>45.3</c:v>
                </c:pt>
                <c:pt idx="7">
                  <c:v>47.2</c:v>
                </c:pt>
                <c:pt idx="8">
                  <c:v>46</c:v>
                </c:pt>
              </c:numCache>
            </c:numRef>
          </c:val>
          <c:smooth val="1"/>
          <c:extLst>
            <c:ext xmlns:c16="http://schemas.microsoft.com/office/drawing/2014/chart" uri="{C3380CC4-5D6E-409C-BE32-E72D297353CC}">
              <c16:uniqueId val="{00000003-4EEA-4FA9-8C02-C7D1E63B57CB}"/>
            </c:ext>
          </c:extLst>
        </c:ser>
        <c:ser>
          <c:idx val="4"/>
          <c:order val="4"/>
          <c:tx>
            <c:strRef>
              <c:f>'Graf - ICEI 3'!$N$2</c:f>
              <c:strCache>
                <c:ptCount val="1"/>
                <c:pt idx="0">
                  <c:v>Região Sul</c:v>
                </c:pt>
              </c:strCache>
            </c:strRef>
          </c:tx>
          <c:spPr>
            <a:ln w="19050"/>
          </c:spPr>
          <c:marker>
            <c:symbol val="star"/>
            <c:size val="9"/>
            <c:spPr>
              <a:ln w="15875">
                <a:solidFill>
                  <a:srgbClr val="4472C4">
                    <a:shade val="76000"/>
                  </a:srgbClr>
                </a:solidFill>
              </a:ln>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3'!$N$3:$N$11</c:f>
              <c:numCache>
                <c:formatCode>General</c:formatCode>
                <c:ptCount val="9"/>
                <c:pt idx="0">
                  <c:v>51.2</c:v>
                </c:pt>
                <c:pt idx="1">
                  <c:v>47.9</c:v>
                </c:pt>
                <c:pt idx="2">
                  <c:v>52.4</c:v>
                </c:pt>
                <c:pt idx="3">
                  <c:v>49.8</c:v>
                </c:pt>
                <c:pt idx="4">
                  <c:v>47</c:v>
                </c:pt>
                <c:pt idx="5">
                  <c:v>48.2</c:v>
                </c:pt>
                <c:pt idx="6">
                  <c:v>43.8</c:v>
                </c:pt>
                <c:pt idx="7">
                  <c:v>45.8</c:v>
                </c:pt>
                <c:pt idx="8">
                  <c:v>44.8</c:v>
                </c:pt>
              </c:numCache>
            </c:numRef>
          </c:val>
          <c:smooth val="1"/>
          <c:extLst>
            <c:ext xmlns:c16="http://schemas.microsoft.com/office/drawing/2014/chart" uri="{C3380CC4-5D6E-409C-BE32-E72D297353CC}">
              <c16:uniqueId val="{00000004-4EEA-4FA9-8C02-C7D1E63B57CB}"/>
            </c:ext>
          </c:extLst>
        </c:ser>
        <c:ser>
          <c:idx val="5"/>
          <c:order val="5"/>
          <c:tx>
            <c:strRef>
              <c:f>'Graf - ICEI 3'!$L$2</c:f>
              <c:strCache>
                <c:ptCount val="1"/>
                <c:pt idx="0">
                  <c:v>Região Centro-Oeste</c:v>
                </c:pt>
              </c:strCache>
            </c:strRef>
          </c:tx>
          <c:spPr>
            <a:ln w="19050">
              <a:solidFill>
                <a:srgbClr val="FFC000"/>
              </a:solidFill>
            </a:ln>
          </c:spPr>
          <c:marker>
            <c:symbol val="diamond"/>
            <c:size val="9"/>
            <c:spPr>
              <a:solidFill>
                <a:srgbClr val="FFC000"/>
              </a:solidFill>
              <a:ln>
                <a:noFill/>
              </a:ln>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3'!$L$3:$L$11</c:f>
              <c:numCache>
                <c:formatCode>General</c:formatCode>
                <c:ptCount val="9"/>
                <c:pt idx="0">
                  <c:v>53.5</c:v>
                </c:pt>
                <c:pt idx="1">
                  <c:v>53.4</c:v>
                </c:pt>
                <c:pt idx="2">
                  <c:v>54.1</c:v>
                </c:pt>
                <c:pt idx="3">
                  <c:v>51.8</c:v>
                </c:pt>
                <c:pt idx="4">
                  <c:v>51</c:v>
                </c:pt>
                <c:pt idx="5">
                  <c:v>48.8</c:v>
                </c:pt>
                <c:pt idx="6">
                  <c:v>50.8</c:v>
                </c:pt>
                <c:pt idx="7">
                  <c:v>50.7</c:v>
                </c:pt>
                <c:pt idx="8">
                  <c:v>49.5</c:v>
                </c:pt>
              </c:numCache>
            </c:numRef>
          </c:val>
          <c:smooth val="1"/>
          <c:extLst>
            <c:ext xmlns:c16="http://schemas.microsoft.com/office/drawing/2014/chart" uri="{C3380CC4-5D6E-409C-BE32-E72D297353CC}">
              <c16:uniqueId val="{00000005-4EEA-4FA9-8C02-C7D1E63B57CB}"/>
            </c:ext>
          </c:extLst>
        </c:ser>
        <c:ser>
          <c:idx val="6"/>
          <c:order val="6"/>
          <c:tx>
            <c:strRef>
              <c:f>'Graf - ICEI 3'!$O$2</c:f>
              <c:strCache>
                <c:ptCount val="1"/>
                <c:pt idx="0">
                  <c:v>Brasil
 </c:v>
                </c:pt>
              </c:strCache>
            </c:strRef>
          </c:tx>
          <c:marker>
            <c:symbol val="plus"/>
            <c:size val="9"/>
            <c:spPr>
              <a:ln w="15875">
                <a:solidFill>
                  <a:srgbClr val="5B9BD5">
                    <a:lumMod val="60000"/>
                    <a:lumOff val="40000"/>
                  </a:srgbClr>
                </a:solidFill>
              </a:ln>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3'!$O$3:$O$11</c:f>
              <c:numCache>
                <c:formatCode>General</c:formatCode>
                <c:ptCount val="9"/>
                <c:pt idx="0">
                  <c:v>52.8</c:v>
                </c:pt>
                <c:pt idx="1">
                  <c:v>51.4</c:v>
                </c:pt>
                <c:pt idx="2">
                  <c:v>53.3</c:v>
                </c:pt>
                <c:pt idx="3">
                  <c:v>50.1</c:v>
                </c:pt>
                <c:pt idx="4">
                  <c:v>49.2</c:v>
                </c:pt>
                <c:pt idx="5">
                  <c:v>48.6</c:v>
                </c:pt>
                <c:pt idx="6">
                  <c:v>46.2</c:v>
                </c:pt>
                <c:pt idx="7">
                  <c:v>48</c:v>
                </c:pt>
                <c:pt idx="8">
                  <c:v>46.6</c:v>
                </c:pt>
              </c:numCache>
            </c:numRef>
          </c:val>
          <c:smooth val="0"/>
          <c:extLst>
            <c:ext xmlns:c16="http://schemas.microsoft.com/office/drawing/2014/chart" uri="{C3380CC4-5D6E-409C-BE32-E72D297353CC}">
              <c16:uniqueId val="{00000006-4EEA-4FA9-8C02-C7D1E63B57CB}"/>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1"/>
      </c:catAx>
      <c:valAx>
        <c:axId val="1369505151"/>
        <c:scaling>
          <c:orientation val="minMax"/>
          <c:max val="60"/>
          <c:min val="4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majorUnit val="5"/>
      </c:valAx>
    </c:plotArea>
    <c:legend>
      <c:legendPos val="b"/>
      <c:legendEntry>
        <c:idx val="6"/>
        <c:delete val="1"/>
      </c:legendEntry>
      <c:layout>
        <c:manualLayout>
          <c:xMode val="edge"/>
          <c:yMode val="edge"/>
          <c:x val="5.2192050306687568E-2"/>
          <c:y val="0.78727420977139762"/>
          <c:w val="0.91921691692612528"/>
          <c:h val="0.20700329125525974"/>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ln w="12700">
      <a:noFill/>
    </a:ln>
  </c:spPr>
  <c:txPr>
    <a:bodyPr/>
    <a:lstStyle/>
    <a:p>
      <a:pPr>
        <a:defRPr/>
      </a:pPr>
      <a:endParaRPr lang="pt-B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ICEI - Porte de Empresas</a:t>
            </a:r>
          </a:p>
        </c:rich>
      </c:tx>
      <c:overlay val="0"/>
      <c:spPr>
        <a:noFill/>
        <a:ln>
          <a:noFill/>
        </a:ln>
        <a:effectLst/>
      </c:sp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'Graf - ICEI 3'!$B$2</c:f>
              <c:strCache>
                <c:ptCount val="1"/>
                <c:pt idx="0">
                  <c:v>Parâmetro de Confiança</c:v>
                </c:pt>
              </c:strCache>
            </c:strRef>
          </c:tx>
          <c:spPr>
            <a:ln w="25400" cap="rnd">
              <a:solidFill>
                <a:srgbClr val="EF0988"/>
              </a:solidFill>
              <a:bevel/>
            </a:ln>
            <a:effectLst/>
          </c:spPr>
          <c:marker>
            <c:symbol val="square"/>
            <c:size val="5"/>
            <c:spPr>
              <a:solidFill>
                <a:srgbClr val="EF0988"/>
              </a:solidFill>
              <a:ln w="9525" cmpd="dbl">
                <a:solidFill>
                  <a:srgbClr val="EF0988"/>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3'!$B$3:$B$11</c:f>
              <c:numCache>
                <c:formatCode>General</c:formatCode>
                <c:ptCount val="9"/>
                <c:pt idx="0">
                  <c:v>50</c:v>
                </c:pt>
                <c:pt idx="1">
                  <c:v>50</c:v>
                </c:pt>
                <c:pt idx="2">
                  <c:v>50</c:v>
                </c:pt>
                <c:pt idx="3">
                  <c:v>50</c:v>
                </c:pt>
                <c:pt idx="4">
                  <c:v>50</c:v>
                </c:pt>
                <c:pt idx="5">
                  <c:v>50</c:v>
                </c:pt>
                <c:pt idx="6">
                  <c:v>50</c:v>
                </c:pt>
                <c:pt idx="7">
                  <c:v>50</c:v>
                </c:pt>
                <c:pt idx="8">
                  <c:v>50</c:v>
                </c:pt>
              </c:numCache>
            </c:numRef>
          </c:val>
          <c:smooth val="1"/>
          <c:extLst>
            <c:ext xmlns:c16="http://schemas.microsoft.com/office/drawing/2014/chart" uri="{C3380CC4-5D6E-409C-BE32-E72D297353CC}">
              <c16:uniqueId val="{00000000-2D70-4ADD-8B79-927F73CB2B79}"/>
            </c:ext>
          </c:extLst>
        </c:ser>
        <c:ser>
          <c:idx val="1"/>
          <c:order val="1"/>
          <c:tx>
            <c:strRef>
              <c:f>'Graf - ICEI 3'!$P$2</c:f>
              <c:strCache>
                <c:ptCount val="1"/>
                <c:pt idx="0">
                  <c:v>Pequenas Empresas</c:v>
                </c:pt>
              </c:strCache>
            </c:strRef>
          </c:tx>
          <c:spPr>
            <a:ln w="25400">
              <a:solidFill>
                <a:srgbClr val="0070C0"/>
              </a:solidFill>
            </a:ln>
          </c:spPr>
          <c:marker>
            <c:symbol val="circle"/>
            <c:size val="6"/>
            <c:spPr>
              <a:solidFill>
                <a:srgbClr val="0070C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3'!$P$3:$P$11</c:f>
              <c:numCache>
                <c:formatCode>General</c:formatCode>
                <c:ptCount val="9"/>
                <c:pt idx="0">
                  <c:v>51.3</c:v>
                </c:pt>
                <c:pt idx="1">
                  <c:v>49.7</c:v>
                </c:pt>
                <c:pt idx="2">
                  <c:v>52</c:v>
                </c:pt>
                <c:pt idx="3">
                  <c:v>49.6</c:v>
                </c:pt>
                <c:pt idx="4">
                  <c:v>46.5</c:v>
                </c:pt>
                <c:pt idx="5">
                  <c:v>47.4</c:v>
                </c:pt>
                <c:pt idx="6">
                  <c:v>45.7</c:v>
                </c:pt>
                <c:pt idx="7">
                  <c:v>47.9</c:v>
                </c:pt>
                <c:pt idx="8">
                  <c:v>46.1</c:v>
                </c:pt>
              </c:numCache>
            </c:numRef>
          </c:val>
          <c:smooth val="1"/>
          <c:extLst>
            <c:ext xmlns:c16="http://schemas.microsoft.com/office/drawing/2014/chart" uri="{C3380CC4-5D6E-409C-BE32-E72D297353CC}">
              <c16:uniqueId val="{00000001-2D70-4ADD-8B79-927F73CB2B79}"/>
            </c:ext>
          </c:extLst>
        </c:ser>
        <c:ser>
          <c:idx val="2"/>
          <c:order val="2"/>
          <c:tx>
            <c:strRef>
              <c:f>'Graf - ICEI 3'!$R$2</c:f>
              <c:strCache>
                <c:ptCount val="1"/>
                <c:pt idx="0">
                  <c:v>Grandes Empresas</c:v>
                </c:pt>
              </c:strCache>
            </c:strRef>
          </c:tx>
          <c:spPr>
            <a:ln w="25400" cap="rnd">
              <a:solidFill>
                <a:srgbClr val="ED7D31"/>
              </a:solidFill>
              <a:round/>
            </a:ln>
            <a:effectLst/>
          </c:spPr>
          <c:marker>
            <c:symbol val="square"/>
            <c:size val="9"/>
            <c:spPr>
              <a:solidFill>
                <a:srgbClr val="ED7D31"/>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3'!$R$3:$R$11</c:f>
              <c:numCache>
                <c:formatCode>General</c:formatCode>
                <c:ptCount val="9"/>
                <c:pt idx="0">
                  <c:v>54.6</c:v>
                </c:pt>
                <c:pt idx="1">
                  <c:v>52.5</c:v>
                </c:pt>
                <c:pt idx="2">
                  <c:v>54.8</c:v>
                </c:pt>
                <c:pt idx="3">
                  <c:v>51.4</c:v>
                </c:pt>
                <c:pt idx="4">
                  <c:v>50.3</c:v>
                </c:pt>
                <c:pt idx="5">
                  <c:v>49.7</c:v>
                </c:pt>
                <c:pt idx="6">
                  <c:v>47.2</c:v>
                </c:pt>
                <c:pt idx="7">
                  <c:v>49.1</c:v>
                </c:pt>
                <c:pt idx="8">
                  <c:v>48.7</c:v>
                </c:pt>
              </c:numCache>
            </c:numRef>
          </c:val>
          <c:smooth val="1"/>
          <c:extLst>
            <c:ext xmlns:c16="http://schemas.microsoft.com/office/drawing/2014/chart" uri="{C3380CC4-5D6E-409C-BE32-E72D297353CC}">
              <c16:uniqueId val="{00000002-2D70-4ADD-8B79-927F73CB2B79}"/>
            </c:ext>
          </c:extLst>
        </c:ser>
        <c:ser>
          <c:idx val="3"/>
          <c:order val="3"/>
          <c:tx>
            <c:strRef>
              <c:f>'Graf - ICEI 3'!$Q$2</c:f>
              <c:strCache>
                <c:ptCount val="1"/>
                <c:pt idx="0">
                  <c:v>Médias Empresas</c:v>
                </c:pt>
              </c:strCache>
            </c:strRef>
          </c:tx>
          <c:spPr>
            <a:ln w="25400" cap="rnd">
              <a:solidFill>
                <a:srgbClr val="FFC000"/>
              </a:solidFill>
              <a:round/>
            </a:ln>
            <a:effectLst/>
          </c:spPr>
          <c:marker>
            <c:symbol val="triangle"/>
            <c:size val="9"/>
            <c:spPr>
              <a:solidFill>
                <a:srgbClr val="FFC00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3'!$Q$3:$Q$11</c:f>
              <c:numCache>
                <c:formatCode>General</c:formatCode>
                <c:ptCount val="9"/>
                <c:pt idx="0">
                  <c:v>52</c:v>
                </c:pt>
                <c:pt idx="1">
                  <c:v>51.5</c:v>
                </c:pt>
                <c:pt idx="2">
                  <c:v>53.6</c:v>
                </c:pt>
                <c:pt idx="3">
                  <c:v>49.8</c:v>
                </c:pt>
                <c:pt idx="4">
                  <c:v>48.7</c:v>
                </c:pt>
                <c:pt idx="5">
                  <c:v>48.5</c:v>
                </c:pt>
                <c:pt idx="6">
                  <c:v>46.9</c:v>
                </c:pt>
                <c:pt idx="7">
                  <c:v>48.3</c:v>
                </c:pt>
                <c:pt idx="8">
                  <c:v>47</c:v>
                </c:pt>
              </c:numCache>
            </c:numRef>
          </c:val>
          <c:smooth val="1"/>
          <c:extLst>
            <c:ext xmlns:c16="http://schemas.microsoft.com/office/drawing/2014/chart" uri="{C3380CC4-5D6E-409C-BE32-E72D297353CC}">
              <c16:uniqueId val="{00000003-2D70-4ADD-8B79-927F73CB2B79}"/>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1"/>
      </c:catAx>
      <c:valAx>
        <c:axId val="1369505151"/>
        <c:scaling>
          <c:orientation val="minMax"/>
          <c:max val="55"/>
          <c:min val="4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majorUnit val="2.5"/>
      </c:valAx>
    </c:plotArea>
    <c:legend>
      <c:legendPos val="b"/>
      <c:layout>
        <c:manualLayout>
          <c:xMode val="edge"/>
          <c:yMode val="edge"/>
          <c:x val="0.10914355718899654"/>
          <c:y val="0.80208779408833419"/>
          <c:w val="0.81735159817351599"/>
          <c:h val="0.15787246902387425"/>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ln w="12700">
      <a:noFill/>
    </a:ln>
  </c:spPr>
  <c:txPr>
    <a:bodyPr/>
    <a:lstStyle/>
    <a:p>
      <a:pPr>
        <a:defRPr/>
      </a:pPr>
      <a:endParaRPr lang="pt-B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'Graf - ICEI 3'!$B$2</c:f>
              <c:strCache>
                <c:ptCount val="1"/>
                <c:pt idx="0">
                  <c:v>Parâmetro de Confiança</c:v>
                </c:pt>
              </c:strCache>
            </c:strRef>
          </c:tx>
          <c:spPr>
            <a:ln w="25400" cap="rnd">
              <a:solidFill>
                <a:srgbClr val="EF0988"/>
              </a:solidFill>
              <a:bevel/>
            </a:ln>
            <a:effectLst/>
          </c:spPr>
          <c:marker>
            <c:symbol val="square"/>
            <c:size val="5"/>
            <c:spPr>
              <a:solidFill>
                <a:srgbClr val="EF0988"/>
              </a:solidFill>
              <a:ln w="9525" cmpd="dbl">
                <a:solidFill>
                  <a:srgbClr val="EF0988"/>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3'!$B$3:$B$11</c:f>
              <c:numCache>
                <c:formatCode>General</c:formatCode>
                <c:ptCount val="9"/>
                <c:pt idx="0">
                  <c:v>50</c:v>
                </c:pt>
                <c:pt idx="1">
                  <c:v>50</c:v>
                </c:pt>
                <c:pt idx="2">
                  <c:v>50</c:v>
                </c:pt>
                <c:pt idx="3">
                  <c:v>50</c:v>
                </c:pt>
                <c:pt idx="4">
                  <c:v>50</c:v>
                </c:pt>
                <c:pt idx="5">
                  <c:v>50</c:v>
                </c:pt>
                <c:pt idx="6">
                  <c:v>50</c:v>
                </c:pt>
                <c:pt idx="7">
                  <c:v>50</c:v>
                </c:pt>
                <c:pt idx="8">
                  <c:v>50</c:v>
                </c:pt>
              </c:numCache>
            </c:numRef>
          </c:val>
          <c:smooth val="1"/>
          <c:extLst>
            <c:ext xmlns:c16="http://schemas.microsoft.com/office/drawing/2014/chart" uri="{C3380CC4-5D6E-409C-BE32-E72D297353CC}">
              <c16:uniqueId val="{00000000-E512-4D82-9840-D66330CEED88}"/>
            </c:ext>
          </c:extLst>
        </c:ser>
        <c:ser>
          <c:idx val="6"/>
          <c:order val="1"/>
          <c:tx>
            <c:strRef>
              <c:f>'Graf - ICEI 3'!$I$2</c:f>
              <c:strCache>
                <c:ptCount val="1"/>
                <c:pt idx="0">
                  <c:v>Veículos automotores, reboques e carrocerias</c:v>
                </c:pt>
              </c:strCache>
            </c:strRef>
          </c:tx>
          <c:spPr>
            <a:ln w="28575" cap="rnd">
              <a:solidFill>
                <a:schemeClr val="accent1">
                  <a:lumMod val="80000"/>
                  <a:lumOff val="20000"/>
                </a:schemeClr>
              </a:solidFill>
              <a:round/>
            </a:ln>
            <a:effectLst/>
          </c:spPr>
          <c:marker>
            <c:symbol val="circle"/>
            <c:size val="7"/>
            <c:spPr>
              <a:solidFill>
                <a:schemeClr val="accent1">
                  <a:lumMod val="80000"/>
                  <a:lumOff val="20000"/>
                </a:schemeClr>
              </a:solidFill>
              <a:ln w="9525">
                <a:solidFill>
                  <a:schemeClr val="accent1">
                    <a:lumMod val="80000"/>
                    <a:lumOff val="20000"/>
                  </a:schemeClr>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3'!$I$3:$I$11</c:f>
              <c:numCache>
                <c:formatCode>General</c:formatCode>
                <c:ptCount val="9"/>
                <c:pt idx="0">
                  <c:v>55.5</c:v>
                </c:pt>
                <c:pt idx="1">
                  <c:v>50.4</c:v>
                </c:pt>
                <c:pt idx="2">
                  <c:v>55.4</c:v>
                </c:pt>
                <c:pt idx="3">
                  <c:v>50.8</c:v>
                </c:pt>
                <c:pt idx="4">
                  <c:v>49.7</c:v>
                </c:pt>
                <c:pt idx="5">
                  <c:v>47.8</c:v>
                </c:pt>
                <c:pt idx="6">
                  <c:v>44.1</c:v>
                </c:pt>
                <c:pt idx="7">
                  <c:v>45.3</c:v>
                </c:pt>
                <c:pt idx="8">
                  <c:v>45</c:v>
                </c:pt>
              </c:numCache>
            </c:numRef>
          </c:val>
          <c:smooth val="1"/>
          <c:extLst>
            <c:ext xmlns:c16="http://schemas.microsoft.com/office/drawing/2014/chart" uri="{C3380CC4-5D6E-409C-BE32-E72D297353CC}">
              <c16:uniqueId val="{00000001-E512-4D82-9840-D66330CEED88}"/>
            </c:ext>
          </c:extLst>
        </c:ser>
        <c:ser>
          <c:idx val="1"/>
          <c:order val="2"/>
          <c:tx>
            <c:strRef>
              <c:f>'Graf - ICEI 3'!$C$2</c:f>
              <c:strCache>
                <c:ptCount val="1"/>
                <c:pt idx="0">
                  <c:v>Indústria de Transformação</c:v>
                </c:pt>
              </c:strCache>
            </c:strRef>
          </c:tx>
          <c:spPr>
            <a:ln w="25400" cap="rnd">
              <a:solidFill>
                <a:srgbClr val="A5A5A5"/>
              </a:solidFill>
              <a:round/>
            </a:ln>
            <a:effectLst/>
          </c:spPr>
          <c:marker>
            <c:symbol val="circle"/>
            <c:size val="7"/>
            <c:spPr>
              <a:solidFill>
                <a:srgbClr val="A5A5A5"/>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3'!$C$3:$C$11</c:f>
              <c:numCache>
                <c:formatCode>General</c:formatCode>
                <c:ptCount val="9"/>
                <c:pt idx="0">
                  <c:v>52.9</c:v>
                </c:pt>
                <c:pt idx="1">
                  <c:v>51.1</c:v>
                </c:pt>
                <c:pt idx="2">
                  <c:v>53.7</c:v>
                </c:pt>
                <c:pt idx="3">
                  <c:v>50.3</c:v>
                </c:pt>
                <c:pt idx="4">
                  <c:v>48.7</c:v>
                </c:pt>
                <c:pt idx="5">
                  <c:v>48.9</c:v>
                </c:pt>
                <c:pt idx="6">
                  <c:v>46.6</c:v>
                </c:pt>
                <c:pt idx="7">
                  <c:v>48.4</c:v>
                </c:pt>
                <c:pt idx="8">
                  <c:v>47.5</c:v>
                </c:pt>
              </c:numCache>
            </c:numRef>
          </c:val>
          <c:smooth val="1"/>
          <c:extLst>
            <c:ext xmlns:c16="http://schemas.microsoft.com/office/drawing/2014/chart" uri="{C3380CC4-5D6E-409C-BE32-E72D297353CC}">
              <c16:uniqueId val="{00000002-E512-4D82-9840-D66330CEED88}"/>
            </c:ext>
          </c:extLst>
        </c:ser>
        <c:ser>
          <c:idx val="3"/>
          <c:order val="3"/>
          <c:tx>
            <c:strRef>
              <c:f>'Graf - ICEI 3'!$E$2</c:f>
              <c:strCache>
                <c:ptCount val="1"/>
                <c:pt idx="0">
                  <c:v>Produtos de metal (exceto máquinas e equipamentos)</c:v>
                </c:pt>
              </c:strCache>
              <c:extLst xmlns:c15="http://schemas.microsoft.com/office/drawing/2012/chart"/>
            </c:strRef>
          </c:tx>
          <c:spPr>
            <a:ln w="28575" cap="rnd">
              <a:solidFill>
                <a:srgbClr val="ED7D31"/>
              </a:solidFill>
              <a:round/>
            </a:ln>
            <a:effectLst/>
          </c:spPr>
          <c:marker>
            <c:symbol val="circle"/>
            <c:size val="7"/>
            <c:spPr>
              <a:solidFill>
                <a:srgbClr val="ED7D31"/>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extLst xmlns:c15="http://schemas.microsoft.com/office/drawing/2012/chart"/>
            </c:strRef>
          </c:cat>
          <c:val>
            <c:numRef>
              <c:f>'Graf - ICEI 3'!$E$3:$E$11</c:f>
              <c:numCache>
                <c:formatCode>General</c:formatCode>
                <c:ptCount val="9"/>
                <c:pt idx="0">
                  <c:v>51</c:v>
                </c:pt>
                <c:pt idx="1">
                  <c:v>49.8</c:v>
                </c:pt>
                <c:pt idx="2">
                  <c:v>51.2</c:v>
                </c:pt>
                <c:pt idx="3">
                  <c:v>49.5</c:v>
                </c:pt>
                <c:pt idx="4">
                  <c:v>46.5</c:v>
                </c:pt>
                <c:pt idx="5">
                  <c:v>48</c:v>
                </c:pt>
                <c:pt idx="6">
                  <c:v>45.4</c:v>
                </c:pt>
                <c:pt idx="7">
                  <c:v>49.2</c:v>
                </c:pt>
                <c:pt idx="8">
                  <c:v>49.1</c:v>
                </c:pt>
              </c:numCache>
            </c:numRef>
          </c:val>
          <c:smooth val="1"/>
          <c:extLst xmlns:c15="http://schemas.microsoft.com/office/drawing/2012/chart">
            <c:ext xmlns:c16="http://schemas.microsoft.com/office/drawing/2014/chart" uri="{C3380CC4-5D6E-409C-BE32-E72D297353CC}">
              <c16:uniqueId val="{00000003-E512-4D82-9840-D66330CEED88}"/>
            </c:ext>
          </c:extLst>
        </c:ser>
        <c:ser>
          <c:idx val="2"/>
          <c:order val="4"/>
          <c:tx>
            <c:strRef>
              <c:f>'Graf - ICEI 3'!$D$2</c:f>
              <c:strCache>
                <c:ptCount val="1"/>
                <c:pt idx="0">
                  <c:v>Metalurgia</c:v>
                </c:pt>
              </c:strCache>
            </c:strRef>
          </c:tx>
          <c:spPr>
            <a:ln w="25400" cap="rnd">
              <a:solidFill>
                <a:srgbClr val="0070C0"/>
              </a:solidFill>
              <a:round/>
            </a:ln>
            <a:effectLst/>
          </c:spPr>
          <c:marker>
            <c:symbol val="triangle"/>
            <c:size val="9"/>
            <c:spPr>
              <a:solidFill>
                <a:srgbClr val="0070C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3'!$D$3:$D$11</c:f>
              <c:numCache>
                <c:formatCode>General</c:formatCode>
                <c:ptCount val="9"/>
                <c:pt idx="0">
                  <c:v>54.9</c:v>
                </c:pt>
                <c:pt idx="1">
                  <c:v>48.4</c:v>
                </c:pt>
                <c:pt idx="2">
                  <c:v>53.3</c:v>
                </c:pt>
                <c:pt idx="3">
                  <c:v>48.4</c:v>
                </c:pt>
                <c:pt idx="4">
                  <c:v>48.3</c:v>
                </c:pt>
                <c:pt idx="5">
                  <c:v>46</c:v>
                </c:pt>
                <c:pt idx="6">
                  <c:v>42.2</c:v>
                </c:pt>
                <c:pt idx="7">
                  <c:v>45.2</c:v>
                </c:pt>
                <c:pt idx="8">
                  <c:v>41.8</c:v>
                </c:pt>
              </c:numCache>
            </c:numRef>
          </c:val>
          <c:smooth val="1"/>
          <c:extLst>
            <c:ext xmlns:c16="http://schemas.microsoft.com/office/drawing/2014/chart" uri="{C3380CC4-5D6E-409C-BE32-E72D297353CC}">
              <c16:uniqueId val="{00000004-E512-4D82-9840-D66330CEED88}"/>
            </c:ext>
          </c:extLst>
        </c:ser>
        <c:dLbls>
          <c:showLegendKey val="0"/>
          <c:showVal val="0"/>
          <c:showCatName val="0"/>
          <c:showSerName val="0"/>
          <c:showPercent val="0"/>
          <c:showBubbleSize val="0"/>
        </c:dLbls>
        <c:marker val="1"/>
        <c:smooth val="0"/>
        <c:axId val="1369499871"/>
        <c:axId val="1369505151"/>
        <c:extLst/>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1"/>
      </c:catAx>
      <c:valAx>
        <c:axId val="1369505151"/>
        <c:scaling>
          <c:orientation val="minMax"/>
          <c:max val="60"/>
          <c:min val="4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majorUnit val="5"/>
      </c:valAx>
      <c:spPr>
        <a:noFill/>
        <a:ln>
          <a:noFill/>
        </a:ln>
        <a:effectLst/>
      </c:spPr>
    </c:plotArea>
    <c:legend>
      <c:legendPos val="b"/>
      <c:layout>
        <c:manualLayout>
          <c:xMode val="edge"/>
          <c:yMode val="edge"/>
          <c:x val="2.7052144233043812E-3"/>
          <c:y val="0.79912966608340619"/>
          <c:w val="0.9972947855766956"/>
          <c:h val="0.20087033391659376"/>
        </c:manualLayout>
      </c:layout>
      <c:overlay val="0"/>
      <c:spPr>
        <a:noFill/>
        <a:ln>
          <a:noFill/>
        </a:ln>
        <a:effectLst/>
      </c:spPr>
      <c:txPr>
        <a:bodyPr rot="0" spcFirstLastPara="1"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solidFill>
      <a:schemeClr val="bg1"/>
    </a:solidFill>
    <a:ln w="12700" cap="flat" cmpd="sng" algn="ctr">
      <a:noFill/>
      <a:round/>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ICEI - Setores de Transformação</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'Graf - ICEI 3'!$B$2</c:f>
              <c:strCache>
                <c:ptCount val="1"/>
                <c:pt idx="0">
                  <c:v>Parâmetro de Confiança</c:v>
                </c:pt>
              </c:strCache>
            </c:strRef>
          </c:tx>
          <c:spPr>
            <a:ln w="25400" cap="rnd">
              <a:solidFill>
                <a:srgbClr val="EF0988"/>
              </a:solidFill>
              <a:bevel/>
            </a:ln>
            <a:effectLst/>
          </c:spPr>
          <c:marker>
            <c:symbol val="square"/>
            <c:size val="5"/>
            <c:spPr>
              <a:solidFill>
                <a:srgbClr val="EF0988"/>
              </a:solidFill>
              <a:ln w="9525" cmpd="dbl">
                <a:solidFill>
                  <a:srgbClr val="EF0988"/>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3'!$B$3:$B$11</c:f>
              <c:numCache>
                <c:formatCode>General</c:formatCode>
                <c:ptCount val="9"/>
                <c:pt idx="0">
                  <c:v>50</c:v>
                </c:pt>
                <c:pt idx="1">
                  <c:v>50</c:v>
                </c:pt>
                <c:pt idx="2">
                  <c:v>50</c:v>
                </c:pt>
                <c:pt idx="3">
                  <c:v>50</c:v>
                </c:pt>
                <c:pt idx="4">
                  <c:v>50</c:v>
                </c:pt>
                <c:pt idx="5">
                  <c:v>50</c:v>
                </c:pt>
                <c:pt idx="6">
                  <c:v>50</c:v>
                </c:pt>
                <c:pt idx="7">
                  <c:v>50</c:v>
                </c:pt>
                <c:pt idx="8">
                  <c:v>50</c:v>
                </c:pt>
              </c:numCache>
            </c:numRef>
          </c:val>
          <c:smooth val="1"/>
          <c:extLst>
            <c:ext xmlns:c16="http://schemas.microsoft.com/office/drawing/2014/chart" uri="{C3380CC4-5D6E-409C-BE32-E72D297353CC}">
              <c16:uniqueId val="{00000000-DFF6-4391-AE82-9B2980985844}"/>
            </c:ext>
          </c:extLst>
        </c:ser>
        <c:ser>
          <c:idx val="5"/>
          <c:order val="1"/>
          <c:tx>
            <c:strRef>
              <c:f>'Graf - ICEI 3'!$G$2</c:f>
              <c:strCache>
                <c:ptCount val="1"/>
                <c:pt idx="0">
                  <c:v>Máquinas, aparelhos e materiais elétricos</c:v>
                </c:pt>
              </c:strCache>
            </c:strRef>
          </c:tx>
          <c:spPr>
            <a:ln w="25400" cap="rnd">
              <a:solidFill>
                <a:srgbClr val="7030A0"/>
              </a:solidFill>
              <a:round/>
            </a:ln>
            <a:effectLst/>
          </c:spPr>
          <c:marker>
            <c:symbol val="circle"/>
            <c:size val="7"/>
            <c:spPr>
              <a:solidFill>
                <a:srgbClr val="7030A0"/>
              </a:solidFill>
              <a:ln w="9525">
                <a:noFill/>
              </a:ln>
              <a:effectLst/>
            </c:spPr>
          </c:marker>
          <c:dPt>
            <c:idx val="0"/>
            <c:marker>
              <c:symbol val="circle"/>
              <c:size val="7"/>
              <c:spPr>
                <a:solidFill>
                  <a:srgbClr val="7030A0"/>
                </a:solidFill>
                <a:ln w="9525">
                  <a:noFill/>
                </a:ln>
                <a:effectLst/>
              </c:spPr>
            </c:marker>
            <c:bubble3D val="0"/>
            <c:extLst>
              <c:ext xmlns:c16="http://schemas.microsoft.com/office/drawing/2014/chart" uri="{C3380CC4-5D6E-409C-BE32-E72D297353CC}">
                <c16:uniqueId val="{00000001-DFF6-4391-AE82-9B2980985844}"/>
              </c:ext>
            </c:extLst>
          </c:dPt>
          <c:dPt>
            <c:idx val="1"/>
            <c:marker>
              <c:symbol val="circle"/>
              <c:size val="7"/>
              <c:spPr>
                <a:solidFill>
                  <a:srgbClr val="7030A0"/>
                </a:solidFill>
                <a:ln w="9525">
                  <a:noFill/>
                </a:ln>
                <a:effectLst/>
              </c:spPr>
            </c:marker>
            <c:bubble3D val="0"/>
            <c:extLst>
              <c:ext xmlns:c16="http://schemas.microsoft.com/office/drawing/2014/chart" uri="{C3380CC4-5D6E-409C-BE32-E72D297353CC}">
                <c16:uniqueId val="{00000002-DFF6-4391-AE82-9B2980985844}"/>
              </c:ext>
            </c:extLst>
          </c:dPt>
          <c:dPt>
            <c:idx val="2"/>
            <c:marker>
              <c:symbol val="circle"/>
              <c:size val="7"/>
              <c:spPr>
                <a:solidFill>
                  <a:srgbClr val="7030A0"/>
                </a:solidFill>
                <a:ln w="9525">
                  <a:noFill/>
                </a:ln>
                <a:effectLst/>
              </c:spPr>
            </c:marker>
            <c:bubble3D val="0"/>
            <c:extLst>
              <c:ext xmlns:c16="http://schemas.microsoft.com/office/drawing/2014/chart" uri="{C3380CC4-5D6E-409C-BE32-E72D297353CC}">
                <c16:uniqueId val="{00000003-DFF6-4391-AE82-9B2980985844}"/>
              </c:ext>
            </c:extLst>
          </c:dPt>
          <c:dPt>
            <c:idx val="3"/>
            <c:marker>
              <c:symbol val="circle"/>
              <c:size val="7"/>
              <c:spPr>
                <a:solidFill>
                  <a:srgbClr val="7030A0"/>
                </a:solidFill>
                <a:ln w="9525">
                  <a:noFill/>
                </a:ln>
                <a:effectLst/>
              </c:spPr>
            </c:marker>
            <c:bubble3D val="0"/>
            <c:extLst>
              <c:ext xmlns:c16="http://schemas.microsoft.com/office/drawing/2014/chart" uri="{C3380CC4-5D6E-409C-BE32-E72D297353CC}">
                <c16:uniqueId val="{00000004-DFF6-4391-AE82-9B2980985844}"/>
              </c:ext>
            </c:extLst>
          </c:dPt>
          <c:dPt>
            <c:idx val="4"/>
            <c:marker>
              <c:symbol val="circle"/>
              <c:size val="7"/>
              <c:spPr>
                <a:solidFill>
                  <a:srgbClr val="7030A0"/>
                </a:solidFill>
                <a:ln w="9525">
                  <a:noFill/>
                </a:ln>
                <a:effectLst/>
              </c:spPr>
            </c:marker>
            <c:bubble3D val="0"/>
            <c:extLst>
              <c:ext xmlns:c16="http://schemas.microsoft.com/office/drawing/2014/chart" uri="{C3380CC4-5D6E-409C-BE32-E72D297353CC}">
                <c16:uniqueId val="{00000005-DFF6-4391-AE82-9B2980985844}"/>
              </c:ext>
            </c:extLst>
          </c:dPt>
          <c:dPt>
            <c:idx val="5"/>
            <c:marker>
              <c:symbol val="circle"/>
              <c:size val="7"/>
              <c:spPr>
                <a:solidFill>
                  <a:srgbClr val="7030A0"/>
                </a:solidFill>
                <a:ln w="9525">
                  <a:noFill/>
                </a:ln>
                <a:effectLst/>
              </c:spPr>
            </c:marker>
            <c:bubble3D val="0"/>
            <c:extLst>
              <c:ext xmlns:c16="http://schemas.microsoft.com/office/drawing/2014/chart" uri="{C3380CC4-5D6E-409C-BE32-E72D297353CC}">
                <c16:uniqueId val="{00000006-DFF6-4391-AE82-9B2980985844}"/>
              </c:ext>
            </c:extLst>
          </c:dPt>
          <c:dPt>
            <c:idx val="6"/>
            <c:marker>
              <c:symbol val="circle"/>
              <c:size val="7"/>
              <c:spPr>
                <a:solidFill>
                  <a:srgbClr val="7030A0"/>
                </a:solidFill>
                <a:ln w="9525">
                  <a:noFill/>
                </a:ln>
                <a:effectLst/>
              </c:spPr>
            </c:marker>
            <c:bubble3D val="0"/>
            <c:extLst>
              <c:ext xmlns:c16="http://schemas.microsoft.com/office/drawing/2014/chart" uri="{C3380CC4-5D6E-409C-BE32-E72D297353CC}">
                <c16:uniqueId val="{00000007-DFF6-4391-AE82-9B2980985844}"/>
              </c:ext>
            </c:extLst>
          </c:dPt>
          <c:dPt>
            <c:idx val="7"/>
            <c:marker>
              <c:symbol val="circle"/>
              <c:size val="7"/>
              <c:spPr>
                <a:solidFill>
                  <a:srgbClr val="7030A0"/>
                </a:solidFill>
                <a:ln w="9525">
                  <a:noFill/>
                </a:ln>
                <a:effectLst/>
              </c:spPr>
            </c:marker>
            <c:bubble3D val="0"/>
            <c:extLst>
              <c:ext xmlns:c16="http://schemas.microsoft.com/office/drawing/2014/chart" uri="{C3380CC4-5D6E-409C-BE32-E72D297353CC}">
                <c16:uniqueId val="{00000008-DFF6-4391-AE82-9B2980985844}"/>
              </c:ext>
            </c:extLst>
          </c:dPt>
          <c:dPt>
            <c:idx val="8"/>
            <c:marker>
              <c:symbol val="circle"/>
              <c:size val="7"/>
              <c:spPr>
                <a:solidFill>
                  <a:srgbClr val="7030A0"/>
                </a:solidFill>
                <a:ln w="9525">
                  <a:noFill/>
                </a:ln>
                <a:effectLst/>
              </c:spPr>
            </c:marker>
            <c:bubble3D val="0"/>
            <c:extLst>
              <c:ext xmlns:c16="http://schemas.microsoft.com/office/drawing/2014/chart" uri="{C3380CC4-5D6E-409C-BE32-E72D297353CC}">
                <c16:uniqueId val="{00000009-DFF6-4391-AE82-9B2980985844}"/>
              </c:ext>
            </c:extLst>
          </c:dPt>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3'!$G$3:$G$11</c:f>
              <c:numCache>
                <c:formatCode>General</c:formatCode>
                <c:ptCount val="9"/>
                <c:pt idx="0">
                  <c:v>53.3</c:v>
                </c:pt>
                <c:pt idx="1">
                  <c:v>51.7</c:v>
                </c:pt>
                <c:pt idx="2">
                  <c:v>56.7</c:v>
                </c:pt>
                <c:pt idx="3">
                  <c:v>52.8</c:v>
                </c:pt>
                <c:pt idx="4">
                  <c:v>51.7</c:v>
                </c:pt>
                <c:pt idx="5">
                  <c:v>50.8</c:v>
                </c:pt>
                <c:pt idx="6">
                  <c:v>48.9</c:v>
                </c:pt>
                <c:pt idx="7">
                  <c:v>50.1</c:v>
                </c:pt>
                <c:pt idx="8">
                  <c:v>50.4</c:v>
                </c:pt>
              </c:numCache>
            </c:numRef>
          </c:val>
          <c:smooth val="1"/>
          <c:extLst>
            <c:ext xmlns:c16="http://schemas.microsoft.com/office/drawing/2014/chart" uri="{C3380CC4-5D6E-409C-BE32-E72D297353CC}">
              <c16:uniqueId val="{0000000A-DFF6-4391-AE82-9B2980985844}"/>
            </c:ext>
          </c:extLst>
        </c:ser>
        <c:ser>
          <c:idx val="7"/>
          <c:order val="2"/>
          <c:tx>
            <c:strRef>
              <c:f>'Graf - ICEI 3'!$C$2</c:f>
              <c:strCache>
                <c:ptCount val="1"/>
                <c:pt idx="0">
                  <c:v>Indústria de Transformação</c:v>
                </c:pt>
              </c:strCache>
            </c:strRef>
          </c:tx>
          <c:spPr>
            <a:ln w="28575" cap="rnd">
              <a:solidFill>
                <a:schemeClr val="accent3">
                  <a:lumMod val="80000"/>
                  <a:lumOff val="20000"/>
                </a:schemeClr>
              </a:solidFill>
              <a:round/>
            </a:ln>
            <a:effectLst/>
          </c:spPr>
          <c:marker>
            <c:symbol val="circle"/>
            <c:size val="7"/>
            <c:spPr>
              <a:solidFill>
                <a:schemeClr val="accent3">
                  <a:lumMod val="80000"/>
                  <a:lumOff val="20000"/>
                </a:schemeClr>
              </a:solidFill>
              <a:ln w="9525">
                <a:solidFill>
                  <a:schemeClr val="accent3">
                    <a:lumMod val="80000"/>
                    <a:lumOff val="20000"/>
                  </a:schemeClr>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3'!$C$3:$C$11</c:f>
              <c:numCache>
                <c:formatCode>General</c:formatCode>
                <c:ptCount val="9"/>
                <c:pt idx="0">
                  <c:v>52.9</c:v>
                </c:pt>
                <c:pt idx="1">
                  <c:v>51.1</c:v>
                </c:pt>
                <c:pt idx="2">
                  <c:v>53.7</c:v>
                </c:pt>
                <c:pt idx="3">
                  <c:v>50.3</c:v>
                </c:pt>
                <c:pt idx="4">
                  <c:v>48.7</c:v>
                </c:pt>
                <c:pt idx="5">
                  <c:v>48.9</c:v>
                </c:pt>
                <c:pt idx="6">
                  <c:v>46.6</c:v>
                </c:pt>
                <c:pt idx="7">
                  <c:v>48.4</c:v>
                </c:pt>
                <c:pt idx="8">
                  <c:v>47.5</c:v>
                </c:pt>
              </c:numCache>
            </c:numRef>
          </c:val>
          <c:smooth val="1"/>
          <c:extLst>
            <c:ext xmlns:c16="http://schemas.microsoft.com/office/drawing/2014/chart" uri="{C3380CC4-5D6E-409C-BE32-E72D297353CC}">
              <c16:uniqueId val="{0000000B-DFF6-4391-AE82-9B2980985844}"/>
            </c:ext>
          </c:extLst>
        </c:ser>
        <c:ser>
          <c:idx val="3"/>
          <c:order val="3"/>
          <c:tx>
            <c:strRef>
              <c:f>'Graf - ICEI 3'!$F$2</c:f>
              <c:strCache>
                <c:ptCount val="1"/>
                <c:pt idx="0">
                  <c:v>Equipamentos de informática, produtos eletrônicos e outros</c:v>
                </c:pt>
              </c:strCache>
            </c:strRef>
          </c:tx>
          <c:spPr>
            <a:ln w="25400" cap="rnd">
              <a:solidFill>
                <a:srgbClr val="FFC000"/>
              </a:solidFill>
              <a:round/>
            </a:ln>
            <a:effectLst/>
          </c:spPr>
          <c:marker>
            <c:symbol val="diamond"/>
            <c:size val="9"/>
            <c:spPr>
              <a:solidFill>
                <a:srgbClr val="FFC00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3'!$F$3:$F$11</c:f>
              <c:numCache>
                <c:formatCode>General</c:formatCode>
                <c:ptCount val="9"/>
                <c:pt idx="0">
                  <c:v>49.4</c:v>
                </c:pt>
                <c:pt idx="1">
                  <c:v>48.1</c:v>
                </c:pt>
                <c:pt idx="2">
                  <c:v>50.8</c:v>
                </c:pt>
                <c:pt idx="3">
                  <c:v>52</c:v>
                </c:pt>
                <c:pt idx="4">
                  <c:v>51.8</c:v>
                </c:pt>
                <c:pt idx="5">
                  <c:v>47.9</c:v>
                </c:pt>
                <c:pt idx="6">
                  <c:v>43.8</c:v>
                </c:pt>
                <c:pt idx="7">
                  <c:v>46.5</c:v>
                </c:pt>
                <c:pt idx="8">
                  <c:v>47.4</c:v>
                </c:pt>
              </c:numCache>
            </c:numRef>
          </c:val>
          <c:smooth val="1"/>
          <c:extLst>
            <c:ext xmlns:c16="http://schemas.microsoft.com/office/drawing/2014/chart" uri="{C3380CC4-5D6E-409C-BE32-E72D297353CC}">
              <c16:uniqueId val="{0000000C-DFF6-4391-AE82-9B2980985844}"/>
            </c:ext>
          </c:extLst>
        </c:ser>
        <c:ser>
          <c:idx val="4"/>
          <c:order val="4"/>
          <c:tx>
            <c:strRef>
              <c:f>'Graf - ICEI 3'!$H$2</c:f>
              <c:strCache>
                <c:ptCount val="1"/>
                <c:pt idx="0">
                  <c:v>Máquinas e equipamentos</c:v>
                </c:pt>
              </c:strCache>
            </c:strRef>
          </c:tx>
          <c:spPr>
            <a:ln w="28575" cap="rnd">
              <a:solidFill>
                <a:srgbClr val="C00000"/>
              </a:solidFill>
              <a:round/>
            </a:ln>
            <a:effectLst/>
          </c:spPr>
          <c:marker>
            <c:symbol val="square"/>
            <c:size val="7"/>
            <c:spPr>
              <a:solidFill>
                <a:srgbClr val="C00000"/>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3'!$H$3:$H$11</c:f>
              <c:numCache>
                <c:formatCode>General</c:formatCode>
                <c:ptCount val="9"/>
                <c:pt idx="0">
                  <c:v>51.3</c:v>
                </c:pt>
                <c:pt idx="1">
                  <c:v>48.6</c:v>
                </c:pt>
                <c:pt idx="2">
                  <c:v>51.4</c:v>
                </c:pt>
                <c:pt idx="3">
                  <c:v>48.9</c:v>
                </c:pt>
                <c:pt idx="4">
                  <c:v>46.6</c:v>
                </c:pt>
                <c:pt idx="5">
                  <c:v>47.3</c:v>
                </c:pt>
                <c:pt idx="6">
                  <c:v>44.3</c:v>
                </c:pt>
                <c:pt idx="7">
                  <c:v>45.8</c:v>
                </c:pt>
                <c:pt idx="8">
                  <c:v>44.7</c:v>
                </c:pt>
              </c:numCache>
            </c:numRef>
          </c:val>
          <c:smooth val="1"/>
          <c:extLst>
            <c:ext xmlns:c16="http://schemas.microsoft.com/office/drawing/2014/chart" uri="{C3380CC4-5D6E-409C-BE32-E72D297353CC}">
              <c16:uniqueId val="{0000000D-DFF6-4391-AE82-9B2980985844}"/>
            </c:ext>
          </c:extLst>
        </c:ser>
        <c:dLbls>
          <c:showLegendKey val="0"/>
          <c:showVal val="0"/>
          <c:showCatName val="0"/>
          <c:showSerName val="0"/>
          <c:showPercent val="0"/>
          <c:showBubbleSize val="0"/>
        </c:dLbls>
        <c:marker val="1"/>
        <c:smooth val="0"/>
        <c:axId val="1369499871"/>
        <c:axId val="1369505151"/>
        <c:extLst/>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1"/>
      </c:catAx>
      <c:valAx>
        <c:axId val="1369505151"/>
        <c:scaling>
          <c:orientation val="minMax"/>
          <c:max val="60"/>
          <c:min val="4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majorUnit val="5"/>
      </c:valAx>
      <c:spPr>
        <a:noFill/>
        <a:ln>
          <a:noFill/>
        </a:ln>
        <a:effectLst/>
      </c:spPr>
    </c:plotArea>
    <c:legend>
      <c:legendPos val="b"/>
      <c:layout>
        <c:manualLayout>
          <c:xMode val="edge"/>
          <c:yMode val="edge"/>
          <c:x val="1.0311095931457539E-2"/>
          <c:y val="0.78064206200514452"/>
          <c:w val="0.98968890406854249"/>
          <c:h val="0.21855554245403186"/>
        </c:manualLayout>
      </c:layout>
      <c:overlay val="0"/>
      <c:spPr>
        <a:noFill/>
        <a:ln>
          <a:noFill/>
        </a:ln>
        <a:effectLst/>
      </c:spPr>
      <c:txPr>
        <a:bodyPr rot="0" spcFirstLastPara="1" vertOverflow="ellipsis" vert="horz" wrap="square" anchor="ctr" anchorCtr="1"/>
        <a:lstStyle/>
        <a:p>
          <a:pPr>
            <a:defRPr lang="en-US" sz="8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solidFill>
      <a:schemeClr val="bg1"/>
    </a:solidFill>
    <a:ln w="12700" cap="flat" cmpd="sng" algn="ctr">
      <a:noFill/>
      <a:round/>
    </a:ln>
    <a:effectLst/>
  </c:spPr>
  <c:txPr>
    <a:bodyPr/>
    <a:lstStyle/>
    <a:p>
      <a:pPr>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ICEI - Expectativas</a:t>
            </a:r>
          </a:p>
        </c:rich>
      </c:tx>
      <c:overlay val="0"/>
      <c:spPr>
        <a:noFill/>
        <a:ln>
          <a:noFill/>
        </a:ln>
        <a:effectLst/>
      </c:sp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'Graf - ICEI 3'!$B$2</c:f>
              <c:strCache>
                <c:ptCount val="1"/>
                <c:pt idx="0">
                  <c:v>Parâmetro de Confiança</c:v>
                </c:pt>
              </c:strCache>
            </c:strRef>
          </c:tx>
          <c:spPr>
            <a:ln w="25400" cap="rnd">
              <a:solidFill>
                <a:srgbClr val="EF0988"/>
              </a:solidFill>
              <a:bevel/>
            </a:ln>
            <a:effectLst/>
          </c:spPr>
          <c:marker>
            <c:symbol val="x"/>
            <c:size val="5"/>
            <c:spPr>
              <a:solidFill>
                <a:srgbClr val="EF0988"/>
              </a:solidFill>
              <a:ln w="9525" cmpd="dbl">
                <a:solidFill>
                  <a:srgbClr val="EF0988"/>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3'!$B$3:$B$11</c:f>
              <c:numCache>
                <c:formatCode>General</c:formatCode>
                <c:ptCount val="9"/>
                <c:pt idx="0">
                  <c:v>50</c:v>
                </c:pt>
                <c:pt idx="1">
                  <c:v>50</c:v>
                </c:pt>
                <c:pt idx="2">
                  <c:v>50</c:v>
                </c:pt>
                <c:pt idx="3">
                  <c:v>50</c:v>
                </c:pt>
                <c:pt idx="4">
                  <c:v>50</c:v>
                </c:pt>
                <c:pt idx="5">
                  <c:v>50</c:v>
                </c:pt>
                <c:pt idx="6">
                  <c:v>50</c:v>
                </c:pt>
                <c:pt idx="7">
                  <c:v>50</c:v>
                </c:pt>
                <c:pt idx="8">
                  <c:v>50</c:v>
                </c:pt>
              </c:numCache>
            </c:numRef>
          </c:val>
          <c:smooth val="1"/>
          <c:extLst>
            <c:ext xmlns:c16="http://schemas.microsoft.com/office/drawing/2014/chart" uri="{C3380CC4-5D6E-409C-BE32-E72D297353CC}">
              <c16:uniqueId val="{00000000-43A4-4077-9692-EC44D27FB01F}"/>
            </c:ext>
          </c:extLst>
        </c:ser>
        <c:ser>
          <c:idx val="1"/>
          <c:order val="1"/>
          <c:tx>
            <c:strRef>
              <c:f>'Graf - ICEI 3'!$S$2</c:f>
              <c:strCache>
                <c:ptCount val="1"/>
                <c:pt idx="0">
                  <c:v>Expectativas</c:v>
                </c:pt>
              </c:strCache>
            </c:strRef>
          </c:tx>
          <c:spPr>
            <a:ln w="25400" cap="rnd">
              <a:solidFill>
                <a:srgbClr val="0070C0"/>
              </a:solidFill>
              <a:round/>
            </a:ln>
            <a:effectLst/>
          </c:spPr>
          <c:marker>
            <c:symbol val="circle"/>
            <c:size val="8"/>
            <c:spPr>
              <a:solidFill>
                <a:srgbClr val="2F68D3"/>
              </a:solidFill>
              <a:ln w="9525">
                <a:no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3'!$S$3:$S$11</c:f>
              <c:numCache>
                <c:formatCode>General</c:formatCode>
                <c:ptCount val="9"/>
                <c:pt idx="0">
                  <c:v>55.4</c:v>
                </c:pt>
                <c:pt idx="1">
                  <c:v>54</c:v>
                </c:pt>
                <c:pt idx="2">
                  <c:v>55.4</c:v>
                </c:pt>
                <c:pt idx="3">
                  <c:v>51.9</c:v>
                </c:pt>
                <c:pt idx="4">
                  <c:v>51.8</c:v>
                </c:pt>
                <c:pt idx="5">
                  <c:v>50.9</c:v>
                </c:pt>
                <c:pt idx="6">
                  <c:v>48.3</c:v>
                </c:pt>
                <c:pt idx="7">
                  <c:v>50</c:v>
                </c:pt>
                <c:pt idx="8">
                  <c:v>48.8</c:v>
                </c:pt>
              </c:numCache>
            </c:numRef>
          </c:val>
          <c:smooth val="1"/>
          <c:extLst>
            <c:ext xmlns:c16="http://schemas.microsoft.com/office/drawing/2014/chart" uri="{C3380CC4-5D6E-409C-BE32-E72D297353CC}">
              <c16:uniqueId val="{00000001-43A4-4077-9692-EC44D27FB01F}"/>
            </c:ext>
          </c:extLst>
        </c:ser>
        <c:ser>
          <c:idx val="2"/>
          <c:order val="2"/>
          <c:tx>
            <c:strRef>
              <c:f>'Graf - ICEI 3'!$T$2</c:f>
              <c:strCache>
                <c:ptCount val="1"/>
                <c:pt idx="0">
                  <c:v>Economia Brasileira</c:v>
                </c:pt>
              </c:strCache>
            </c:strRef>
          </c:tx>
          <c:spPr>
            <a:ln w="25400" cap="rnd">
              <a:solidFill>
                <a:srgbClr val="00B050"/>
              </a:solidFill>
              <a:round/>
            </a:ln>
            <a:effectLst/>
          </c:spPr>
          <c:marker>
            <c:symbol val="triangle"/>
            <c:size val="9"/>
            <c:spPr>
              <a:solidFill>
                <a:srgbClr val="00B050"/>
              </a:solidFill>
              <a:ln w="9525">
                <a:solidFill>
                  <a:srgbClr val="00B050"/>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3'!$T$3:$T$11</c:f>
              <c:numCache>
                <c:formatCode>General</c:formatCode>
                <c:ptCount val="9"/>
                <c:pt idx="0">
                  <c:v>49.7</c:v>
                </c:pt>
                <c:pt idx="1">
                  <c:v>47.1</c:v>
                </c:pt>
                <c:pt idx="2">
                  <c:v>49.1</c:v>
                </c:pt>
                <c:pt idx="3">
                  <c:v>43.3</c:v>
                </c:pt>
                <c:pt idx="4">
                  <c:v>43</c:v>
                </c:pt>
                <c:pt idx="5">
                  <c:v>41.7</c:v>
                </c:pt>
                <c:pt idx="6">
                  <c:v>39.5</c:v>
                </c:pt>
                <c:pt idx="7">
                  <c:v>42.9</c:v>
                </c:pt>
                <c:pt idx="8">
                  <c:v>40.4</c:v>
                </c:pt>
              </c:numCache>
            </c:numRef>
          </c:val>
          <c:smooth val="1"/>
          <c:extLst>
            <c:ext xmlns:c16="http://schemas.microsoft.com/office/drawing/2014/chart" uri="{C3380CC4-5D6E-409C-BE32-E72D297353CC}">
              <c16:uniqueId val="{00000002-43A4-4077-9692-EC44D27FB01F}"/>
            </c:ext>
          </c:extLst>
        </c:ser>
        <c:ser>
          <c:idx val="3"/>
          <c:order val="3"/>
          <c:tx>
            <c:strRef>
              <c:f>'Graf - ICEI 3'!$U$2</c:f>
              <c:strCache>
                <c:ptCount val="1"/>
                <c:pt idx="0">
                  <c:v>Empresa</c:v>
                </c:pt>
              </c:strCache>
            </c:strRef>
          </c:tx>
          <c:spPr>
            <a:ln w="25400" cap="rnd">
              <a:solidFill>
                <a:srgbClr val="FF7C00"/>
              </a:solidFill>
              <a:round/>
            </a:ln>
            <a:effectLst/>
          </c:spPr>
          <c:marker>
            <c:spPr>
              <a:solidFill>
                <a:srgbClr val="FF7C00"/>
              </a:solidFill>
              <a:ln w="9525">
                <a:solidFill>
                  <a:srgbClr val="FF7C00"/>
                </a:solidFill>
              </a:ln>
              <a:effectLst/>
            </c:spPr>
          </c:marker>
          <c:cat>
            <c:strRef>
              <c:f>'Graf - ICEI 3'!$A$3:$A$11</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'Graf - ICEI 3'!$U$3:$U$11</c:f>
              <c:numCache>
                <c:formatCode>General</c:formatCode>
                <c:ptCount val="9"/>
                <c:pt idx="0">
                  <c:v>58.2</c:v>
                </c:pt>
                <c:pt idx="1">
                  <c:v>57.4</c:v>
                </c:pt>
                <c:pt idx="2">
                  <c:v>58.5</c:v>
                </c:pt>
                <c:pt idx="3">
                  <c:v>56.2</c:v>
                </c:pt>
                <c:pt idx="4">
                  <c:v>56.2</c:v>
                </c:pt>
                <c:pt idx="5">
                  <c:v>55.5</c:v>
                </c:pt>
                <c:pt idx="6">
                  <c:v>52.7</c:v>
                </c:pt>
                <c:pt idx="7">
                  <c:v>53.6</c:v>
                </c:pt>
                <c:pt idx="8">
                  <c:v>53</c:v>
                </c:pt>
              </c:numCache>
            </c:numRef>
          </c:val>
          <c:smooth val="1"/>
          <c:extLst>
            <c:ext xmlns:c16="http://schemas.microsoft.com/office/drawing/2014/chart" uri="{C3380CC4-5D6E-409C-BE32-E72D297353CC}">
              <c16:uniqueId val="{00000003-43A4-4077-9692-EC44D27FB01F}"/>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1"/>
      </c:catAx>
      <c:valAx>
        <c:axId val="1369505151"/>
        <c:scaling>
          <c:orientation val="minMax"/>
          <c:max val="60"/>
          <c:min val="3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valAx>
    </c:plotArea>
    <c:legend>
      <c:legendPos val="b"/>
      <c:layout>
        <c:manualLayout>
          <c:xMode val="edge"/>
          <c:yMode val="edge"/>
          <c:x val="0.12772532234005329"/>
          <c:y val="0.82070690508799338"/>
          <c:w val="0.79531119418625962"/>
          <c:h val="0.13846312121036761"/>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ln w="12700">
      <a:noFill/>
    </a:ln>
  </c:spPr>
  <c:txPr>
    <a:bodyPr/>
    <a:lstStyle/>
    <a:p>
      <a:pPr>
        <a:defRPr/>
      </a:pPr>
      <a:endParaRPr lang="pt-B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sz="1400" b="1" i="0" u="none" strike="noStrike" kern="1200" spc="0" baseline="0">
                <a:solidFill>
                  <a:sysClr val="windowText" lastClr="000000">
                    <a:lumMod val="65000"/>
                    <a:lumOff val="35000"/>
                  </a:sysClr>
                </a:solidFill>
              </a:rPr>
              <a:t>Utilização da Capacidade Instalada no Brasil (base fixa) - CNI</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lineChart>
        <c:grouping val="standard"/>
        <c:varyColors val="0"/>
        <c:ser>
          <c:idx val="0"/>
          <c:order val="0"/>
          <c:tx>
            <c:strRef>
              <c:f>'UCI - CNI'!$P$30</c:f>
              <c:strCache>
                <c:ptCount val="1"/>
                <c:pt idx="0">
                  <c:v>Metalurgia</c:v>
                </c:pt>
              </c:strCache>
            </c:strRef>
          </c:tx>
          <c:spPr>
            <a:ln w="28575" cap="rnd">
              <a:solidFill>
                <a:srgbClr val="EF0988"/>
              </a:solidFill>
              <a:round/>
            </a:ln>
            <a:effectLst/>
          </c:spPr>
          <c:marker>
            <c:symbol val="square"/>
            <c:size val="8"/>
            <c:spPr>
              <a:solidFill>
                <a:srgbClr val="EF0988"/>
              </a:solidFill>
              <a:ln w="9525">
                <a:noFill/>
              </a:ln>
              <a:effectLst/>
            </c:spPr>
          </c:marker>
          <c:cat>
            <c:strRef>
              <c:f>'UCI - CNI'!$O$31:$O$39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'UCI - CNI'!$P$31:$P$39</c:f>
              <c:numCache>
                <c:formatCode>0.0</c:formatCode>
                <c:ptCount val="9"/>
                <c:pt idx="0">
                  <c:v>65.099999999999994</c:v>
                </c:pt>
                <c:pt idx="1">
                  <c:v>70.099999999999994</c:v>
                </c:pt>
                <c:pt idx="2">
                  <c:v>70.400000000000006</c:v>
                </c:pt>
                <c:pt idx="3">
                  <c:v>57.9</c:v>
                </c:pt>
                <c:pt idx="4">
                  <c:v>68</c:v>
                </c:pt>
                <c:pt idx="5">
                  <c:v>83.3</c:v>
                </c:pt>
                <c:pt idx="6">
                  <c:v>84.7</c:v>
                </c:pt>
                <c:pt idx="7">
                  <c:v>83.4</c:v>
                </c:pt>
                <c:pt idx="8">
                  <c:v>80.8</c:v>
                </c:pt>
              </c:numCache>
            </c:numRef>
          </c:val>
          <c:smooth val="1"/>
          <c:extLst>
            <c:ext xmlns:c16="http://schemas.microsoft.com/office/drawing/2014/chart" uri="{C3380CC4-5D6E-409C-BE32-E72D297353CC}">
              <c16:uniqueId val="{00000000-E573-4A59-9E0A-81F01A432062}"/>
            </c:ext>
          </c:extLst>
        </c:ser>
        <c:ser>
          <c:idx val="1"/>
          <c:order val="1"/>
          <c:tx>
            <c:strRef>
              <c:f>'UCI - CNI'!$Q$30</c:f>
              <c:strCache>
                <c:ptCount val="1"/>
                <c:pt idx="0">
                  <c:v>Produtos de metal (exceto máquinas e equipamentos)  </c:v>
                </c:pt>
              </c:strCache>
            </c:strRef>
          </c:tx>
          <c:spPr>
            <a:ln w="28575" cap="rnd">
              <a:solidFill>
                <a:srgbClr val="0070C0"/>
              </a:solidFill>
              <a:round/>
            </a:ln>
            <a:effectLst/>
          </c:spPr>
          <c:marker>
            <c:symbol val="triangle"/>
            <c:size val="10"/>
            <c:spPr>
              <a:solidFill>
                <a:srgbClr val="0070C0"/>
              </a:solidFill>
              <a:ln w="9525">
                <a:noFill/>
              </a:ln>
              <a:effectLst/>
            </c:spPr>
          </c:marker>
          <c:cat>
            <c:strRef>
              <c:f>'UCI - CNI'!$O$31:$O$39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'UCI - CNI'!$Q$31:$Q$39</c:f>
              <c:numCache>
                <c:formatCode>0.0</c:formatCode>
                <c:ptCount val="9"/>
                <c:pt idx="0">
                  <c:v>78.900000000000006</c:v>
                </c:pt>
                <c:pt idx="1">
                  <c:v>77.599999999999994</c:v>
                </c:pt>
                <c:pt idx="2">
                  <c:v>80</c:v>
                </c:pt>
                <c:pt idx="3">
                  <c:v>75.2</c:v>
                </c:pt>
                <c:pt idx="4">
                  <c:v>78.3</c:v>
                </c:pt>
                <c:pt idx="5">
                  <c:v>69.900000000000006</c:v>
                </c:pt>
                <c:pt idx="6">
                  <c:v>66.8</c:v>
                </c:pt>
                <c:pt idx="7">
                  <c:v>38.4</c:v>
                </c:pt>
                <c:pt idx="8">
                  <c:v>66.599999999999994</c:v>
                </c:pt>
              </c:numCache>
            </c:numRef>
          </c:val>
          <c:smooth val="1"/>
          <c:extLst>
            <c:ext xmlns:c16="http://schemas.microsoft.com/office/drawing/2014/chart" uri="{C3380CC4-5D6E-409C-BE32-E72D297353CC}">
              <c16:uniqueId val="{00000001-E573-4A59-9E0A-81F01A432062}"/>
            </c:ext>
          </c:extLst>
        </c:ser>
        <c:ser>
          <c:idx val="2"/>
          <c:order val="2"/>
          <c:tx>
            <c:strRef>
              <c:f>'UCI - CNI'!$R$30</c:f>
              <c:strCache>
                <c:ptCount val="1"/>
                <c:pt idx="0">
                  <c:v>Máquinas, aparelhos e materiais elétricos</c:v>
                </c:pt>
              </c:strCache>
            </c:strRef>
          </c:tx>
          <c:spPr>
            <a:ln w="28575" cap="rnd">
              <a:solidFill>
                <a:schemeClr val="accent2"/>
              </a:solidFill>
              <a:round/>
            </a:ln>
            <a:effectLst/>
          </c:spPr>
          <c:marker>
            <c:symbol val="circle"/>
            <c:size val="8"/>
            <c:spPr>
              <a:solidFill>
                <a:schemeClr val="accent2"/>
              </a:solidFill>
              <a:ln w="9525">
                <a:noFill/>
              </a:ln>
              <a:effectLst/>
            </c:spPr>
          </c:marker>
          <c:cat>
            <c:strRef>
              <c:f>'UCI - CNI'!$O$31:$O$39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'UCI - CNI'!$R$31:$R$39</c:f>
              <c:numCache>
                <c:formatCode>0.0</c:formatCode>
                <c:ptCount val="9"/>
                <c:pt idx="0">
                  <c:v>76.2</c:v>
                </c:pt>
                <c:pt idx="1">
                  <c:v>76.2</c:v>
                </c:pt>
                <c:pt idx="2">
                  <c:v>79.400000000000006</c:v>
                </c:pt>
                <c:pt idx="3">
                  <c:v>79</c:v>
                </c:pt>
                <c:pt idx="4">
                  <c:v>82.7</c:v>
                </c:pt>
                <c:pt idx="5">
                  <c:v>77.2</c:v>
                </c:pt>
                <c:pt idx="6">
                  <c:v>78</c:v>
                </c:pt>
                <c:pt idx="7">
                  <c:v>71.599999999999994</c:v>
                </c:pt>
                <c:pt idx="8">
                  <c:v>74.900000000000006</c:v>
                </c:pt>
              </c:numCache>
            </c:numRef>
          </c:val>
          <c:smooth val="1"/>
          <c:extLst>
            <c:ext xmlns:c16="http://schemas.microsoft.com/office/drawing/2014/chart" uri="{C3380CC4-5D6E-409C-BE32-E72D297353CC}">
              <c16:uniqueId val="{00000002-E573-4A59-9E0A-81F01A432062}"/>
            </c:ext>
          </c:extLst>
        </c:ser>
        <c:ser>
          <c:idx val="3"/>
          <c:order val="3"/>
          <c:tx>
            <c:strRef>
              <c:f>'UCI - CNI'!$S$30</c:f>
              <c:strCache>
                <c:ptCount val="1"/>
                <c:pt idx="0">
                  <c:v>Máquinas e equipamentos</c:v>
                </c:pt>
              </c:strCache>
            </c:strRef>
          </c:tx>
          <c:spPr>
            <a:ln w="28575" cap="rnd">
              <a:solidFill>
                <a:schemeClr val="accent4"/>
              </a:solidFill>
              <a:round/>
            </a:ln>
            <a:effectLst/>
          </c:spPr>
          <c:marker>
            <c:symbol val="diamond"/>
            <c:size val="9"/>
            <c:spPr>
              <a:solidFill>
                <a:schemeClr val="accent4"/>
              </a:solidFill>
              <a:ln w="9525">
                <a:noFill/>
              </a:ln>
              <a:effectLst/>
            </c:spPr>
          </c:marker>
          <c:cat>
            <c:strRef>
              <c:f>'UCI - CNI'!$O$31:$O$39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'UCI - CNI'!$S$31:$S$39</c:f>
              <c:numCache>
                <c:formatCode>0.0</c:formatCode>
                <c:ptCount val="9"/>
                <c:pt idx="0">
                  <c:v>75.900000000000006</c:v>
                </c:pt>
                <c:pt idx="1">
                  <c:v>77.099999999999994</c:v>
                </c:pt>
                <c:pt idx="2">
                  <c:v>75.8</c:v>
                </c:pt>
                <c:pt idx="3">
                  <c:v>70.5</c:v>
                </c:pt>
                <c:pt idx="4">
                  <c:v>76.5</c:v>
                </c:pt>
                <c:pt idx="5">
                  <c:v>75.400000000000006</c:v>
                </c:pt>
                <c:pt idx="6">
                  <c:v>76.3</c:v>
                </c:pt>
                <c:pt idx="7">
                  <c:v>74.400000000000006</c:v>
                </c:pt>
                <c:pt idx="8">
                  <c:v>75.5</c:v>
                </c:pt>
              </c:numCache>
            </c:numRef>
          </c:val>
          <c:smooth val="1"/>
          <c:extLst>
            <c:ext xmlns:c16="http://schemas.microsoft.com/office/drawing/2014/chart" uri="{C3380CC4-5D6E-409C-BE32-E72D297353CC}">
              <c16:uniqueId val="{00000003-E573-4A59-9E0A-81F01A432062}"/>
            </c:ext>
          </c:extLst>
        </c:ser>
        <c:ser>
          <c:idx val="4"/>
          <c:order val="4"/>
          <c:tx>
            <c:strRef>
              <c:f>'UCI - CNI'!$T$30</c:f>
              <c:strCache>
                <c:ptCount val="1"/>
                <c:pt idx="0">
                  <c:v>Veículos automotores, reboques e carrocerias</c:v>
                </c:pt>
              </c:strCache>
            </c:strRef>
          </c:tx>
          <c:spPr>
            <a:ln w="28575" cap="rnd">
              <a:solidFill>
                <a:srgbClr val="FF7CFF"/>
              </a:solidFill>
              <a:round/>
            </a:ln>
            <a:effectLst/>
          </c:spPr>
          <c:marker>
            <c:symbol val="circle"/>
            <c:size val="8"/>
            <c:spPr>
              <a:solidFill>
                <a:srgbClr val="FF7CFF"/>
              </a:solidFill>
              <a:ln w="9525">
                <a:noFill/>
              </a:ln>
              <a:effectLst/>
            </c:spPr>
          </c:marker>
          <c:cat>
            <c:strRef>
              <c:f>'UCI - CNI'!$O$31:$O$39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'UCI - CNI'!$T$31:$T$39</c:f>
              <c:numCache>
                <c:formatCode>0.0</c:formatCode>
                <c:ptCount val="9"/>
                <c:pt idx="0">
                  <c:v>83.1</c:v>
                </c:pt>
                <c:pt idx="1">
                  <c:v>85.2</c:v>
                </c:pt>
                <c:pt idx="2">
                  <c:v>88.5</c:v>
                </c:pt>
                <c:pt idx="3">
                  <c:v>79.599999999999994</c:v>
                </c:pt>
                <c:pt idx="4">
                  <c:v>84.5</c:v>
                </c:pt>
                <c:pt idx="5">
                  <c:v>83.1</c:v>
                </c:pt>
                <c:pt idx="6">
                  <c:v>83.4</c:v>
                </c:pt>
                <c:pt idx="7">
                  <c:v>81.2</c:v>
                </c:pt>
                <c:pt idx="8">
                  <c:v>81.599999999999994</c:v>
                </c:pt>
              </c:numCache>
            </c:numRef>
          </c:val>
          <c:smooth val="1"/>
          <c:extLst>
            <c:ext xmlns:c16="http://schemas.microsoft.com/office/drawing/2014/chart" uri="{C3380CC4-5D6E-409C-BE32-E72D297353CC}">
              <c16:uniqueId val="{00000004-E573-4A59-9E0A-81F01A432062}"/>
            </c:ext>
          </c:extLst>
        </c:ser>
        <c:ser>
          <c:idx val="5"/>
          <c:order val="5"/>
          <c:tx>
            <c:strRef>
              <c:f>'UCI - CNI'!$U$30</c:f>
              <c:strCache>
                <c:ptCount val="1"/>
                <c:pt idx="0">
                  <c:v>Indústria de Transformação (Dessazonalizada)</c:v>
                </c:pt>
              </c:strCache>
            </c:strRef>
          </c:tx>
          <c:spPr>
            <a:ln w="28575" cap="rnd">
              <a:solidFill>
                <a:srgbClr val="C00000"/>
              </a:solidFill>
              <a:round/>
            </a:ln>
            <a:effectLst/>
          </c:spPr>
          <c:marker>
            <c:symbol val="square"/>
            <c:size val="7"/>
            <c:spPr>
              <a:solidFill>
                <a:srgbClr val="C00000"/>
              </a:solidFill>
              <a:ln w="9525">
                <a:noFill/>
              </a:ln>
              <a:effectLst/>
            </c:spPr>
          </c:marker>
          <c:cat>
            <c:strRef>
              <c:f>'UCI - CNI'!$O$31:$O$39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'UCI - CNI'!$U$31:$U$39</c:f>
              <c:numCache>
                <c:formatCode>0.0</c:formatCode>
                <c:ptCount val="9"/>
                <c:pt idx="0">
                  <c:v>78.8</c:v>
                </c:pt>
                <c:pt idx="1">
                  <c:v>79.599999999999994</c:v>
                </c:pt>
                <c:pt idx="2">
                  <c:v>81.5</c:v>
                </c:pt>
                <c:pt idx="3">
                  <c:v>75.3</c:v>
                </c:pt>
                <c:pt idx="4">
                  <c:v>78.400000000000006</c:v>
                </c:pt>
                <c:pt idx="5">
                  <c:v>79.099999999999994</c:v>
                </c:pt>
                <c:pt idx="6">
                  <c:v>79.8</c:v>
                </c:pt>
                <c:pt idx="7">
                  <c:v>73.3</c:v>
                </c:pt>
                <c:pt idx="8">
                  <c:v>78.2</c:v>
                </c:pt>
              </c:numCache>
            </c:numRef>
          </c:val>
          <c:smooth val="1"/>
          <c:extLst>
            <c:ext xmlns:c16="http://schemas.microsoft.com/office/drawing/2014/chart" uri="{C3380CC4-5D6E-409C-BE32-E72D297353CC}">
              <c16:uniqueId val="{00000005-E573-4A59-9E0A-81F01A432062}"/>
            </c:ext>
          </c:extLst>
        </c:ser>
        <c:dLbls>
          <c:showLegendKey val="0"/>
          <c:showVal val="0"/>
          <c:showCatName val="0"/>
          <c:showSerName val="0"/>
          <c:showPercent val="0"/>
          <c:showBubbleSize val="0"/>
        </c:dLbls>
        <c:marker val="1"/>
        <c:smooth val="0"/>
        <c:axId val="152545151"/>
        <c:axId val="152546111"/>
      </c:lineChart>
      <c:catAx>
        <c:axId val="152545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52546111"/>
        <c:crosses val="autoZero"/>
        <c:auto val="1"/>
        <c:lblAlgn val="ctr"/>
        <c:lblOffset val="100"/>
        <c:noMultiLvlLbl val="0"/>
      </c:catAx>
      <c:valAx>
        <c:axId val="152546111"/>
        <c:scaling>
          <c:orientation val="minMax"/>
          <c:max val="90"/>
          <c:min val="3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52545151"/>
        <c:crosses val="autoZero"/>
        <c:crossBetween val="between"/>
      </c:valAx>
      <c:spPr>
        <a:noFill/>
        <a:ln>
          <a:noFill/>
        </a:ln>
        <a:effectLst/>
      </c:spPr>
    </c:plotArea>
    <c:legend>
      <c:legendPos val="b"/>
      <c:layout>
        <c:manualLayout>
          <c:xMode val="edge"/>
          <c:yMode val="edge"/>
          <c:x val="1.6456465237166991E-2"/>
          <c:y val="0.68745427127258507"/>
          <c:w val="0.9629608512020793"/>
          <c:h val="0.29481275656957751"/>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b="1"/>
              <a:t>Indicador Ipea</a:t>
            </a:r>
            <a:r>
              <a:rPr lang="pt-BR" b="1" baseline="0"/>
              <a:t> de FBCF</a:t>
            </a:r>
            <a:endParaRPr lang="pt-BR" b="1"/>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lineChart>
        <c:grouping val="standard"/>
        <c:varyColors val="0"/>
        <c:ser>
          <c:idx val="0"/>
          <c:order val="0"/>
          <c:tx>
            <c:strRef>
              <c:f>'Gráficos Trimestrais FBCF IPEA'!$E$29</c:f>
              <c:strCache>
                <c:ptCount val="1"/>
                <c:pt idx="0">
                  <c:v>Construção Civil - com ajuste sazonal</c:v>
                </c:pt>
              </c:strCache>
            </c:strRef>
          </c:tx>
          <c:spPr>
            <a:ln w="28575" cap="rnd">
              <a:solidFill>
                <a:schemeClr val="accent1"/>
              </a:solidFill>
              <a:round/>
            </a:ln>
            <a:effectLst/>
          </c:spPr>
          <c:marker>
            <c:symbol val="diamond"/>
            <c:size val="5"/>
            <c:spPr>
              <a:solidFill>
                <a:schemeClr val="accent1"/>
              </a:solidFill>
              <a:ln w="9525">
                <a:solidFill>
                  <a:schemeClr val="accent1"/>
                </a:solidFill>
              </a:ln>
              <a:effectLst/>
            </c:spPr>
          </c:marker>
          <c:cat>
            <c:strRef>
              <c:f>'Gráficos Trimestrais FBCF IPEA'!$D$30:$D$34</c:f>
              <c:strCache>
                <c:ptCount val="5"/>
                <c:pt idx="0">
                  <c:v>1T25</c:v>
                </c:pt>
                <c:pt idx="1">
                  <c:v>2T25</c:v>
                </c:pt>
                <c:pt idx="2">
                  <c:v>3T25</c:v>
                </c:pt>
                <c:pt idx="3">
                  <c:v>4T25</c:v>
                </c:pt>
                <c:pt idx="4">
                  <c:v>1T26*</c:v>
                </c:pt>
              </c:strCache>
            </c:strRef>
          </c:cat>
          <c:val>
            <c:numRef>
              <c:f>'Gráficos Trimestrais FBCF IPEA'!$E$30:$E$34</c:f>
              <c:numCache>
                <c:formatCode>0.00</c:formatCode>
                <c:ptCount val="5"/>
                <c:pt idx="0">
                  <c:v>166.00333333333333</c:v>
                </c:pt>
                <c:pt idx="1">
                  <c:v>164.57666666666668</c:v>
                </c:pt>
                <c:pt idx="2">
                  <c:v>165.25333333333333</c:v>
                </c:pt>
                <c:pt idx="3">
                  <c:v>161.07333333333335</c:v>
                </c:pt>
                <c:pt idx="4">
                  <c:v>162.73000000000002</c:v>
                </c:pt>
              </c:numCache>
            </c:numRef>
          </c:val>
          <c:smooth val="0"/>
          <c:extLst>
            <c:ext xmlns:c16="http://schemas.microsoft.com/office/drawing/2014/chart" uri="{C3380CC4-5D6E-409C-BE32-E72D297353CC}">
              <c16:uniqueId val="{00000000-B4B1-4594-B6F5-F1374986FBDC}"/>
            </c:ext>
          </c:extLst>
        </c:ser>
        <c:ser>
          <c:idx val="1"/>
          <c:order val="1"/>
          <c:tx>
            <c:strRef>
              <c:f>'Gráficos Trimestrais FBCF IPEA'!$F$29</c:f>
              <c:strCache>
                <c:ptCount val="1"/>
                <c:pt idx="0">
                  <c:v>Consumo Aparente de Máquinas e Equipamentos - com ajuste sazonal</c:v>
                </c:pt>
              </c:strCache>
            </c:strRef>
          </c:tx>
          <c:spPr>
            <a:ln w="28575" cap="rnd">
              <a:solidFill>
                <a:srgbClr val="FFC000"/>
              </a:solidFill>
              <a:round/>
            </a:ln>
            <a:effectLst/>
          </c:spPr>
          <c:marker>
            <c:symbol val="triangle"/>
            <c:size val="5"/>
            <c:spPr>
              <a:solidFill>
                <a:srgbClr val="FFC000"/>
              </a:solidFill>
              <a:ln w="9525">
                <a:noFill/>
              </a:ln>
              <a:effectLst/>
            </c:spPr>
          </c:marker>
          <c:cat>
            <c:strRef>
              <c:f>'Gráficos Trimestrais FBCF IPEA'!$D$30:$D$34</c:f>
              <c:strCache>
                <c:ptCount val="5"/>
                <c:pt idx="0">
                  <c:v>1T25</c:v>
                </c:pt>
                <c:pt idx="1">
                  <c:v>2T25</c:v>
                </c:pt>
                <c:pt idx="2">
                  <c:v>3T25</c:v>
                </c:pt>
                <c:pt idx="3">
                  <c:v>4T25</c:v>
                </c:pt>
                <c:pt idx="4">
                  <c:v>1T26*</c:v>
                </c:pt>
              </c:strCache>
            </c:strRef>
          </c:cat>
          <c:val>
            <c:numRef>
              <c:f>'Gráficos Trimestrais FBCF IPEA'!$F$30:$F$34</c:f>
              <c:numCache>
                <c:formatCode>0.00</c:formatCode>
                <c:ptCount val="5"/>
                <c:pt idx="0">
                  <c:v>177.08333333333334</c:v>
                </c:pt>
                <c:pt idx="1">
                  <c:v>166.44333333333333</c:v>
                </c:pt>
                <c:pt idx="2">
                  <c:v>173.83</c:v>
                </c:pt>
                <c:pt idx="3">
                  <c:v>165.61999999999998</c:v>
                </c:pt>
                <c:pt idx="4">
                  <c:v>170.28</c:v>
                </c:pt>
              </c:numCache>
            </c:numRef>
          </c:val>
          <c:smooth val="0"/>
          <c:extLst>
            <c:ext xmlns:c16="http://schemas.microsoft.com/office/drawing/2014/chart" uri="{C3380CC4-5D6E-409C-BE32-E72D297353CC}">
              <c16:uniqueId val="{00000001-B4B1-4594-B6F5-F1374986FBDC}"/>
            </c:ext>
          </c:extLst>
        </c:ser>
        <c:ser>
          <c:idx val="2"/>
          <c:order val="2"/>
          <c:tx>
            <c:strRef>
              <c:f>'Gráficos Trimestrais FBCF IPEA'!$G$29</c:f>
              <c:strCache>
                <c:ptCount val="1"/>
                <c:pt idx="0">
                  <c:v>Indicador Ipea de FBCF - com ajuste sazonal</c:v>
                </c:pt>
              </c:strCache>
            </c:strRef>
          </c:tx>
          <c:spPr>
            <a:ln w="28575" cap="rnd">
              <a:solidFill>
                <a:srgbClr val="EC28F1"/>
              </a:solidFill>
              <a:round/>
            </a:ln>
            <a:effectLst/>
          </c:spPr>
          <c:marker>
            <c:symbol val="square"/>
            <c:size val="5"/>
            <c:spPr>
              <a:solidFill>
                <a:srgbClr val="EC28F1"/>
              </a:solidFill>
              <a:ln w="9525">
                <a:noFill/>
              </a:ln>
              <a:effectLst/>
            </c:spPr>
          </c:marker>
          <c:cat>
            <c:strRef>
              <c:f>'Gráficos Trimestrais FBCF IPEA'!$D$30:$D$34</c:f>
              <c:strCache>
                <c:ptCount val="5"/>
                <c:pt idx="0">
                  <c:v>1T25</c:v>
                </c:pt>
                <c:pt idx="1">
                  <c:v>2T25</c:v>
                </c:pt>
                <c:pt idx="2">
                  <c:v>3T25</c:v>
                </c:pt>
                <c:pt idx="3">
                  <c:v>4T25</c:v>
                </c:pt>
                <c:pt idx="4">
                  <c:v>1T26*</c:v>
                </c:pt>
              </c:strCache>
            </c:strRef>
          </c:cat>
          <c:val>
            <c:numRef>
              <c:f>'Gráficos Trimestrais FBCF IPEA'!$G$30:$G$34</c:f>
              <c:numCache>
                <c:formatCode>0.00</c:formatCode>
                <c:ptCount val="5"/>
                <c:pt idx="0">
                  <c:v>185.79666666666671</c:v>
                </c:pt>
                <c:pt idx="1">
                  <c:v>181.08333333333334</c:v>
                </c:pt>
                <c:pt idx="2">
                  <c:v>181.27333333333331</c:v>
                </c:pt>
                <c:pt idx="3">
                  <c:v>174.99333333333334</c:v>
                </c:pt>
                <c:pt idx="4">
                  <c:v>186.22000000000003</c:v>
                </c:pt>
              </c:numCache>
            </c:numRef>
          </c:val>
          <c:smooth val="0"/>
          <c:extLst>
            <c:ext xmlns:c16="http://schemas.microsoft.com/office/drawing/2014/chart" uri="{C3380CC4-5D6E-409C-BE32-E72D297353CC}">
              <c16:uniqueId val="{00000002-B4B1-4594-B6F5-F1374986FBDC}"/>
            </c:ext>
          </c:extLst>
        </c:ser>
        <c:dLbls>
          <c:showLegendKey val="0"/>
          <c:showVal val="0"/>
          <c:showCatName val="0"/>
          <c:showSerName val="0"/>
          <c:showPercent val="0"/>
          <c:showBubbleSize val="0"/>
        </c:dLbls>
        <c:marker val="1"/>
        <c:smooth val="0"/>
        <c:axId val="44997127"/>
        <c:axId val="401379848"/>
      </c:lineChart>
      <c:catAx>
        <c:axId val="449971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crossAx val="401379848"/>
        <c:crosses val="autoZero"/>
        <c:auto val="1"/>
        <c:lblAlgn val="ctr"/>
        <c:lblOffset val="100"/>
        <c:noMultiLvlLbl val="0"/>
      </c:catAx>
      <c:valAx>
        <c:axId val="401379848"/>
        <c:scaling>
          <c:orientation val="minMax"/>
          <c:max val="190"/>
          <c:min val="15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449971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Consumo Aparente de bens industriais IPEA</a:t>
            </a:r>
            <a:r>
              <a:rPr lang="pt-BR" b="1" baseline="0"/>
              <a:t> (sazonalizado)</a:t>
            </a:r>
            <a:endParaRPr lang="pt-BR"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lineChart>
        <c:grouping val="stacked"/>
        <c:varyColors val="0"/>
        <c:ser>
          <c:idx val="0"/>
          <c:order val="0"/>
          <c:tx>
            <c:strRef>
              <c:f>'Gráficos Trimestrais Consu A.'!$E$27</c:f>
              <c:strCache>
                <c:ptCount val="1"/>
                <c:pt idx="0">
                  <c:v>Bens de Capital s.a.</c:v>
                </c:pt>
              </c:strCache>
            </c:strRef>
          </c:tx>
          <c:spPr>
            <a:ln w="28575" cap="rnd">
              <a:solidFill>
                <a:schemeClr val="accent5">
                  <a:lumMod val="60000"/>
                  <a:lumOff val="40000"/>
                </a:schemeClr>
              </a:solidFill>
              <a:round/>
            </a:ln>
            <a:effectLst/>
          </c:spPr>
          <c:marker>
            <c:symbol val="circle"/>
            <c:size val="5"/>
            <c:spPr>
              <a:solidFill>
                <a:schemeClr val="accent5">
                  <a:lumMod val="75000"/>
                </a:schemeClr>
              </a:solidFill>
              <a:ln w="9525">
                <a:solidFill>
                  <a:schemeClr val="accent5">
                    <a:lumMod val="75000"/>
                  </a:schemeClr>
                </a:solidFill>
              </a:ln>
              <a:effectLst/>
            </c:spPr>
          </c:marker>
          <c:cat>
            <c:strRef>
              <c:f>'Gráficos Trimestrais Consu A.'!$D$28:$D$32</c:f>
              <c:strCache>
                <c:ptCount val="5"/>
                <c:pt idx="0">
                  <c:v>1T25</c:v>
                </c:pt>
                <c:pt idx="1">
                  <c:v>2T25</c:v>
                </c:pt>
                <c:pt idx="2">
                  <c:v>3T25</c:v>
                </c:pt>
                <c:pt idx="3">
                  <c:v>4T25</c:v>
                </c:pt>
                <c:pt idx="4">
                  <c:v>1T26*</c:v>
                </c:pt>
              </c:strCache>
            </c:strRef>
          </c:cat>
          <c:val>
            <c:numRef>
              <c:f>'Gráficos Trimestrais Consu A.'!$E$28:$E$32</c:f>
              <c:numCache>
                <c:formatCode>0.0</c:formatCode>
                <c:ptCount val="5"/>
                <c:pt idx="0">
                  <c:v>91.871242599482613</c:v>
                </c:pt>
                <c:pt idx="1">
                  <c:v>82.953381373908272</c:v>
                </c:pt>
                <c:pt idx="2">
                  <c:v>86.947527188257141</c:v>
                </c:pt>
                <c:pt idx="3">
                  <c:v>80.890132619481463</c:v>
                </c:pt>
                <c:pt idx="4">
                  <c:v>92.199502174345838</c:v>
                </c:pt>
              </c:numCache>
            </c:numRef>
          </c:val>
          <c:smooth val="0"/>
          <c:extLst>
            <c:ext xmlns:c16="http://schemas.microsoft.com/office/drawing/2014/chart" uri="{C3380CC4-5D6E-409C-BE32-E72D297353CC}">
              <c16:uniqueId val="{00000000-8F5A-4820-9DEC-C80A6CEA0DDB}"/>
            </c:ext>
          </c:extLst>
        </c:ser>
        <c:ser>
          <c:idx val="1"/>
          <c:order val="1"/>
          <c:tx>
            <c:strRef>
              <c:f>'Gráficos Trimestrais Consu A.'!$F$27</c:f>
              <c:strCache>
                <c:ptCount val="1"/>
                <c:pt idx="0">
                  <c:v>Bens Intermediários s.a.</c:v>
                </c:pt>
              </c:strCache>
            </c:strRef>
          </c:tx>
          <c:spPr>
            <a:ln w="28575" cap="rnd">
              <a:solidFill>
                <a:schemeClr val="accent2"/>
              </a:solidFill>
              <a:round/>
            </a:ln>
            <a:effectLst/>
          </c:spPr>
          <c:marker>
            <c:symbol val="x"/>
            <c:size val="8"/>
            <c:spPr>
              <a:noFill/>
              <a:ln w="9525">
                <a:solidFill>
                  <a:schemeClr val="accent2"/>
                </a:solidFill>
              </a:ln>
              <a:effectLst/>
            </c:spPr>
          </c:marker>
          <c:cat>
            <c:strRef>
              <c:f>'Gráficos Trimestrais Consu A.'!$D$28:$D$32</c:f>
              <c:strCache>
                <c:ptCount val="5"/>
                <c:pt idx="0">
                  <c:v>1T25</c:v>
                </c:pt>
                <c:pt idx="1">
                  <c:v>2T25</c:v>
                </c:pt>
                <c:pt idx="2">
                  <c:v>3T25</c:v>
                </c:pt>
                <c:pt idx="3">
                  <c:v>4T25</c:v>
                </c:pt>
                <c:pt idx="4">
                  <c:v>1T26*</c:v>
                </c:pt>
              </c:strCache>
            </c:strRef>
          </c:cat>
          <c:val>
            <c:numRef>
              <c:f>'Gráficos Trimestrais Consu A.'!$F$28:$F$32</c:f>
              <c:numCache>
                <c:formatCode>0.0</c:formatCode>
                <c:ptCount val="5"/>
                <c:pt idx="0">
                  <c:v>92.921876305292031</c:v>
                </c:pt>
                <c:pt idx="1">
                  <c:v>93.804867952978043</c:v>
                </c:pt>
                <c:pt idx="2">
                  <c:v>93.384939095995648</c:v>
                </c:pt>
                <c:pt idx="3">
                  <c:v>90.111806928771799</c:v>
                </c:pt>
                <c:pt idx="4">
                  <c:v>90.294951144032254</c:v>
                </c:pt>
              </c:numCache>
            </c:numRef>
          </c:val>
          <c:smooth val="0"/>
          <c:extLst>
            <c:ext xmlns:c16="http://schemas.microsoft.com/office/drawing/2014/chart" uri="{C3380CC4-5D6E-409C-BE32-E72D297353CC}">
              <c16:uniqueId val="{00000001-8F5A-4820-9DEC-C80A6CEA0DDB}"/>
            </c:ext>
          </c:extLst>
        </c:ser>
        <c:ser>
          <c:idx val="2"/>
          <c:order val="2"/>
          <c:tx>
            <c:strRef>
              <c:f>'Gráficos Trimestrais Consu A.'!$G$27</c:f>
              <c:strCache>
                <c:ptCount val="1"/>
                <c:pt idx="0">
                  <c:v>Bens de Consumo s.a.</c:v>
                </c:pt>
              </c:strCache>
            </c:strRef>
          </c:tx>
          <c:spPr>
            <a:ln w="28575" cap="rnd">
              <a:solidFill>
                <a:srgbClr val="FFC000"/>
              </a:solidFill>
              <a:round/>
            </a:ln>
            <a:effectLst/>
          </c:spPr>
          <c:marker>
            <c:symbol val="triangle"/>
            <c:size val="7"/>
            <c:spPr>
              <a:solidFill>
                <a:srgbClr val="FFC000"/>
              </a:solidFill>
              <a:ln w="9525">
                <a:noFill/>
              </a:ln>
              <a:effectLst/>
            </c:spPr>
          </c:marker>
          <c:cat>
            <c:strRef>
              <c:f>'Gráficos Trimestrais Consu A.'!$D$28:$D$32</c:f>
              <c:strCache>
                <c:ptCount val="5"/>
                <c:pt idx="0">
                  <c:v>1T25</c:v>
                </c:pt>
                <c:pt idx="1">
                  <c:v>2T25</c:v>
                </c:pt>
                <c:pt idx="2">
                  <c:v>3T25</c:v>
                </c:pt>
                <c:pt idx="3">
                  <c:v>4T25</c:v>
                </c:pt>
                <c:pt idx="4">
                  <c:v>1T26*</c:v>
                </c:pt>
              </c:strCache>
            </c:strRef>
          </c:cat>
          <c:val>
            <c:numRef>
              <c:f>'Gráficos Trimestrais Consu A.'!$G$28:$G$32</c:f>
              <c:numCache>
                <c:formatCode>0.0</c:formatCode>
                <c:ptCount val="5"/>
                <c:pt idx="0">
                  <c:v>90.000886362421667</c:v>
                </c:pt>
                <c:pt idx="1">
                  <c:v>90.872932479097912</c:v>
                </c:pt>
                <c:pt idx="2">
                  <c:v>88.977894404858418</c:v>
                </c:pt>
                <c:pt idx="3">
                  <c:v>90.570574329121371</c:v>
                </c:pt>
                <c:pt idx="4">
                  <c:v>92.372858429606708</c:v>
                </c:pt>
              </c:numCache>
            </c:numRef>
          </c:val>
          <c:smooth val="0"/>
          <c:extLst>
            <c:ext xmlns:c16="http://schemas.microsoft.com/office/drawing/2014/chart" uri="{C3380CC4-5D6E-409C-BE32-E72D297353CC}">
              <c16:uniqueId val="{00000002-8F5A-4820-9DEC-C80A6CEA0DDB}"/>
            </c:ext>
          </c:extLst>
        </c:ser>
        <c:ser>
          <c:idx val="3"/>
          <c:order val="3"/>
          <c:tx>
            <c:strRef>
              <c:f>'Gráficos Trimestrais Consu A.'!$H$27</c:f>
              <c:strCache>
                <c:ptCount val="1"/>
                <c:pt idx="0">
                  <c:v>Bens de Consumo Duráveis s.a.</c:v>
                </c:pt>
              </c:strCache>
            </c:strRef>
          </c:tx>
          <c:spPr>
            <a:ln w="28575" cap="rnd">
              <a:solidFill>
                <a:schemeClr val="tx2">
                  <a:lumMod val="40000"/>
                  <a:lumOff val="60000"/>
                </a:schemeClr>
              </a:solidFill>
              <a:round/>
            </a:ln>
            <a:effectLst/>
          </c:spPr>
          <c:marker>
            <c:symbol val="diamond"/>
            <c:size val="7"/>
            <c:spPr>
              <a:solidFill>
                <a:schemeClr val="tx2">
                  <a:lumMod val="60000"/>
                  <a:lumOff val="40000"/>
                </a:schemeClr>
              </a:solidFill>
              <a:ln w="9525">
                <a:noFill/>
              </a:ln>
              <a:effectLst/>
            </c:spPr>
          </c:marker>
          <c:cat>
            <c:strRef>
              <c:f>'Gráficos Trimestrais Consu A.'!$D$28:$D$32</c:f>
              <c:strCache>
                <c:ptCount val="5"/>
                <c:pt idx="0">
                  <c:v>1T25</c:v>
                </c:pt>
                <c:pt idx="1">
                  <c:v>2T25</c:v>
                </c:pt>
                <c:pt idx="2">
                  <c:v>3T25</c:v>
                </c:pt>
                <c:pt idx="3">
                  <c:v>4T25</c:v>
                </c:pt>
                <c:pt idx="4">
                  <c:v>1T26*</c:v>
                </c:pt>
              </c:strCache>
            </c:strRef>
          </c:cat>
          <c:val>
            <c:numRef>
              <c:f>'Gráficos Trimestrais Consu A.'!$H$28:$H$32</c:f>
              <c:numCache>
                <c:formatCode>0.0</c:formatCode>
                <c:ptCount val="5"/>
                <c:pt idx="0">
                  <c:v>80.36049114704899</c:v>
                </c:pt>
                <c:pt idx="1">
                  <c:v>93.261662710306936</c:v>
                </c:pt>
                <c:pt idx="2">
                  <c:v>74.623938975499797</c:v>
                </c:pt>
                <c:pt idx="3">
                  <c:v>82.199028368029758</c:v>
                </c:pt>
                <c:pt idx="4">
                  <c:v>90.203124884693651</c:v>
                </c:pt>
              </c:numCache>
            </c:numRef>
          </c:val>
          <c:smooth val="0"/>
          <c:extLst>
            <c:ext xmlns:c16="http://schemas.microsoft.com/office/drawing/2014/chart" uri="{C3380CC4-5D6E-409C-BE32-E72D297353CC}">
              <c16:uniqueId val="{00000003-8F5A-4820-9DEC-C80A6CEA0DDB}"/>
            </c:ext>
          </c:extLst>
        </c:ser>
        <c:ser>
          <c:idx val="4"/>
          <c:order val="4"/>
          <c:tx>
            <c:strRef>
              <c:f>'Gráficos Trimestrais Consu A.'!$I$27</c:f>
              <c:strCache>
                <c:ptCount val="1"/>
                <c:pt idx="0">
                  <c:v>Bens de Consumo Semi e Não Duráveis s.a.</c:v>
                </c:pt>
              </c:strCache>
            </c:strRef>
          </c:tx>
          <c:spPr>
            <a:ln w="28575" cap="rnd">
              <a:solidFill>
                <a:srgbClr val="EC28F1"/>
              </a:solidFill>
              <a:round/>
            </a:ln>
            <a:effectLst/>
          </c:spPr>
          <c:marker>
            <c:symbol val="square"/>
            <c:size val="5"/>
            <c:spPr>
              <a:solidFill>
                <a:srgbClr val="EC28F1"/>
              </a:solidFill>
              <a:ln w="9525">
                <a:noFill/>
              </a:ln>
              <a:effectLst/>
            </c:spPr>
          </c:marker>
          <c:cat>
            <c:strRef>
              <c:f>'Gráficos Trimestrais Consu A.'!$D$28:$D$32</c:f>
              <c:strCache>
                <c:ptCount val="5"/>
                <c:pt idx="0">
                  <c:v>1T25</c:v>
                </c:pt>
                <c:pt idx="1">
                  <c:v>2T25</c:v>
                </c:pt>
                <c:pt idx="2">
                  <c:v>3T25</c:v>
                </c:pt>
                <c:pt idx="3">
                  <c:v>4T25</c:v>
                </c:pt>
                <c:pt idx="4">
                  <c:v>1T26*</c:v>
                </c:pt>
              </c:strCache>
            </c:strRef>
          </c:cat>
          <c:val>
            <c:numRef>
              <c:f>'Gráficos Trimestrais Consu A.'!$I$28:$I$32</c:f>
              <c:numCache>
                <c:formatCode>0.0</c:formatCode>
                <c:ptCount val="5"/>
                <c:pt idx="0">
                  <c:v>95.20682312630656</c:v>
                </c:pt>
                <c:pt idx="1">
                  <c:v>93.674842298519863</c:v>
                </c:pt>
                <c:pt idx="2">
                  <c:v>93.541377615938174</c:v>
                </c:pt>
                <c:pt idx="3">
                  <c:v>94.27607201871119</c:v>
                </c:pt>
                <c:pt idx="4">
                  <c:v>95.424479757948404</c:v>
                </c:pt>
              </c:numCache>
            </c:numRef>
          </c:val>
          <c:smooth val="0"/>
          <c:extLst>
            <c:ext xmlns:c16="http://schemas.microsoft.com/office/drawing/2014/chart" uri="{C3380CC4-5D6E-409C-BE32-E72D297353CC}">
              <c16:uniqueId val="{00000004-8F5A-4820-9DEC-C80A6CEA0DDB}"/>
            </c:ext>
          </c:extLst>
        </c:ser>
        <c:dLbls>
          <c:showLegendKey val="0"/>
          <c:showVal val="0"/>
          <c:showCatName val="0"/>
          <c:showSerName val="0"/>
          <c:showPercent val="0"/>
          <c:showBubbleSize val="0"/>
        </c:dLbls>
        <c:marker val="1"/>
        <c:smooth val="0"/>
        <c:axId val="118643199"/>
        <c:axId val="118641759"/>
      </c:lineChart>
      <c:catAx>
        <c:axId val="1186431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crossAx val="118641759"/>
        <c:crosses val="autoZero"/>
        <c:auto val="1"/>
        <c:lblAlgn val="ctr"/>
        <c:lblOffset val="100"/>
        <c:noMultiLvlLbl val="0"/>
      </c:catAx>
      <c:valAx>
        <c:axId val="118641759"/>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18643199"/>
        <c:crosses val="autoZero"/>
        <c:crossBetween val="between"/>
      </c:valAx>
      <c:spPr>
        <a:noFill/>
        <a:ln>
          <a:noFill/>
        </a:ln>
        <a:effectLst/>
      </c:spPr>
    </c:plotArea>
    <c:legend>
      <c:legendPos val="b"/>
      <c:layout>
        <c:manualLayout>
          <c:xMode val="edge"/>
          <c:yMode val="edge"/>
          <c:x val="3.754068241469817E-2"/>
          <c:y val="0.7645314210555807"/>
          <c:w val="0.92214063867016627"/>
          <c:h val="0.2076908848482073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Brasil</a:t>
            </a:r>
            <a:r>
              <a:rPr lang="pt-BR" b="1" baseline="0"/>
              <a:t> (Bilhões US$ FOB)</a:t>
            </a:r>
            <a:endParaRPr lang="pt-BR"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'Plan1 (2)'!$C$18</c:f>
              <c:strCache>
                <c:ptCount val="1"/>
                <c:pt idx="0">
                  <c:v>Exportação - 2025 - Valor US$ FOB</c:v>
                </c:pt>
              </c:strCache>
            </c:strRef>
          </c:tx>
          <c:spPr>
            <a:solidFill>
              <a:srgbClr val="2F68D3"/>
            </a:solidFill>
            <a:ln>
              <a:noFill/>
            </a:ln>
            <a:effectLst/>
          </c:spPr>
          <c:invertIfNegative val="0"/>
          <c:cat>
            <c:strRef>
              <c:f>'Plan1 (2)'!$B$19:$B$27</c:f>
              <c:strCache>
                <c:ptCount val="9"/>
                <c:pt idx="0">
                  <c:v>1TRI2024</c:v>
                </c:pt>
                <c:pt idx="1">
                  <c:v>2TRI2024</c:v>
                </c:pt>
                <c:pt idx="2">
                  <c:v>3TRI2024</c:v>
                </c:pt>
                <c:pt idx="3">
                  <c:v>4TRI2024</c:v>
                </c:pt>
                <c:pt idx="4">
                  <c:v>1TRI2025</c:v>
                </c:pt>
                <c:pt idx="5">
                  <c:v>2TRI2025</c:v>
                </c:pt>
                <c:pt idx="6">
                  <c:v>3TRI2025</c:v>
                </c:pt>
                <c:pt idx="7">
                  <c:v>4TRI2025</c:v>
                </c:pt>
                <c:pt idx="8">
                  <c:v>1TRI2026</c:v>
                </c:pt>
              </c:strCache>
            </c:strRef>
          </c:cat>
          <c:val>
            <c:numRef>
              <c:f>'Plan1 (2)'!$C$19:$C$27</c:f>
              <c:numCache>
                <c:formatCode>General</c:formatCode>
                <c:ptCount val="9"/>
                <c:pt idx="0">
                  <c:v>77.708328795</c:v>
                </c:pt>
                <c:pt idx="1">
                  <c:v>89.249429591999998</c:v>
                </c:pt>
                <c:pt idx="2">
                  <c:v>88.049127150000004</c:v>
                </c:pt>
                <c:pt idx="3">
                  <c:v>82.039276173000005</c:v>
                </c:pt>
                <c:pt idx="4">
                  <c:v>76.878057803999994</c:v>
                </c:pt>
                <c:pt idx="5">
                  <c:v>88.842465114000007</c:v>
                </c:pt>
                <c:pt idx="6">
                  <c:v>92.174029825000005</c:v>
                </c:pt>
                <c:pt idx="7">
                  <c:v>90.383909756999998</c:v>
                </c:pt>
                <c:pt idx="8">
                  <c:v>82.455456967999993</c:v>
                </c:pt>
              </c:numCache>
            </c:numRef>
          </c:val>
          <c:extLst>
            <c:ext xmlns:c16="http://schemas.microsoft.com/office/drawing/2014/chart" uri="{C3380CC4-5D6E-409C-BE32-E72D297353CC}">
              <c16:uniqueId val="{00000000-1B99-49F0-975C-75A3F86212A6}"/>
            </c:ext>
          </c:extLst>
        </c:ser>
        <c:ser>
          <c:idx val="1"/>
          <c:order val="1"/>
          <c:tx>
            <c:strRef>
              <c:f>'Plan1 (2)'!$D$18</c:f>
              <c:strCache>
                <c:ptCount val="1"/>
                <c:pt idx="0">
                  <c:v>Importação - 2025 - Valor US$ FOB</c:v>
                </c:pt>
              </c:strCache>
            </c:strRef>
          </c:tx>
          <c:spPr>
            <a:solidFill>
              <a:srgbClr val="FFB700"/>
            </a:solidFill>
            <a:ln>
              <a:solidFill>
                <a:srgbClr val="FFB700"/>
              </a:solidFill>
            </a:ln>
            <a:effectLst/>
          </c:spPr>
          <c:invertIfNegative val="0"/>
          <c:cat>
            <c:strRef>
              <c:f>'Plan1 (2)'!$B$19:$B$27</c:f>
              <c:strCache>
                <c:ptCount val="9"/>
                <c:pt idx="0">
                  <c:v>1TRI2024</c:v>
                </c:pt>
                <c:pt idx="1">
                  <c:v>2TRI2024</c:v>
                </c:pt>
                <c:pt idx="2">
                  <c:v>3TRI2024</c:v>
                </c:pt>
                <c:pt idx="3">
                  <c:v>4TRI2024</c:v>
                </c:pt>
                <c:pt idx="4">
                  <c:v>1TRI2025</c:v>
                </c:pt>
                <c:pt idx="5">
                  <c:v>2TRI2025</c:v>
                </c:pt>
                <c:pt idx="6">
                  <c:v>3TRI2025</c:v>
                </c:pt>
                <c:pt idx="7">
                  <c:v>4TRI2025</c:v>
                </c:pt>
                <c:pt idx="8">
                  <c:v>1TRI2026</c:v>
                </c:pt>
              </c:strCache>
            </c:strRef>
          </c:cat>
          <c:val>
            <c:numRef>
              <c:f>'Plan1 (2)'!$D$19:$D$27</c:f>
              <c:numCache>
                <c:formatCode>General</c:formatCode>
                <c:ptCount val="9"/>
                <c:pt idx="0">
                  <c:v>59.214690881000003</c:v>
                </c:pt>
                <c:pt idx="1">
                  <c:v>66.188342899999995</c:v>
                </c:pt>
                <c:pt idx="2">
                  <c:v>70.900933135000002</c:v>
                </c:pt>
                <c:pt idx="3">
                  <c:v>66.565639258000004</c:v>
                </c:pt>
                <c:pt idx="4">
                  <c:v>67.271775133000006</c:v>
                </c:pt>
                <c:pt idx="5">
                  <c:v>68.262215604999994</c:v>
                </c:pt>
                <c:pt idx="6">
                  <c:v>76.060928000999994</c:v>
                </c:pt>
                <c:pt idx="7">
                  <c:v>68.613515086000007</c:v>
                </c:pt>
                <c:pt idx="8">
                  <c:v>68.194386574999996</c:v>
                </c:pt>
              </c:numCache>
            </c:numRef>
          </c:val>
          <c:extLst>
            <c:ext xmlns:c16="http://schemas.microsoft.com/office/drawing/2014/chart" uri="{C3380CC4-5D6E-409C-BE32-E72D297353CC}">
              <c16:uniqueId val="{00000001-1B99-49F0-975C-75A3F86212A6}"/>
            </c:ext>
          </c:extLst>
        </c:ser>
        <c:dLbls>
          <c:showLegendKey val="0"/>
          <c:showVal val="0"/>
          <c:showCatName val="0"/>
          <c:showSerName val="0"/>
          <c:showPercent val="0"/>
          <c:showBubbleSize val="0"/>
        </c:dLbls>
        <c:gapWidth val="219"/>
        <c:overlap val="-27"/>
        <c:axId val="1982034624"/>
        <c:axId val="1648319888"/>
      </c:barChart>
      <c:lineChart>
        <c:grouping val="standard"/>
        <c:varyColors val="0"/>
        <c:ser>
          <c:idx val="2"/>
          <c:order val="2"/>
          <c:tx>
            <c:strRef>
              <c:f>'Plan1 (2)'!$E$18</c:f>
              <c:strCache>
                <c:ptCount val="1"/>
                <c:pt idx="0">
                  <c:v>Balança Comercial</c:v>
                </c:pt>
              </c:strCache>
            </c:strRef>
          </c:tx>
          <c:spPr>
            <a:ln w="50800" cap="rnd">
              <a:solidFill>
                <a:srgbClr val="EF0988"/>
              </a:solidFill>
              <a:round/>
            </a:ln>
            <a:effectLst/>
          </c:spPr>
          <c:marker>
            <c:symbol val="none"/>
          </c:marker>
          <c:cat>
            <c:strRef>
              <c:f>'Plan1 (2)'!$B$19:$B$27</c:f>
              <c:strCache>
                <c:ptCount val="9"/>
                <c:pt idx="0">
                  <c:v>1TRI2024</c:v>
                </c:pt>
                <c:pt idx="1">
                  <c:v>2TRI2024</c:v>
                </c:pt>
                <c:pt idx="2">
                  <c:v>3TRI2024</c:v>
                </c:pt>
                <c:pt idx="3">
                  <c:v>4TRI2024</c:v>
                </c:pt>
                <c:pt idx="4">
                  <c:v>1TRI2025</c:v>
                </c:pt>
                <c:pt idx="5">
                  <c:v>2TRI2025</c:v>
                </c:pt>
                <c:pt idx="6">
                  <c:v>3TRI2025</c:v>
                </c:pt>
                <c:pt idx="7">
                  <c:v>4TRI2025</c:v>
                </c:pt>
                <c:pt idx="8">
                  <c:v>1TRI2026</c:v>
                </c:pt>
              </c:strCache>
            </c:strRef>
          </c:cat>
          <c:val>
            <c:numRef>
              <c:f>'Plan1 (2)'!$E$19:$E$27</c:f>
              <c:numCache>
                <c:formatCode>General</c:formatCode>
                <c:ptCount val="9"/>
                <c:pt idx="0">
                  <c:v>18.493637914000001</c:v>
                </c:pt>
                <c:pt idx="1">
                  <c:v>23.061086692</c:v>
                </c:pt>
                <c:pt idx="2">
                  <c:v>17.148194015000001</c:v>
                </c:pt>
                <c:pt idx="3">
                  <c:v>15.473636915</c:v>
                </c:pt>
                <c:pt idx="4">
                  <c:v>9.6062826710000007</c:v>
                </c:pt>
                <c:pt idx="5">
                  <c:v>20.580249509000001</c:v>
                </c:pt>
                <c:pt idx="6">
                  <c:v>16.113101824000001</c:v>
                </c:pt>
                <c:pt idx="7">
                  <c:v>21.770394670999998</c:v>
                </c:pt>
                <c:pt idx="8">
                  <c:v>14.261070393000001</c:v>
                </c:pt>
              </c:numCache>
            </c:numRef>
          </c:val>
          <c:smooth val="1"/>
          <c:extLst>
            <c:ext xmlns:c16="http://schemas.microsoft.com/office/drawing/2014/chart" uri="{C3380CC4-5D6E-409C-BE32-E72D297353CC}">
              <c16:uniqueId val="{00000002-1B99-49F0-975C-75A3F86212A6}"/>
            </c:ext>
          </c:extLst>
        </c:ser>
        <c:dLbls>
          <c:showLegendKey val="0"/>
          <c:showVal val="0"/>
          <c:showCatName val="0"/>
          <c:showSerName val="0"/>
          <c:showPercent val="0"/>
          <c:showBubbleSize val="0"/>
        </c:dLbls>
        <c:marker val="1"/>
        <c:smooth val="0"/>
        <c:axId val="2074597264"/>
        <c:axId val="2074598704"/>
      </c:lineChart>
      <c:catAx>
        <c:axId val="1982034624"/>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48319888"/>
        <c:crosses val="autoZero"/>
        <c:auto val="1"/>
        <c:lblAlgn val="ctr"/>
        <c:lblOffset val="100"/>
        <c:noMultiLvlLbl val="0"/>
      </c:catAx>
      <c:valAx>
        <c:axId val="1648319888"/>
        <c:scaling>
          <c:orientation val="minMax"/>
        </c:scaling>
        <c:delete val="0"/>
        <c:axPos val="l"/>
        <c:majorGridlines>
          <c:spPr>
            <a:ln w="9525" cap="flat" cmpd="sng" algn="ctr">
              <a:solidFill>
                <a:schemeClr val="tx1">
                  <a:lumMod val="15000"/>
                  <a:lumOff val="85000"/>
                </a:schemeClr>
              </a:solidFill>
              <a:round/>
            </a:ln>
            <a:effectLst/>
          </c:spPr>
        </c:majorGridlines>
        <c:numFmt formatCode="_-[$$-409]* #,##0.00_ ;_-[$$-409]* \-#,##0.00\ ;_-[$$-409]* &quot;-&quot;??_ ;_-@_ "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982034624"/>
        <c:crosses val="autoZero"/>
        <c:crossBetween val="between"/>
      </c:valAx>
      <c:valAx>
        <c:axId val="2074598704"/>
        <c:scaling>
          <c:orientation val="minMax"/>
        </c:scaling>
        <c:delete val="0"/>
        <c:axPos val="r"/>
        <c:numFmt formatCode="[$$-409]#,##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EF0988"/>
                </a:solidFill>
                <a:latin typeface="+mn-lt"/>
                <a:ea typeface="+mn-ea"/>
                <a:cs typeface="+mn-cs"/>
              </a:defRPr>
            </a:pPr>
            <a:endParaRPr lang="pt-BR"/>
          </a:p>
        </c:txPr>
        <c:crossAx val="2074597264"/>
        <c:crosses val="max"/>
        <c:crossBetween val="between"/>
      </c:valAx>
      <c:catAx>
        <c:axId val="2074597264"/>
        <c:scaling>
          <c:orientation val="minMax"/>
        </c:scaling>
        <c:delete val="1"/>
        <c:axPos val="b"/>
        <c:numFmt formatCode="General" sourceLinked="1"/>
        <c:majorTickMark val="out"/>
        <c:minorTickMark val="none"/>
        <c:tickLblPos val="nextTo"/>
        <c:crossAx val="20745987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Estado</a:t>
            </a:r>
            <a:r>
              <a:rPr lang="pt-BR" b="1" baseline="0"/>
              <a:t> de São Paulo (Bilhões US$ FOB)</a:t>
            </a:r>
            <a:endParaRPr lang="pt-BR"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'Plan1 (2)'!$F$18</c:f>
              <c:strCache>
                <c:ptCount val="1"/>
                <c:pt idx="0">
                  <c:v>Exportação - 2025 - Valor US$ FOB</c:v>
                </c:pt>
              </c:strCache>
            </c:strRef>
          </c:tx>
          <c:spPr>
            <a:solidFill>
              <a:srgbClr val="2F68D3"/>
            </a:solidFill>
            <a:ln>
              <a:noFill/>
            </a:ln>
            <a:effectLst/>
          </c:spPr>
          <c:invertIfNegative val="0"/>
          <c:cat>
            <c:strRef>
              <c:f>'Plan1 (2)'!$B$19:$B$27</c:f>
              <c:strCache>
                <c:ptCount val="9"/>
                <c:pt idx="0">
                  <c:v>1TRI2024</c:v>
                </c:pt>
                <c:pt idx="1">
                  <c:v>2TRI2024</c:v>
                </c:pt>
                <c:pt idx="2">
                  <c:v>3TRI2024</c:v>
                </c:pt>
                <c:pt idx="3">
                  <c:v>4TRI2024</c:v>
                </c:pt>
                <c:pt idx="4">
                  <c:v>1TRI2025</c:v>
                </c:pt>
                <c:pt idx="5">
                  <c:v>2TRI2025</c:v>
                </c:pt>
                <c:pt idx="6">
                  <c:v>3TRI2025</c:v>
                </c:pt>
                <c:pt idx="7">
                  <c:v>4TRI2025</c:v>
                </c:pt>
                <c:pt idx="8">
                  <c:v>1TRI2026</c:v>
                </c:pt>
              </c:strCache>
            </c:strRef>
          </c:cat>
          <c:val>
            <c:numRef>
              <c:f>'Plan1 (2)'!$F$19:$F$27</c:f>
              <c:numCache>
                <c:formatCode>General</c:formatCode>
                <c:ptCount val="9"/>
                <c:pt idx="0">
                  <c:v>16.520496690000002</c:v>
                </c:pt>
                <c:pt idx="1">
                  <c:v>17.503648753</c:v>
                </c:pt>
                <c:pt idx="2">
                  <c:v>18.720867172999998</c:v>
                </c:pt>
                <c:pt idx="3">
                  <c:v>18.661457735999999</c:v>
                </c:pt>
                <c:pt idx="4">
                  <c:v>15.91435976</c:v>
                </c:pt>
                <c:pt idx="5">
                  <c:v>17.680499310999998</c:v>
                </c:pt>
                <c:pt idx="6">
                  <c:v>19.521692380000001</c:v>
                </c:pt>
                <c:pt idx="7">
                  <c:v>18.272779531000001</c:v>
                </c:pt>
                <c:pt idx="8">
                  <c:v>15.888448242999999</c:v>
                </c:pt>
              </c:numCache>
            </c:numRef>
          </c:val>
          <c:extLst>
            <c:ext xmlns:c16="http://schemas.microsoft.com/office/drawing/2014/chart" uri="{C3380CC4-5D6E-409C-BE32-E72D297353CC}">
              <c16:uniqueId val="{00000000-80E9-4685-8BCF-C03EE65D4E66}"/>
            </c:ext>
          </c:extLst>
        </c:ser>
        <c:ser>
          <c:idx val="1"/>
          <c:order val="1"/>
          <c:tx>
            <c:strRef>
              <c:f>'Plan1 (2)'!$G$18</c:f>
              <c:strCache>
                <c:ptCount val="1"/>
                <c:pt idx="0">
                  <c:v>Importação - 2025 - Valor US$ FOB</c:v>
                </c:pt>
              </c:strCache>
            </c:strRef>
          </c:tx>
          <c:spPr>
            <a:solidFill>
              <a:srgbClr val="FFB700"/>
            </a:solidFill>
            <a:ln>
              <a:solidFill>
                <a:srgbClr val="FFB700"/>
              </a:solidFill>
            </a:ln>
            <a:effectLst/>
          </c:spPr>
          <c:invertIfNegative val="0"/>
          <c:cat>
            <c:strRef>
              <c:f>'Plan1 (2)'!$B$19:$B$27</c:f>
              <c:strCache>
                <c:ptCount val="9"/>
                <c:pt idx="0">
                  <c:v>1TRI2024</c:v>
                </c:pt>
                <c:pt idx="1">
                  <c:v>2TRI2024</c:v>
                </c:pt>
                <c:pt idx="2">
                  <c:v>3TRI2024</c:v>
                </c:pt>
                <c:pt idx="3">
                  <c:v>4TRI2024</c:v>
                </c:pt>
                <c:pt idx="4">
                  <c:v>1TRI2025</c:v>
                </c:pt>
                <c:pt idx="5">
                  <c:v>2TRI2025</c:v>
                </c:pt>
                <c:pt idx="6">
                  <c:v>3TRI2025</c:v>
                </c:pt>
                <c:pt idx="7">
                  <c:v>4TRI2025</c:v>
                </c:pt>
                <c:pt idx="8">
                  <c:v>1TRI2026</c:v>
                </c:pt>
              </c:strCache>
            </c:strRef>
          </c:cat>
          <c:val>
            <c:numRef>
              <c:f>'Plan1 (2)'!$G$19:$G$27</c:f>
              <c:numCache>
                <c:formatCode>General</c:formatCode>
                <c:ptCount val="9"/>
                <c:pt idx="0">
                  <c:v>17.52937987</c:v>
                </c:pt>
                <c:pt idx="1">
                  <c:v>18.610099629</c:v>
                </c:pt>
                <c:pt idx="2">
                  <c:v>20.429485842999998</c:v>
                </c:pt>
                <c:pt idx="3">
                  <c:v>19.313441566000002</c:v>
                </c:pt>
                <c:pt idx="4">
                  <c:v>21.921816173</c:v>
                </c:pt>
                <c:pt idx="5">
                  <c:v>20.428707811999999</c:v>
                </c:pt>
                <c:pt idx="6">
                  <c:v>22.983334523</c:v>
                </c:pt>
                <c:pt idx="7">
                  <c:v>21.166152142000001</c:v>
                </c:pt>
                <c:pt idx="8">
                  <c:v>20.928509529999999</c:v>
                </c:pt>
              </c:numCache>
            </c:numRef>
          </c:val>
          <c:extLst>
            <c:ext xmlns:c16="http://schemas.microsoft.com/office/drawing/2014/chart" uri="{C3380CC4-5D6E-409C-BE32-E72D297353CC}">
              <c16:uniqueId val="{00000001-80E9-4685-8BCF-C03EE65D4E66}"/>
            </c:ext>
          </c:extLst>
        </c:ser>
        <c:dLbls>
          <c:showLegendKey val="0"/>
          <c:showVal val="0"/>
          <c:showCatName val="0"/>
          <c:showSerName val="0"/>
          <c:showPercent val="0"/>
          <c:showBubbleSize val="0"/>
        </c:dLbls>
        <c:gapWidth val="219"/>
        <c:overlap val="-27"/>
        <c:axId val="1982034624"/>
        <c:axId val="1648319888"/>
      </c:barChart>
      <c:lineChart>
        <c:grouping val="standard"/>
        <c:varyColors val="0"/>
        <c:ser>
          <c:idx val="2"/>
          <c:order val="2"/>
          <c:tx>
            <c:strRef>
              <c:f>'Plan1 (2)'!$H$18</c:f>
              <c:strCache>
                <c:ptCount val="1"/>
                <c:pt idx="0">
                  <c:v>Balança Comercial</c:v>
                </c:pt>
              </c:strCache>
            </c:strRef>
          </c:tx>
          <c:spPr>
            <a:ln w="50800" cap="rnd">
              <a:solidFill>
                <a:srgbClr val="EF0988"/>
              </a:solidFill>
              <a:round/>
            </a:ln>
            <a:effectLst/>
          </c:spPr>
          <c:marker>
            <c:symbol val="none"/>
          </c:marker>
          <c:cat>
            <c:strRef>
              <c:f>'Plan1 (2)'!$B$19:$B$27</c:f>
              <c:strCache>
                <c:ptCount val="9"/>
                <c:pt idx="0">
                  <c:v>1TRI2024</c:v>
                </c:pt>
                <c:pt idx="1">
                  <c:v>2TRI2024</c:v>
                </c:pt>
                <c:pt idx="2">
                  <c:v>3TRI2024</c:v>
                </c:pt>
                <c:pt idx="3">
                  <c:v>4TRI2024</c:v>
                </c:pt>
                <c:pt idx="4">
                  <c:v>1TRI2025</c:v>
                </c:pt>
                <c:pt idx="5">
                  <c:v>2TRI2025</c:v>
                </c:pt>
                <c:pt idx="6">
                  <c:v>3TRI2025</c:v>
                </c:pt>
                <c:pt idx="7">
                  <c:v>4TRI2025</c:v>
                </c:pt>
                <c:pt idx="8">
                  <c:v>1TRI2026</c:v>
                </c:pt>
              </c:strCache>
            </c:strRef>
          </c:cat>
          <c:val>
            <c:numRef>
              <c:f>'Plan1 (2)'!$H$19:$H$27</c:f>
              <c:numCache>
                <c:formatCode>General</c:formatCode>
                <c:ptCount val="9"/>
                <c:pt idx="0">
                  <c:v>-1.00888318</c:v>
                </c:pt>
                <c:pt idx="1">
                  <c:v>-1.106450876</c:v>
                </c:pt>
                <c:pt idx="2">
                  <c:v>-1.7086186699999999</c:v>
                </c:pt>
                <c:pt idx="3">
                  <c:v>-0.65198383000000004</c:v>
                </c:pt>
                <c:pt idx="4">
                  <c:v>-6.0074564129999999</c:v>
                </c:pt>
                <c:pt idx="5">
                  <c:v>-2.7482085010000001</c:v>
                </c:pt>
                <c:pt idx="6">
                  <c:v>-3.4616421430000002</c:v>
                </c:pt>
                <c:pt idx="7">
                  <c:v>-2.8933726110000002</c:v>
                </c:pt>
                <c:pt idx="8">
                  <c:v>-5.0400612870000003</c:v>
                </c:pt>
              </c:numCache>
            </c:numRef>
          </c:val>
          <c:smooth val="1"/>
          <c:extLst>
            <c:ext xmlns:c16="http://schemas.microsoft.com/office/drawing/2014/chart" uri="{C3380CC4-5D6E-409C-BE32-E72D297353CC}">
              <c16:uniqueId val="{00000002-80E9-4685-8BCF-C03EE65D4E66}"/>
            </c:ext>
          </c:extLst>
        </c:ser>
        <c:dLbls>
          <c:showLegendKey val="0"/>
          <c:showVal val="0"/>
          <c:showCatName val="0"/>
          <c:showSerName val="0"/>
          <c:showPercent val="0"/>
          <c:showBubbleSize val="0"/>
        </c:dLbls>
        <c:marker val="1"/>
        <c:smooth val="0"/>
        <c:axId val="2074597264"/>
        <c:axId val="2074598704"/>
      </c:lineChart>
      <c:catAx>
        <c:axId val="1982034624"/>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48319888"/>
        <c:crosses val="autoZero"/>
        <c:auto val="1"/>
        <c:lblAlgn val="ctr"/>
        <c:lblOffset val="100"/>
        <c:noMultiLvlLbl val="0"/>
      </c:catAx>
      <c:valAx>
        <c:axId val="1648319888"/>
        <c:scaling>
          <c:orientation val="minMax"/>
        </c:scaling>
        <c:delete val="0"/>
        <c:axPos val="l"/>
        <c:majorGridlines>
          <c:spPr>
            <a:ln w="9525" cap="flat" cmpd="sng" algn="ctr">
              <a:solidFill>
                <a:schemeClr val="tx1">
                  <a:lumMod val="15000"/>
                  <a:lumOff val="85000"/>
                </a:schemeClr>
              </a:solidFill>
              <a:round/>
            </a:ln>
            <a:effectLst/>
          </c:spPr>
        </c:majorGridlines>
        <c:numFmt formatCode="_-[$$-409]* #,##0.00_ ;_-[$$-409]* \-#,##0.00\ ;_-[$$-409]* &quot;-&quot;??_ ;_-@_ "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982034624"/>
        <c:crosses val="autoZero"/>
        <c:crossBetween val="between"/>
      </c:valAx>
      <c:valAx>
        <c:axId val="2074598704"/>
        <c:scaling>
          <c:orientation val="minMax"/>
        </c:scaling>
        <c:delete val="0"/>
        <c:axPos val="r"/>
        <c:numFmt formatCode="[$$-409]#,##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EF0988"/>
                </a:solidFill>
                <a:latin typeface="+mn-lt"/>
                <a:ea typeface="+mn-ea"/>
                <a:cs typeface="+mn-cs"/>
              </a:defRPr>
            </a:pPr>
            <a:endParaRPr lang="pt-BR"/>
          </a:p>
        </c:txPr>
        <c:crossAx val="2074597264"/>
        <c:crosses val="max"/>
        <c:crossBetween val="between"/>
      </c:valAx>
      <c:catAx>
        <c:axId val="2074597264"/>
        <c:scaling>
          <c:orientation val="minMax"/>
        </c:scaling>
        <c:delete val="1"/>
        <c:axPos val="b"/>
        <c:numFmt formatCode="General" sourceLinked="1"/>
        <c:majorTickMark val="out"/>
        <c:minorTickMark val="none"/>
        <c:tickLblPos val="nextTo"/>
        <c:crossAx val="207459870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Piracicaba </a:t>
            </a:r>
            <a:r>
              <a:rPr lang="pt-BR" b="1" baseline="0"/>
              <a:t>(Milhões US$ FOB)</a:t>
            </a:r>
            <a:endParaRPr lang="pt-BR" b="1"/>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Plan1!$B$16</c:f>
              <c:strCache>
                <c:ptCount val="1"/>
                <c:pt idx="0">
                  <c:v>Exportação - 2025 - Valor US$ FOB</c:v>
                </c:pt>
              </c:strCache>
            </c:strRef>
          </c:tx>
          <c:spPr>
            <a:solidFill>
              <a:srgbClr val="2F68D3"/>
            </a:solidFill>
            <a:ln>
              <a:noFill/>
            </a:ln>
            <a:effectLst/>
          </c:spPr>
          <c:invertIfNegative val="0"/>
          <c:cat>
            <c:numRef>
              <c:f>Plan1!$A$17:$A$28</c:f>
              <c:numCache>
                <c:formatCode>m/d/yyyy</c:formatCode>
                <c:ptCount val="12"/>
                <c:pt idx="0">
                  <c:v>45992</c:v>
                </c:pt>
                <c:pt idx="1">
                  <c:v>45962</c:v>
                </c:pt>
                <c:pt idx="2">
                  <c:v>45931</c:v>
                </c:pt>
                <c:pt idx="3">
                  <c:v>45901</c:v>
                </c:pt>
                <c:pt idx="4">
                  <c:v>45870</c:v>
                </c:pt>
                <c:pt idx="5">
                  <c:v>45839</c:v>
                </c:pt>
                <c:pt idx="6">
                  <c:v>45809</c:v>
                </c:pt>
                <c:pt idx="7">
                  <c:v>45778</c:v>
                </c:pt>
                <c:pt idx="8">
                  <c:v>45748</c:v>
                </c:pt>
                <c:pt idx="9">
                  <c:v>45717</c:v>
                </c:pt>
                <c:pt idx="10">
                  <c:v>45689</c:v>
                </c:pt>
                <c:pt idx="11">
                  <c:v>45658</c:v>
                </c:pt>
              </c:numCache>
            </c:numRef>
          </c:cat>
          <c:val>
            <c:numRef>
              <c:f>Plan1!$B$17:$B$28</c:f>
              <c:numCache>
                <c:formatCode>General</c:formatCode>
                <c:ptCount val="12"/>
                <c:pt idx="0">
                  <c:v>30.710215226999999</c:v>
                </c:pt>
                <c:pt idx="1">
                  <c:v>28.164831149000001</c:v>
                </c:pt>
                <c:pt idx="2">
                  <c:v>31.508863381000001</c:v>
                </c:pt>
                <c:pt idx="3">
                  <c:v>30.486762258999999</c:v>
                </c:pt>
                <c:pt idx="4">
                  <c:v>29.55863329</c:v>
                </c:pt>
                <c:pt idx="5">
                  <c:v>32.128634276</c:v>
                </c:pt>
                <c:pt idx="6">
                  <c:v>29.036249481999999</c:v>
                </c:pt>
                <c:pt idx="7">
                  <c:v>29.920080780999999</c:v>
                </c:pt>
                <c:pt idx="8">
                  <c:v>29.886134851000001</c:v>
                </c:pt>
                <c:pt idx="9">
                  <c:v>28.725872005999999</c:v>
                </c:pt>
                <c:pt idx="10">
                  <c:v>22.753954039</c:v>
                </c:pt>
                <c:pt idx="11">
                  <c:v>25.398231759000002</c:v>
                </c:pt>
              </c:numCache>
            </c:numRef>
          </c:val>
          <c:extLst>
            <c:ext xmlns:c16="http://schemas.microsoft.com/office/drawing/2014/chart" uri="{C3380CC4-5D6E-409C-BE32-E72D297353CC}">
              <c16:uniqueId val="{00000000-B9A4-408E-9B1D-6FABBC8000A2}"/>
            </c:ext>
          </c:extLst>
        </c:ser>
        <c:ser>
          <c:idx val="1"/>
          <c:order val="1"/>
          <c:tx>
            <c:strRef>
              <c:f>Plan1!$C$16</c:f>
              <c:strCache>
                <c:ptCount val="1"/>
                <c:pt idx="0">
                  <c:v>Importação - 2025 - Valor US$ FOB</c:v>
                </c:pt>
              </c:strCache>
            </c:strRef>
          </c:tx>
          <c:spPr>
            <a:solidFill>
              <a:srgbClr val="FFB700"/>
            </a:solidFill>
            <a:ln>
              <a:solidFill>
                <a:srgbClr val="FFB700"/>
              </a:solidFill>
            </a:ln>
            <a:effectLst/>
          </c:spPr>
          <c:invertIfNegative val="0"/>
          <c:cat>
            <c:numRef>
              <c:f>Plan1!$A$17:$A$28</c:f>
              <c:numCache>
                <c:formatCode>m/d/yyyy</c:formatCode>
                <c:ptCount val="12"/>
                <c:pt idx="0">
                  <c:v>45992</c:v>
                </c:pt>
                <c:pt idx="1">
                  <c:v>45962</c:v>
                </c:pt>
                <c:pt idx="2">
                  <c:v>45931</c:v>
                </c:pt>
                <c:pt idx="3">
                  <c:v>45901</c:v>
                </c:pt>
                <c:pt idx="4">
                  <c:v>45870</c:v>
                </c:pt>
                <c:pt idx="5">
                  <c:v>45839</c:v>
                </c:pt>
                <c:pt idx="6">
                  <c:v>45809</c:v>
                </c:pt>
                <c:pt idx="7">
                  <c:v>45778</c:v>
                </c:pt>
                <c:pt idx="8">
                  <c:v>45748</c:v>
                </c:pt>
                <c:pt idx="9">
                  <c:v>45717</c:v>
                </c:pt>
                <c:pt idx="10">
                  <c:v>45689</c:v>
                </c:pt>
                <c:pt idx="11">
                  <c:v>45658</c:v>
                </c:pt>
              </c:numCache>
            </c:numRef>
          </c:cat>
          <c:val>
            <c:numRef>
              <c:f>Plan1!$C$17:$C$28</c:f>
              <c:numCache>
                <c:formatCode>General</c:formatCode>
                <c:ptCount val="12"/>
                <c:pt idx="0">
                  <c:v>21.385349027</c:v>
                </c:pt>
                <c:pt idx="1">
                  <c:v>22.404274885</c:v>
                </c:pt>
                <c:pt idx="2">
                  <c:v>24.823891174</c:v>
                </c:pt>
                <c:pt idx="3">
                  <c:v>27.345568599</c:v>
                </c:pt>
                <c:pt idx="4">
                  <c:v>23.583998523000002</c:v>
                </c:pt>
                <c:pt idx="5">
                  <c:v>25.131360878999999</c:v>
                </c:pt>
                <c:pt idx="6">
                  <c:v>23.179685930000002</c:v>
                </c:pt>
                <c:pt idx="7">
                  <c:v>22.860326365999999</c:v>
                </c:pt>
                <c:pt idx="8">
                  <c:v>22.222203309000001</c:v>
                </c:pt>
                <c:pt idx="9">
                  <c:v>20.989949680999999</c:v>
                </c:pt>
                <c:pt idx="10">
                  <c:v>23.220906048</c:v>
                </c:pt>
                <c:pt idx="11">
                  <c:v>23.060919404</c:v>
                </c:pt>
              </c:numCache>
            </c:numRef>
          </c:val>
          <c:extLst>
            <c:ext xmlns:c16="http://schemas.microsoft.com/office/drawing/2014/chart" uri="{C3380CC4-5D6E-409C-BE32-E72D297353CC}">
              <c16:uniqueId val="{00000001-B9A4-408E-9B1D-6FABBC8000A2}"/>
            </c:ext>
          </c:extLst>
        </c:ser>
        <c:dLbls>
          <c:showLegendKey val="0"/>
          <c:showVal val="0"/>
          <c:showCatName val="0"/>
          <c:showSerName val="0"/>
          <c:showPercent val="0"/>
          <c:showBubbleSize val="0"/>
        </c:dLbls>
        <c:gapWidth val="219"/>
        <c:overlap val="-27"/>
        <c:axId val="1982034624"/>
        <c:axId val="1648319888"/>
      </c:barChart>
      <c:lineChart>
        <c:grouping val="standard"/>
        <c:varyColors val="0"/>
        <c:ser>
          <c:idx val="2"/>
          <c:order val="2"/>
          <c:tx>
            <c:strRef>
              <c:f>Plan1!$D$16</c:f>
              <c:strCache>
                <c:ptCount val="1"/>
                <c:pt idx="0">
                  <c:v>Balança Comercial</c:v>
                </c:pt>
              </c:strCache>
            </c:strRef>
          </c:tx>
          <c:spPr>
            <a:ln w="50800" cap="rnd">
              <a:solidFill>
                <a:srgbClr val="EF0988"/>
              </a:solidFill>
              <a:round/>
            </a:ln>
            <a:effectLst/>
          </c:spPr>
          <c:marker>
            <c:symbol val="none"/>
          </c:marker>
          <c:cat>
            <c:numRef>
              <c:f>Plan1!$A$17:$A$28</c:f>
              <c:numCache>
                <c:formatCode>m/d/yyyy</c:formatCode>
                <c:ptCount val="12"/>
                <c:pt idx="0">
                  <c:v>45992</c:v>
                </c:pt>
                <c:pt idx="1">
                  <c:v>45962</c:v>
                </c:pt>
                <c:pt idx="2">
                  <c:v>45931</c:v>
                </c:pt>
                <c:pt idx="3">
                  <c:v>45901</c:v>
                </c:pt>
                <c:pt idx="4">
                  <c:v>45870</c:v>
                </c:pt>
                <c:pt idx="5">
                  <c:v>45839</c:v>
                </c:pt>
                <c:pt idx="6">
                  <c:v>45809</c:v>
                </c:pt>
                <c:pt idx="7">
                  <c:v>45778</c:v>
                </c:pt>
                <c:pt idx="8">
                  <c:v>45748</c:v>
                </c:pt>
                <c:pt idx="9">
                  <c:v>45717</c:v>
                </c:pt>
                <c:pt idx="10">
                  <c:v>45689</c:v>
                </c:pt>
                <c:pt idx="11">
                  <c:v>45658</c:v>
                </c:pt>
              </c:numCache>
            </c:numRef>
          </c:cat>
          <c:val>
            <c:numRef>
              <c:f>Plan1!$D$17:$D$28</c:f>
              <c:numCache>
                <c:formatCode>General</c:formatCode>
                <c:ptCount val="12"/>
                <c:pt idx="0">
                  <c:v>9.3248662000000007</c:v>
                </c:pt>
                <c:pt idx="1">
                  <c:v>5.7605562639999999</c:v>
                </c:pt>
                <c:pt idx="2">
                  <c:v>6.6849722070000004</c:v>
                </c:pt>
                <c:pt idx="3">
                  <c:v>3.1411936599999999</c:v>
                </c:pt>
                <c:pt idx="4">
                  <c:v>5.9746347670000004</c:v>
                </c:pt>
                <c:pt idx="5">
                  <c:v>6.9972733969999998</c:v>
                </c:pt>
                <c:pt idx="6">
                  <c:v>5.8565635519999999</c:v>
                </c:pt>
                <c:pt idx="7">
                  <c:v>7.0597544149999996</c:v>
                </c:pt>
                <c:pt idx="8">
                  <c:v>7.6639315420000003</c:v>
                </c:pt>
                <c:pt idx="9">
                  <c:v>7.7359223249999998</c:v>
                </c:pt>
                <c:pt idx="10">
                  <c:v>-0.466952009</c:v>
                </c:pt>
                <c:pt idx="11">
                  <c:v>2.3373123549999999</c:v>
                </c:pt>
              </c:numCache>
            </c:numRef>
          </c:val>
          <c:smooth val="1"/>
          <c:extLst>
            <c:ext xmlns:c16="http://schemas.microsoft.com/office/drawing/2014/chart" uri="{C3380CC4-5D6E-409C-BE32-E72D297353CC}">
              <c16:uniqueId val="{00000002-B9A4-408E-9B1D-6FABBC8000A2}"/>
            </c:ext>
          </c:extLst>
        </c:ser>
        <c:dLbls>
          <c:showLegendKey val="0"/>
          <c:showVal val="0"/>
          <c:showCatName val="0"/>
          <c:showSerName val="0"/>
          <c:showPercent val="0"/>
          <c:showBubbleSize val="0"/>
        </c:dLbls>
        <c:marker val="1"/>
        <c:smooth val="0"/>
        <c:axId val="2074597264"/>
        <c:axId val="2074598704"/>
      </c:lineChart>
      <c:dateAx>
        <c:axId val="1982034624"/>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648319888"/>
        <c:crosses val="autoZero"/>
        <c:auto val="1"/>
        <c:lblOffset val="100"/>
        <c:baseTimeUnit val="months"/>
      </c:dateAx>
      <c:valAx>
        <c:axId val="1648319888"/>
        <c:scaling>
          <c:orientation val="minMax"/>
        </c:scaling>
        <c:delete val="0"/>
        <c:axPos val="l"/>
        <c:majorGridlines>
          <c:spPr>
            <a:ln w="9525" cap="flat" cmpd="sng" algn="ctr">
              <a:solidFill>
                <a:schemeClr val="tx1">
                  <a:lumMod val="15000"/>
                  <a:lumOff val="85000"/>
                </a:schemeClr>
              </a:solidFill>
              <a:round/>
            </a:ln>
            <a:effectLst/>
          </c:spPr>
        </c:majorGridlines>
        <c:numFmt formatCode="_-[$$-409]* #,##0.00_ ;_-[$$-409]* \-#,##0.00\ ;_-[$$-409]* &quot;-&quot;??_ ;_-@_ "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982034624"/>
        <c:crosses val="autoZero"/>
        <c:crossBetween val="between"/>
      </c:valAx>
      <c:valAx>
        <c:axId val="2074598704"/>
        <c:scaling>
          <c:orientation val="minMax"/>
        </c:scaling>
        <c:delete val="0"/>
        <c:axPos val="r"/>
        <c:numFmt formatCode="[$$-409]#,##0.0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EF0988"/>
                </a:solidFill>
                <a:latin typeface="+mn-lt"/>
                <a:ea typeface="+mn-ea"/>
                <a:cs typeface="+mn-cs"/>
              </a:defRPr>
            </a:pPr>
            <a:endParaRPr lang="pt-BR"/>
          </a:p>
        </c:txPr>
        <c:crossAx val="2074597264"/>
        <c:crosses val="max"/>
        <c:crossBetween val="between"/>
      </c:valAx>
      <c:dateAx>
        <c:axId val="2074597264"/>
        <c:scaling>
          <c:orientation val="minMax"/>
        </c:scaling>
        <c:delete val="1"/>
        <c:axPos val="b"/>
        <c:numFmt formatCode="m/d/yyyy" sourceLinked="1"/>
        <c:majorTickMark val="out"/>
        <c:minorTickMark val="none"/>
        <c:tickLblPos val="nextTo"/>
        <c:crossAx val="2074598704"/>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Horas Trabalhadas na Produção</a:t>
            </a:r>
            <a:r>
              <a:rPr lang="pt-BR" b="1" baseline="0"/>
              <a:t> no Brasil (</a:t>
            </a:r>
            <a:r>
              <a:rPr lang="pt-BR" b="1"/>
              <a:t>base fixa) - CNI</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'Horas na produção - CNI'!$R$1</c:f>
              <c:strCache>
                <c:ptCount val="1"/>
                <c:pt idx="0">
                  <c:v>Metalurgia</c:v>
                </c:pt>
              </c:strCache>
            </c:strRef>
          </c:tx>
          <c:spPr>
            <a:ln w="28575" cap="rnd">
              <a:solidFill>
                <a:srgbClr val="EF0988"/>
              </a:solidFill>
              <a:round/>
            </a:ln>
            <a:effectLst/>
          </c:spPr>
          <c:marker>
            <c:symbol val="square"/>
            <c:size val="6"/>
            <c:spPr>
              <a:solidFill>
                <a:srgbClr val="EF0988"/>
              </a:solidFill>
              <a:ln w="9525" cmpd="dbl">
                <a:noFill/>
              </a:ln>
              <a:effectLst/>
            </c:spPr>
          </c:marker>
          <c:cat>
            <c:strRef>
              <c:f>'Horas na produção - CNI'!$Q$31:$Q$39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'Horas na produção - CNI'!$R$31:$R$39</c:f>
              <c:numCache>
                <c:formatCode>0.0</c:formatCode>
                <c:ptCount val="9"/>
                <c:pt idx="0">
                  <c:v>89.7</c:v>
                </c:pt>
                <c:pt idx="1">
                  <c:v>89.4</c:v>
                </c:pt>
                <c:pt idx="2">
                  <c:v>90.3</c:v>
                </c:pt>
                <c:pt idx="3">
                  <c:v>82.1</c:v>
                </c:pt>
                <c:pt idx="4">
                  <c:v>85.7</c:v>
                </c:pt>
                <c:pt idx="5">
                  <c:v>89.4</c:v>
                </c:pt>
                <c:pt idx="6">
                  <c:v>86.8</c:v>
                </c:pt>
                <c:pt idx="7">
                  <c:v>75</c:v>
                </c:pt>
                <c:pt idx="8">
                  <c:v>80.3</c:v>
                </c:pt>
              </c:numCache>
            </c:numRef>
          </c:val>
          <c:smooth val="1"/>
          <c:extLst>
            <c:ext xmlns:c16="http://schemas.microsoft.com/office/drawing/2014/chart" uri="{C3380CC4-5D6E-409C-BE32-E72D297353CC}">
              <c16:uniqueId val="{00000000-2968-4422-B473-5F0DD32B0F35}"/>
            </c:ext>
          </c:extLst>
        </c:ser>
        <c:ser>
          <c:idx val="1"/>
          <c:order val="1"/>
          <c:tx>
            <c:strRef>
              <c:f>'Horas na produção - CNI'!$S$1</c:f>
              <c:strCache>
                <c:ptCount val="1"/>
                <c:pt idx="0">
                  <c:v>Produtos de metal (exceto máquinas e equipamentos)  </c:v>
                </c:pt>
              </c:strCache>
            </c:strRef>
          </c:tx>
          <c:spPr>
            <a:ln w="28575" cap="rnd">
              <a:solidFill>
                <a:srgbClr val="0070C0"/>
              </a:solidFill>
              <a:round/>
            </a:ln>
            <a:effectLst/>
          </c:spPr>
          <c:marker>
            <c:symbol val="triangle"/>
            <c:size val="8"/>
            <c:spPr>
              <a:solidFill>
                <a:srgbClr val="2F68D3"/>
              </a:solidFill>
              <a:ln w="9525">
                <a:noFill/>
              </a:ln>
              <a:effectLst/>
            </c:spPr>
          </c:marker>
          <c:cat>
            <c:strRef>
              <c:f>'Horas na produção - CNI'!$Q$31:$Q$39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'Horas na produção - CNI'!$S$31:$S$39</c:f>
              <c:numCache>
                <c:formatCode>0.0</c:formatCode>
                <c:ptCount val="9"/>
                <c:pt idx="0">
                  <c:v>87.8</c:v>
                </c:pt>
                <c:pt idx="1">
                  <c:v>87.3</c:v>
                </c:pt>
                <c:pt idx="2">
                  <c:v>90.4</c:v>
                </c:pt>
                <c:pt idx="3">
                  <c:v>78</c:v>
                </c:pt>
                <c:pt idx="4">
                  <c:v>93.1</c:v>
                </c:pt>
                <c:pt idx="5">
                  <c:v>88.6</c:v>
                </c:pt>
                <c:pt idx="6">
                  <c:v>92</c:v>
                </c:pt>
                <c:pt idx="7">
                  <c:v>76.400000000000006</c:v>
                </c:pt>
                <c:pt idx="8">
                  <c:v>93.5</c:v>
                </c:pt>
              </c:numCache>
            </c:numRef>
          </c:val>
          <c:smooth val="1"/>
          <c:extLst>
            <c:ext xmlns:c16="http://schemas.microsoft.com/office/drawing/2014/chart" uri="{C3380CC4-5D6E-409C-BE32-E72D297353CC}">
              <c16:uniqueId val="{00000001-2968-4422-B473-5F0DD32B0F35}"/>
            </c:ext>
          </c:extLst>
        </c:ser>
        <c:ser>
          <c:idx val="2"/>
          <c:order val="2"/>
          <c:tx>
            <c:strRef>
              <c:f>'Horas na produção - CNI'!$T$1</c:f>
              <c:strCache>
                <c:ptCount val="1"/>
                <c:pt idx="0">
                  <c:v>Máquinas, aparelhos e materiais elétricos</c:v>
                </c:pt>
              </c:strCache>
            </c:strRef>
          </c:tx>
          <c:spPr>
            <a:ln w="28575" cap="rnd">
              <a:solidFill>
                <a:schemeClr val="accent2"/>
              </a:solidFill>
              <a:round/>
            </a:ln>
            <a:effectLst/>
          </c:spPr>
          <c:marker>
            <c:symbol val="circle"/>
            <c:size val="8"/>
            <c:spPr>
              <a:solidFill>
                <a:srgbClr val="FF7C00"/>
              </a:solidFill>
              <a:ln w="9525">
                <a:solidFill>
                  <a:srgbClr val="FF7C00"/>
                </a:solidFill>
              </a:ln>
              <a:effectLst/>
            </c:spPr>
          </c:marker>
          <c:cat>
            <c:strRef>
              <c:f>'Horas na produção - CNI'!$Q$31:$Q$39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'Horas na produção - CNI'!$T$31:$T$39</c:f>
              <c:numCache>
                <c:formatCode>0.0</c:formatCode>
                <c:ptCount val="9"/>
                <c:pt idx="0">
                  <c:v>106.7</c:v>
                </c:pt>
                <c:pt idx="1">
                  <c:v>102.4</c:v>
                </c:pt>
                <c:pt idx="2">
                  <c:v>112.8</c:v>
                </c:pt>
                <c:pt idx="3">
                  <c:v>100.3</c:v>
                </c:pt>
                <c:pt idx="4">
                  <c:v>116.7</c:v>
                </c:pt>
                <c:pt idx="5">
                  <c:v>116.4</c:v>
                </c:pt>
                <c:pt idx="6">
                  <c:v>120.8</c:v>
                </c:pt>
                <c:pt idx="7">
                  <c:v>107.3</c:v>
                </c:pt>
                <c:pt idx="8">
                  <c:v>109.8</c:v>
                </c:pt>
              </c:numCache>
            </c:numRef>
          </c:val>
          <c:smooth val="1"/>
          <c:extLst>
            <c:ext xmlns:c16="http://schemas.microsoft.com/office/drawing/2014/chart" uri="{C3380CC4-5D6E-409C-BE32-E72D297353CC}">
              <c16:uniqueId val="{00000002-2968-4422-B473-5F0DD32B0F35}"/>
            </c:ext>
          </c:extLst>
        </c:ser>
        <c:ser>
          <c:idx val="3"/>
          <c:order val="3"/>
          <c:tx>
            <c:strRef>
              <c:f>'Horas na produção - CNI'!$U$1</c:f>
              <c:strCache>
                <c:ptCount val="1"/>
                <c:pt idx="0">
                  <c:v>Máquinas e equipamentos</c:v>
                </c:pt>
              </c:strCache>
            </c:strRef>
          </c:tx>
          <c:spPr>
            <a:ln w="28575" cap="rnd">
              <a:solidFill>
                <a:srgbClr val="FFC000"/>
              </a:solidFill>
              <a:round/>
            </a:ln>
            <a:effectLst/>
          </c:spPr>
          <c:marker>
            <c:symbol val="diamond"/>
            <c:size val="9"/>
            <c:spPr>
              <a:solidFill>
                <a:srgbClr val="FFB700"/>
              </a:solidFill>
              <a:ln w="9525">
                <a:noFill/>
              </a:ln>
              <a:effectLst/>
            </c:spPr>
          </c:marker>
          <c:cat>
            <c:strRef>
              <c:f>'Horas na produção - CNI'!$Q$31:$Q$39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'Horas na produção - CNI'!$U$31:$U$39</c:f>
              <c:numCache>
                <c:formatCode>0.0</c:formatCode>
                <c:ptCount val="9"/>
                <c:pt idx="0">
                  <c:v>90.3</c:v>
                </c:pt>
                <c:pt idx="1">
                  <c:v>88.8</c:v>
                </c:pt>
                <c:pt idx="2">
                  <c:v>90.9</c:v>
                </c:pt>
                <c:pt idx="3">
                  <c:v>76.900000000000006</c:v>
                </c:pt>
                <c:pt idx="4">
                  <c:v>92.4</c:v>
                </c:pt>
                <c:pt idx="5">
                  <c:v>90</c:v>
                </c:pt>
                <c:pt idx="6">
                  <c:v>91.7</c:v>
                </c:pt>
                <c:pt idx="7">
                  <c:v>77.5</c:v>
                </c:pt>
                <c:pt idx="8">
                  <c:v>85.6</c:v>
                </c:pt>
              </c:numCache>
            </c:numRef>
          </c:val>
          <c:smooth val="1"/>
          <c:extLst>
            <c:ext xmlns:c16="http://schemas.microsoft.com/office/drawing/2014/chart" uri="{C3380CC4-5D6E-409C-BE32-E72D297353CC}">
              <c16:uniqueId val="{00000003-2968-4422-B473-5F0DD32B0F35}"/>
            </c:ext>
          </c:extLst>
        </c:ser>
        <c:ser>
          <c:idx val="4"/>
          <c:order val="4"/>
          <c:tx>
            <c:strRef>
              <c:f>'Horas na produção - CNI'!$V$1</c:f>
              <c:strCache>
                <c:ptCount val="1"/>
                <c:pt idx="0">
                  <c:v>Veículos automotores, reboques e carrocerias</c:v>
                </c:pt>
              </c:strCache>
            </c:strRef>
          </c:tx>
          <c:spPr>
            <a:ln w="28575" cap="rnd">
              <a:solidFill>
                <a:srgbClr val="FF7CFF"/>
              </a:solidFill>
              <a:round/>
            </a:ln>
            <a:effectLst/>
          </c:spPr>
          <c:marker>
            <c:symbol val="circle"/>
            <c:size val="7"/>
            <c:spPr>
              <a:solidFill>
                <a:srgbClr val="FF7CFF"/>
              </a:solidFill>
              <a:ln w="9525">
                <a:noFill/>
              </a:ln>
              <a:effectLst/>
            </c:spPr>
          </c:marker>
          <c:cat>
            <c:strRef>
              <c:f>'Horas na produção - CNI'!$Q$31:$Q$39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'Horas na produção - CNI'!$V$31:$V$39</c:f>
              <c:numCache>
                <c:formatCode>0.0</c:formatCode>
                <c:ptCount val="9"/>
                <c:pt idx="0">
                  <c:v>70.599999999999994</c:v>
                </c:pt>
                <c:pt idx="1">
                  <c:v>71.099999999999994</c:v>
                </c:pt>
                <c:pt idx="2">
                  <c:v>73.599999999999994</c:v>
                </c:pt>
                <c:pt idx="3">
                  <c:v>68</c:v>
                </c:pt>
                <c:pt idx="4">
                  <c:v>69.599999999999994</c:v>
                </c:pt>
                <c:pt idx="5">
                  <c:v>70.7</c:v>
                </c:pt>
                <c:pt idx="6">
                  <c:v>71.3</c:v>
                </c:pt>
                <c:pt idx="7">
                  <c:v>56.2</c:v>
                </c:pt>
                <c:pt idx="8">
                  <c:v>71.400000000000006</c:v>
                </c:pt>
              </c:numCache>
            </c:numRef>
          </c:val>
          <c:smooth val="1"/>
          <c:extLst>
            <c:ext xmlns:c16="http://schemas.microsoft.com/office/drawing/2014/chart" uri="{C3380CC4-5D6E-409C-BE32-E72D297353CC}">
              <c16:uniqueId val="{00000004-2968-4422-B473-5F0DD32B0F35}"/>
            </c:ext>
          </c:extLst>
        </c:ser>
        <c:ser>
          <c:idx val="5"/>
          <c:order val="5"/>
          <c:tx>
            <c:strRef>
              <c:f>'Horas na produção - CNI'!$W$1</c:f>
              <c:strCache>
                <c:ptCount val="1"/>
                <c:pt idx="0">
                  <c:v>Indústria de Transformação (Dessazonalizada)</c:v>
                </c:pt>
              </c:strCache>
            </c:strRef>
          </c:tx>
          <c:spPr>
            <a:ln w="28575" cap="rnd">
              <a:solidFill>
                <a:srgbClr val="C00000"/>
              </a:solidFill>
              <a:round/>
            </a:ln>
            <a:effectLst/>
          </c:spPr>
          <c:marker>
            <c:symbol val="x"/>
            <c:size val="7"/>
            <c:spPr>
              <a:solidFill>
                <a:srgbClr val="C00000"/>
              </a:solidFill>
              <a:ln w="9525">
                <a:solidFill>
                  <a:srgbClr val="C00000"/>
                </a:solidFill>
              </a:ln>
              <a:effectLst/>
            </c:spPr>
          </c:marker>
          <c:cat>
            <c:strRef>
              <c:f>'Horas na produção - CNI'!$Q$31:$Q$39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'Horas na produção - CNI'!$W$31:$W$39</c:f>
              <c:numCache>
                <c:formatCode>0.0</c:formatCode>
                <c:ptCount val="9"/>
                <c:pt idx="0">
                  <c:v>92.3</c:v>
                </c:pt>
                <c:pt idx="1">
                  <c:v>93.7</c:v>
                </c:pt>
                <c:pt idx="2">
                  <c:v>96</c:v>
                </c:pt>
                <c:pt idx="3">
                  <c:v>87</c:v>
                </c:pt>
                <c:pt idx="4">
                  <c:v>95.3</c:v>
                </c:pt>
                <c:pt idx="5">
                  <c:v>94.9</c:v>
                </c:pt>
                <c:pt idx="6">
                  <c:v>96.8</c:v>
                </c:pt>
                <c:pt idx="7">
                  <c:v>86.2</c:v>
                </c:pt>
                <c:pt idx="8">
                  <c:v>96</c:v>
                </c:pt>
              </c:numCache>
            </c:numRef>
          </c:val>
          <c:smooth val="1"/>
          <c:extLst>
            <c:ext xmlns:c16="http://schemas.microsoft.com/office/drawing/2014/chart" uri="{C3380CC4-5D6E-409C-BE32-E72D297353CC}">
              <c16:uniqueId val="{00000005-2968-4422-B473-5F0DD32B0F35}"/>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0"/>
      </c:catAx>
      <c:valAx>
        <c:axId val="1369505151"/>
        <c:scaling>
          <c:orientation val="minMax"/>
          <c:min val="55"/>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valAx>
      <c:spPr>
        <a:noFill/>
        <a:ln>
          <a:noFill/>
        </a:ln>
        <a:effectLst/>
      </c:spPr>
    </c:plotArea>
    <c:legend>
      <c:legendPos val="b"/>
      <c:layout>
        <c:manualLayout>
          <c:xMode val="edge"/>
          <c:yMode val="edge"/>
          <c:x val="0"/>
          <c:y val="0.80488394970674348"/>
          <c:w val="0.99764306306314587"/>
          <c:h val="0.18158012936956877"/>
        </c:manualLayout>
      </c:layout>
      <c:overlay val="0"/>
      <c:spPr>
        <a:noFill/>
        <a:ln>
          <a:noFill/>
        </a:ln>
        <a:effectLst/>
      </c:spPr>
      <c:txPr>
        <a:bodyPr rot="0" spcFirstLastPara="1" vertOverflow="ellipsis" vert="horz" wrap="square" anchor="ctr" anchorCtr="1"/>
        <a:lstStyle/>
        <a:p>
          <a:pPr>
            <a:defRPr lang="en-US" sz="9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pt-BR" sz="1400" b="1" i="0" u="none" strike="noStrike" kern="1200" spc="0" baseline="0">
                <a:solidFill>
                  <a:sysClr val="windowText" lastClr="000000">
                    <a:lumMod val="65000"/>
                    <a:lumOff val="35000"/>
                  </a:sysClr>
                </a:solidFill>
              </a:rPr>
              <a:t>Emprego Industrial no Brasil (base fixa) - CNI</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lineChart>
        <c:grouping val="standard"/>
        <c:varyColors val="0"/>
        <c:ser>
          <c:idx val="0"/>
          <c:order val="0"/>
          <c:tx>
            <c:strRef>
              <c:f>'Emprego industrial - CNI'!$V$30</c:f>
              <c:strCache>
                <c:ptCount val="1"/>
                <c:pt idx="0">
                  <c:v>Metalurgia</c:v>
                </c:pt>
              </c:strCache>
            </c:strRef>
          </c:tx>
          <c:spPr>
            <a:ln w="28575" cap="rnd">
              <a:solidFill>
                <a:srgbClr val="EF0988"/>
              </a:solidFill>
              <a:round/>
            </a:ln>
            <a:effectLst/>
          </c:spPr>
          <c:marker>
            <c:symbol val="square"/>
            <c:size val="8"/>
            <c:spPr>
              <a:solidFill>
                <a:srgbClr val="EF0988"/>
              </a:solidFill>
              <a:ln w="9525">
                <a:noFill/>
              </a:ln>
              <a:effectLst/>
            </c:spPr>
          </c:marker>
          <c:cat>
            <c:strRef>
              <c:f>'Emprego industrial - CNI'!$U$31:$U$39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'Emprego industrial - CNI'!$V$31:$V$39</c:f>
              <c:numCache>
                <c:formatCode>0.0</c:formatCode>
                <c:ptCount val="9"/>
                <c:pt idx="0">
                  <c:v>90.5</c:v>
                </c:pt>
                <c:pt idx="1">
                  <c:v>89.7</c:v>
                </c:pt>
                <c:pt idx="2">
                  <c:v>89.8</c:v>
                </c:pt>
                <c:pt idx="3">
                  <c:v>88</c:v>
                </c:pt>
                <c:pt idx="4">
                  <c:v>88.5</c:v>
                </c:pt>
                <c:pt idx="5">
                  <c:v>89</c:v>
                </c:pt>
                <c:pt idx="6">
                  <c:v>87.2</c:v>
                </c:pt>
                <c:pt idx="7">
                  <c:v>85.6</c:v>
                </c:pt>
                <c:pt idx="8">
                  <c:v>84.9</c:v>
                </c:pt>
              </c:numCache>
            </c:numRef>
          </c:val>
          <c:smooth val="1"/>
          <c:extLst>
            <c:ext xmlns:c16="http://schemas.microsoft.com/office/drawing/2014/chart" uri="{C3380CC4-5D6E-409C-BE32-E72D297353CC}">
              <c16:uniqueId val="{00000000-215E-4CB4-B91B-ED82C0AB359C}"/>
            </c:ext>
          </c:extLst>
        </c:ser>
        <c:ser>
          <c:idx val="1"/>
          <c:order val="1"/>
          <c:tx>
            <c:strRef>
              <c:f>'Emprego industrial - CNI'!$W$30</c:f>
              <c:strCache>
                <c:ptCount val="1"/>
                <c:pt idx="0">
                  <c:v>Produtos de metal (exceto máquinas e equipamentos)  </c:v>
                </c:pt>
              </c:strCache>
            </c:strRef>
          </c:tx>
          <c:spPr>
            <a:ln w="28575" cap="rnd">
              <a:solidFill>
                <a:srgbClr val="0070C0"/>
              </a:solidFill>
              <a:round/>
            </a:ln>
            <a:effectLst/>
          </c:spPr>
          <c:marker>
            <c:symbol val="triangle"/>
            <c:size val="8"/>
            <c:spPr>
              <a:solidFill>
                <a:srgbClr val="0070C0"/>
              </a:solidFill>
              <a:ln w="9525">
                <a:noFill/>
              </a:ln>
              <a:effectLst/>
            </c:spPr>
          </c:marker>
          <c:cat>
            <c:strRef>
              <c:f>'Emprego industrial - CNI'!$U$31:$U$39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'Emprego industrial - CNI'!$W$31:$W$39</c:f>
              <c:numCache>
                <c:formatCode>0.0</c:formatCode>
                <c:ptCount val="9"/>
                <c:pt idx="0">
                  <c:v>101.5</c:v>
                </c:pt>
                <c:pt idx="1">
                  <c:v>102.9</c:v>
                </c:pt>
                <c:pt idx="2">
                  <c:v>104.5</c:v>
                </c:pt>
                <c:pt idx="3">
                  <c:v>104.4</c:v>
                </c:pt>
                <c:pt idx="4">
                  <c:v>105.6</c:v>
                </c:pt>
                <c:pt idx="5">
                  <c:v>103.1</c:v>
                </c:pt>
                <c:pt idx="6">
                  <c:v>102.9</c:v>
                </c:pt>
                <c:pt idx="7">
                  <c:v>101.4</c:v>
                </c:pt>
                <c:pt idx="8">
                  <c:v>103.3</c:v>
                </c:pt>
              </c:numCache>
            </c:numRef>
          </c:val>
          <c:smooth val="1"/>
          <c:extLst>
            <c:ext xmlns:c16="http://schemas.microsoft.com/office/drawing/2014/chart" uri="{C3380CC4-5D6E-409C-BE32-E72D297353CC}">
              <c16:uniqueId val="{00000001-215E-4CB4-B91B-ED82C0AB359C}"/>
            </c:ext>
          </c:extLst>
        </c:ser>
        <c:ser>
          <c:idx val="2"/>
          <c:order val="2"/>
          <c:tx>
            <c:strRef>
              <c:f>'Emprego industrial - CNI'!$X$30</c:f>
              <c:strCache>
                <c:ptCount val="1"/>
                <c:pt idx="0">
                  <c:v>Máquinas, aparelhos e materiais elétricos</c:v>
                </c:pt>
              </c:strCache>
            </c:strRef>
          </c:tx>
          <c:spPr>
            <a:ln w="28575" cap="rnd">
              <a:solidFill>
                <a:srgbClr val="FF7C00"/>
              </a:solidFill>
              <a:round/>
            </a:ln>
            <a:effectLst/>
          </c:spPr>
          <c:marker>
            <c:symbol val="circle"/>
            <c:size val="8"/>
            <c:spPr>
              <a:solidFill>
                <a:schemeClr val="accent2"/>
              </a:solidFill>
              <a:ln w="9525">
                <a:noFill/>
              </a:ln>
              <a:effectLst/>
            </c:spPr>
          </c:marker>
          <c:cat>
            <c:strRef>
              <c:f>'Emprego industrial - CNI'!$U$31:$U$39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'Emprego industrial - CNI'!$X$31:$X$39</c:f>
              <c:numCache>
                <c:formatCode>0.0</c:formatCode>
                <c:ptCount val="9"/>
                <c:pt idx="0">
                  <c:v>130</c:v>
                </c:pt>
                <c:pt idx="1">
                  <c:v>132.30000000000001</c:v>
                </c:pt>
                <c:pt idx="2">
                  <c:v>138.6</c:v>
                </c:pt>
                <c:pt idx="3">
                  <c:v>137.9</c:v>
                </c:pt>
                <c:pt idx="4">
                  <c:v>142</c:v>
                </c:pt>
                <c:pt idx="5">
                  <c:v>144.80000000000001</c:v>
                </c:pt>
                <c:pt idx="6">
                  <c:v>146.6</c:v>
                </c:pt>
                <c:pt idx="7">
                  <c:v>144</c:v>
                </c:pt>
                <c:pt idx="8">
                  <c:v>133.6</c:v>
                </c:pt>
              </c:numCache>
            </c:numRef>
          </c:val>
          <c:smooth val="1"/>
          <c:extLst>
            <c:ext xmlns:c16="http://schemas.microsoft.com/office/drawing/2014/chart" uri="{C3380CC4-5D6E-409C-BE32-E72D297353CC}">
              <c16:uniqueId val="{00000002-215E-4CB4-B91B-ED82C0AB359C}"/>
            </c:ext>
          </c:extLst>
        </c:ser>
        <c:ser>
          <c:idx val="3"/>
          <c:order val="3"/>
          <c:tx>
            <c:strRef>
              <c:f>'Emprego industrial - CNI'!$Y$30</c:f>
              <c:strCache>
                <c:ptCount val="1"/>
                <c:pt idx="0">
                  <c:v>Máquinas e equipamentos</c:v>
                </c:pt>
              </c:strCache>
            </c:strRef>
          </c:tx>
          <c:spPr>
            <a:ln w="28575" cap="rnd">
              <a:solidFill>
                <a:srgbClr val="FFC000"/>
              </a:solidFill>
              <a:round/>
            </a:ln>
            <a:effectLst/>
          </c:spPr>
          <c:marker>
            <c:symbol val="diamond"/>
            <c:size val="9"/>
            <c:spPr>
              <a:solidFill>
                <a:srgbClr val="FFC000"/>
              </a:solidFill>
              <a:ln w="9525">
                <a:noFill/>
              </a:ln>
              <a:effectLst/>
            </c:spPr>
          </c:marker>
          <c:cat>
            <c:strRef>
              <c:f>'Emprego industrial - CNI'!$U$31:$U$39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'Emprego industrial - CNI'!$Y$31:$Y$39</c:f>
              <c:numCache>
                <c:formatCode>0.0</c:formatCode>
                <c:ptCount val="9"/>
                <c:pt idx="0">
                  <c:v>116.1</c:v>
                </c:pt>
                <c:pt idx="1">
                  <c:v>114.9</c:v>
                </c:pt>
                <c:pt idx="2">
                  <c:v>116.8</c:v>
                </c:pt>
                <c:pt idx="3">
                  <c:v>114</c:v>
                </c:pt>
                <c:pt idx="4">
                  <c:v>118.5</c:v>
                </c:pt>
                <c:pt idx="5">
                  <c:v>120.3</c:v>
                </c:pt>
                <c:pt idx="6">
                  <c:v>120.6</c:v>
                </c:pt>
                <c:pt idx="7">
                  <c:v>117.1</c:v>
                </c:pt>
                <c:pt idx="8">
                  <c:v>117.2</c:v>
                </c:pt>
              </c:numCache>
            </c:numRef>
          </c:val>
          <c:smooth val="1"/>
          <c:extLst>
            <c:ext xmlns:c16="http://schemas.microsoft.com/office/drawing/2014/chart" uri="{C3380CC4-5D6E-409C-BE32-E72D297353CC}">
              <c16:uniqueId val="{00000003-215E-4CB4-B91B-ED82C0AB359C}"/>
            </c:ext>
          </c:extLst>
        </c:ser>
        <c:ser>
          <c:idx val="4"/>
          <c:order val="4"/>
          <c:tx>
            <c:strRef>
              <c:f>'Emprego industrial - CNI'!$Z$30</c:f>
              <c:strCache>
                <c:ptCount val="1"/>
                <c:pt idx="0">
                  <c:v>Veículos automotores, reboques e carrocerias</c:v>
                </c:pt>
              </c:strCache>
            </c:strRef>
          </c:tx>
          <c:spPr>
            <a:ln w="28575" cap="rnd">
              <a:solidFill>
                <a:srgbClr val="FF7CFF"/>
              </a:solidFill>
              <a:round/>
            </a:ln>
            <a:effectLst/>
          </c:spPr>
          <c:marker>
            <c:symbol val="circle"/>
            <c:size val="9"/>
            <c:spPr>
              <a:solidFill>
                <a:srgbClr val="FF7CFF"/>
              </a:solidFill>
              <a:ln w="9525">
                <a:noFill/>
              </a:ln>
              <a:effectLst/>
            </c:spPr>
          </c:marker>
          <c:cat>
            <c:strRef>
              <c:f>'Emprego industrial - CNI'!$U$31:$U$39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'Emprego industrial - CNI'!$Z$31:$Z$39</c:f>
              <c:numCache>
                <c:formatCode>0.0</c:formatCode>
                <c:ptCount val="9"/>
                <c:pt idx="0">
                  <c:v>91.1</c:v>
                </c:pt>
                <c:pt idx="1">
                  <c:v>92.4</c:v>
                </c:pt>
                <c:pt idx="2">
                  <c:v>94.6</c:v>
                </c:pt>
                <c:pt idx="3">
                  <c:v>95.3</c:v>
                </c:pt>
                <c:pt idx="4">
                  <c:v>97.6</c:v>
                </c:pt>
                <c:pt idx="5">
                  <c:v>97</c:v>
                </c:pt>
                <c:pt idx="6">
                  <c:v>96.8</c:v>
                </c:pt>
                <c:pt idx="7">
                  <c:v>94.3</c:v>
                </c:pt>
                <c:pt idx="8">
                  <c:v>96.5</c:v>
                </c:pt>
              </c:numCache>
            </c:numRef>
          </c:val>
          <c:smooth val="1"/>
          <c:extLst>
            <c:ext xmlns:c16="http://schemas.microsoft.com/office/drawing/2014/chart" uri="{C3380CC4-5D6E-409C-BE32-E72D297353CC}">
              <c16:uniqueId val="{00000004-215E-4CB4-B91B-ED82C0AB359C}"/>
            </c:ext>
          </c:extLst>
        </c:ser>
        <c:ser>
          <c:idx val="5"/>
          <c:order val="5"/>
          <c:tx>
            <c:strRef>
              <c:f>'Emprego industrial - CNI'!$AA$30</c:f>
              <c:strCache>
                <c:ptCount val="1"/>
                <c:pt idx="0">
                  <c:v>Indústria de Transformação (Dessazonalizada)</c:v>
                </c:pt>
              </c:strCache>
            </c:strRef>
          </c:tx>
          <c:spPr>
            <a:ln w="28575" cap="rnd">
              <a:solidFill>
                <a:srgbClr val="C00000"/>
              </a:solidFill>
              <a:round/>
            </a:ln>
            <a:effectLst/>
          </c:spPr>
          <c:marker>
            <c:symbol val="square"/>
            <c:size val="9"/>
            <c:spPr>
              <a:solidFill>
                <a:srgbClr val="C00000"/>
              </a:solidFill>
              <a:ln w="9525">
                <a:noFill/>
              </a:ln>
              <a:effectLst/>
            </c:spPr>
          </c:marker>
          <c:cat>
            <c:strRef>
              <c:f>'Emprego industrial - CNI'!$U$31:$U$39</c:f>
              <c:strCache>
                <c:ptCount val="9"/>
                <c:pt idx="0">
                  <c:v>1T2024</c:v>
                </c:pt>
                <c:pt idx="1">
                  <c:v>2T2024</c:v>
                </c:pt>
                <c:pt idx="2">
                  <c:v>3T2024</c:v>
                </c:pt>
                <c:pt idx="3">
                  <c:v>4T2024</c:v>
                </c:pt>
                <c:pt idx="4">
                  <c:v>1T2025</c:v>
                </c:pt>
                <c:pt idx="5">
                  <c:v>2T2025</c:v>
                </c:pt>
                <c:pt idx="6">
                  <c:v>3T2025</c:v>
                </c:pt>
                <c:pt idx="7">
                  <c:v>4T2025</c:v>
                </c:pt>
                <c:pt idx="8">
                  <c:v>1T2026</c:v>
                </c:pt>
              </c:strCache>
            </c:strRef>
          </c:cat>
          <c:val>
            <c:numRef>
              <c:f>'Emprego industrial - CNI'!$AA$31:$AA$39</c:f>
              <c:numCache>
                <c:formatCode>0.0</c:formatCode>
                <c:ptCount val="9"/>
                <c:pt idx="0">
                  <c:v>100.4</c:v>
                </c:pt>
                <c:pt idx="1">
                  <c:v>101.2</c:v>
                </c:pt>
                <c:pt idx="2">
                  <c:v>102.6</c:v>
                </c:pt>
                <c:pt idx="3">
                  <c:v>101.6</c:v>
                </c:pt>
                <c:pt idx="4">
                  <c:v>103</c:v>
                </c:pt>
                <c:pt idx="5">
                  <c:v>103</c:v>
                </c:pt>
                <c:pt idx="6">
                  <c:v>103.6</c:v>
                </c:pt>
                <c:pt idx="7">
                  <c:v>101.4</c:v>
                </c:pt>
                <c:pt idx="8">
                  <c:v>101.8</c:v>
                </c:pt>
              </c:numCache>
            </c:numRef>
          </c:val>
          <c:smooth val="1"/>
          <c:extLst>
            <c:ext xmlns:c16="http://schemas.microsoft.com/office/drawing/2014/chart" uri="{C3380CC4-5D6E-409C-BE32-E72D297353CC}">
              <c16:uniqueId val="{00000005-215E-4CB4-B91B-ED82C0AB359C}"/>
            </c:ext>
          </c:extLst>
        </c:ser>
        <c:dLbls>
          <c:showLegendKey val="0"/>
          <c:showVal val="0"/>
          <c:showCatName val="0"/>
          <c:showSerName val="0"/>
          <c:showPercent val="0"/>
          <c:showBubbleSize val="0"/>
        </c:dLbls>
        <c:marker val="1"/>
        <c:smooth val="0"/>
        <c:axId val="30659087"/>
        <c:axId val="30661487"/>
      </c:lineChart>
      <c:catAx>
        <c:axId val="306590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30661487"/>
        <c:crosses val="autoZero"/>
        <c:auto val="1"/>
        <c:lblAlgn val="ctr"/>
        <c:lblOffset val="100"/>
        <c:noMultiLvlLbl val="0"/>
      </c:catAx>
      <c:valAx>
        <c:axId val="30661487"/>
        <c:scaling>
          <c:orientation val="minMax"/>
          <c:min val="80"/>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30659087"/>
        <c:crosses val="autoZero"/>
        <c:crossBetween val="between"/>
      </c:valAx>
      <c:spPr>
        <a:noFill/>
        <a:ln>
          <a:noFill/>
        </a:ln>
        <a:effectLst/>
      </c:spPr>
    </c:plotArea>
    <c:legend>
      <c:legendPos val="b"/>
      <c:layout>
        <c:manualLayout>
          <c:xMode val="edge"/>
          <c:yMode val="edge"/>
          <c:x val="1.7215462760137665E-2"/>
          <c:y val="0.72172025160162201"/>
          <c:w val="0.96144933290385903"/>
          <c:h val="0.26249093230886983"/>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Produção de Aço no Brasil  </a:t>
            </a:r>
          </a:p>
        </c:rich>
      </c:tx>
      <c:overlay val="0"/>
      <c:spPr>
        <a:noFill/>
        <a:ln>
          <a:noFill/>
        </a:ln>
        <a:effectLst/>
      </c:sp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Trimestral!$A$27</c:f>
              <c:strCache>
                <c:ptCount val="1"/>
                <c:pt idx="0">
                  <c:v>Aço Bruto</c:v>
                </c:pt>
              </c:strCache>
            </c:strRef>
          </c:tx>
          <c:spPr>
            <a:ln w="25400" cap="rnd">
              <a:solidFill>
                <a:srgbClr val="EF0988"/>
              </a:solidFill>
              <a:bevel/>
            </a:ln>
            <a:effectLst/>
          </c:spPr>
          <c:marker>
            <c:symbol val="square"/>
            <c:size val="5"/>
            <c:spPr>
              <a:solidFill>
                <a:srgbClr val="EF0988"/>
              </a:solidFill>
              <a:ln w="9525" cmpd="dbl">
                <a:solidFill>
                  <a:srgbClr val="EF0988"/>
                </a:solidFill>
              </a:ln>
              <a:effectLst/>
            </c:spPr>
          </c:marker>
          <c:cat>
            <c:strRef>
              <c:f>Trimestral!$B$26:$J$26</c:f>
              <c:strCache>
                <c:ptCount val="9"/>
                <c:pt idx="0">
                  <c:v>1T24</c:v>
                </c:pt>
                <c:pt idx="1">
                  <c:v>2T24</c:v>
                </c:pt>
                <c:pt idx="2">
                  <c:v>3T24</c:v>
                </c:pt>
                <c:pt idx="3">
                  <c:v>4T24</c:v>
                </c:pt>
                <c:pt idx="4">
                  <c:v>1T25</c:v>
                </c:pt>
                <c:pt idx="5">
                  <c:v>2T25</c:v>
                </c:pt>
                <c:pt idx="6">
                  <c:v>3T25</c:v>
                </c:pt>
                <c:pt idx="7">
                  <c:v>4T25</c:v>
                </c:pt>
                <c:pt idx="8">
                  <c:v>1T26</c:v>
                </c:pt>
              </c:strCache>
            </c:strRef>
          </c:cat>
          <c:val>
            <c:numRef>
              <c:f>Trimestral!$B$27:$J$27</c:f>
              <c:numCache>
                <c:formatCode>0.00</c:formatCode>
                <c:ptCount val="9"/>
                <c:pt idx="0">
                  <c:v>8249</c:v>
                </c:pt>
                <c:pt idx="1">
                  <c:v>8096</c:v>
                </c:pt>
                <c:pt idx="2">
                  <c:v>8859.9439999999995</c:v>
                </c:pt>
                <c:pt idx="3">
                  <c:v>8421.8469999999998</c:v>
                </c:pt>
                <c:pt idx="4">
                  <c:v>8453.0190000000002</c:v>
                </c:pt>
                <c:pt idx="5">
                  <c:v>8170.0479999999998</c:v>
                </c:pt>
                <c:pt idx="6">
                  <c:v>8469.4249999999993</c:v>
                </c:pt>
                <c:pt idx="7">
                  <c:v>8347.4</c:v>
                </c:pt>
                <c:pt idx="8">
                  <c:v>7979</c:v>
                </c:pt>
              </c:numCache>
            </c:numRef>
          </c:val>
          <c:smooth val="1"/>
          <c:extLst>
            <c:ext xmlns:c16="http://schemas.microsoft.com/office/drawing/2014/chart" uri="{C3380CC4-5D6E-409C-BE32-E72D297353CC}">
              <c16:uniqueId val="{00000000-C542-465C-A82D-5059851C9BC2}"/>
            </c:ext>
          </c:extLst>
        </c:ser>
        <c:ser>
          <c:idx val="1"/>
          <c:order val="1"/>
          <c:tx>
            <c:strRef>
              <c:f>Trimestral!$A$28</c:f>
              <c:strCache>
                <c:ptCount val="1"/>
                <c:pt idx="0">
                  <c:v>Laminados</c:v>
                </c:pt>
              </c:strCache>
            </c:strRef>
          </c:tx>
          <c:spPr>
            <a:ln w="25400" cap="rnd">
              <a:solidFill>
                <a:srgbClr val="0070C0"/>
              </a:solidFill>
              <a:round/>
            </a:ln>
            <a:effectLst/>
          </c:spPr>
          <c:marker>
            <c:symbol val="triangle"/>
            <c:size val="7"/>
            <c:spPr>
              <a:solidFill>
                <a:srgbClr val="2F68D3"/>
              </a:solidFill>
              <a:ln w="9525">
                <a:solidFill>
                  <a:srgbClr val="0070C0"/>
                </a:solidFill>
              </a:ln>
              <a:effectLst/>
            </c:spPr>
          </c:marker>
          <c:cat>
            <c:strRef>
              <c:f>Trimestral!$B$26:$J$26</c:f>
              <c:strCache>
                <c:ptCount val="9"/>
                <c:pt idx="0">
                  <c:v>1T24</c:v>
                </c:pt>
                <c:pt idx="1">
                  <c:v>2T24</c:v>
                </c:pt>
                <c:pt idx="2">
                  <c:v>3T24</c:v>
                </c:pt>
                <c:pt idx="3">
                  <c:v>4T24</c:v>
                </c:pt>
                <c:pt idx="4">
                  <c:v>1T25</c:v>
                </c:pt>
                <c:pt idx="5">
                  <c:v>2T25</c:v>
                </c:pt>
                <c:pt idx="6">
                  <c:v>3T25</c:v>
                </c:pt>
                <c:pt idx="7">
                  <c:v>4T25</c:v>
                </c:pt>
                <c:pt idx="8">
                  <c:v>1T26</c:v>
                </c:pt>
              </c:strCache>
            </c:strRef>
          </c:cat>
          <c:val>
            <c:numRef>
              <c:f>Trimestral!$B$28:$J$28</c:f>
              <c:numCache>
                <c:formatCode>0.00</c:formatCode>
                <c:ptCount val="9"/>
                <c:pt idx="0">
                  <c:v>5822</c:v>
                </c:pt>
                <c:pt idx="1">
                  <c:v>5687</c:v>
                </c:pt>
                <c:pt idx="2">
                  <c:v>6206.0680000000002</c:v>
                </c:pt>
                <c:pt idx="3">
                  <c:v>5698.4669999999996</c:v>
                </c:pt>
                <c:pt idx="4">
                  <c:v>5926.7340000000004</c:v>
                </c:pt>
                <c:pt idx="5">
                  <c:v>5981.174</c:v>
                </c:pt>
                <c:pt idx="6">
                  <c:v>5946.5689999999995</c:v>
                </c:pt>
                <c:pt idx="7">
                  <c:v>5482.8019999999997</c:v>
                </c:pt>
                <c:pt idx="8">
                  <c:v>5608</c:v>
                </c:pt>
              </c:numCache>
            </c:numRef>
          </c:val>
          <c:smooth val="1"/>
          <c:extLst>
            <c:ext xmlns:c16="http://schemas.microsoft.com/office/drawing/2014/chart" uri="{C3380CC4-5D6E-409C-BE32-E72D297353CC}">
              <c16:uniqueId val="{00000001-C542-465C-A82D-5059851C9BC2}"/>
            </c:ext>
          </c:extLst>
        </c:ser>
        <c:ser>
          <c:idx val="2"/>
          <c:order val="2"/>
          <c:tx>
            <c:strRef>
              <c:f>Trimestral!$A$29</c:f>
              <c:strCache>
                <c:ptCount val="1"/>
                <c:pt idx="0">
                  <c:v>Semiacabados P/ Vendas</c:v>
                </c:pt>
              </c:strCache>
            </c:strRef>
          </c:tx>
          <c:spPr>
            <a:ln w="25400" cap="rnd">
              <a:solidFill>
                <a:srgbClr val="FF7C00"/>
              </a:solidFill>
              <a:round/>
            </a:ln>
            <a:effectLst/>
          </c:spPr>
          <c:marker>
            <c:symbol val="circle"/>
            <c:size val="6"/>
            <c:spPr>
              <a:solidFill>
                <a:srgbClr val="FF7C00"/>
              </a:solidFill>
              <a:ln w="9525">
                <a:solidFill>
                  <a:srgbClr val="FF7C00"/>
                </a:solidFill>
              </a:ln>
              <a:effectLst/>
            </c:spPr>
          </c:marker>
          <c:cat>
            <c:strRef>
              <c:f>Trimestral!$B$26:$J$26</c:f>
              <c:strCache>
                <c:ptCount val="9"/>
                <c:pt idx="0">
                  <c:v>1T24</c:v>
                </c:pt>
                <c:pt idx="1">
                  <c:v>2T24</c:v>
                </c:pt>
                <c:pt idx="2">
                  <c:v>3T24</c:v>
                </c:pt>
                <c:pt idx="3">
                  <c:v>4T24</c:v>
                </c:pt>
                <c:pt idx="4">
                  <c:v>1T25</c:v>
                </c:pt>
                <c:pt idx="5">
                  <c:v>2T25</c:v>
                </c:pt>
                <c:pt idx="6">
                  <c:v>3T25</c:v>
                </c:pt>
                <c:pt idx="7">
                  <c:v>4T25</c:v>
                </c:pt>
                <c:pt idx="8">
                  <c:v>1T26</c:v>
                </c:pt>
              </c:strCache>
            </c:strRef>
          </c:cat>
          <c:val>
            <c:numRef>
              <c:f>Trimestral!$B$29:$J$29</c:f>
              <c:numCache>
                <c:formatCode>0.00</c:formatCode>
                <c:ptCount val="9"/>
                <c:pt idx="0">
                  <c:v>2257</c:v>
                </c:pt>
                <c:pt idx="1">
                  <c:v>1999</c:v>
                </c:pt>
                <c:pt idx="2">
                  <c:v>2489.2380000000003</c:v>
                </c:pt>
                <c:pt idx="3">
                  <c:v>2362.2529999999997</c:v>
                </c:pt>
                <c:pt idx="4">
                  <c:v>2070.5450000000001</c:v>
                </c:pt>
                <c:pt idx="5">
                  <c:v>1924.067</c:v>
                </c:pt>
                <c:pt idx="6">
                  <c:v>2168.2139999999999</c:v>
                </c:pt>
                <c:pt idx="7">
                  <c:v>2630.085</c:v>
                </c:pt>
                <c:pt idx="8">
                  <c:v>2076</c:v>
                </c:pt>
              </c:numCache>
            </c:numRef>
          </c:val>
          <c:smooth val="1"/>
          <c:extLst>
            <c:ext xmlns:c16="http://schemas.microsoft.com/office/drawing/2014/chart" uri="{C3380CC4-5D6E-409C-BE32-E72D297353CC}">
              <c16:uniqueId val="{00000002-C542-465C-A82D-5059851C9BC2}"/>
            </c:ext>
          </c:extLst>
        </c:ser>
        <c:ser>
          <c:idx val="3"/>
          <c:order val="3"/>
          <c:tx>
            <c:strRef>
              <c:f>Trimestral!$A$30</c:f>
              <c:strCache>
                <c:ptCount val="1"/>
                <c:pt idx="0">
                  <c:v>Ferro-Gusa</c:v>
                </c:pt>
              </c:strCache>
            </c:strRef>
          </c:tx>
          <c:spPr>
            <a:ln w="25400" cap="rnd">
              <a:solidFill>
                <a:srgbClr val="FFB700"/>
              </a:solidFill>
              <a:round/>
            </a:ln>
            <a:effectLst/>
          </c:spPr>
          <c:marker>
            <c:symbol val="diamond"/>
            <c:size val="7"/>
            <c:spPr>
              <a:solidFill>
                <a:srgbClr val="FFB700"/>
              </a:solidFill>
              <a:ln w="9525">
                <a:solidFill>
                  <a:srgbClr val="FFB700"/>
                </a:solidFill>
              </a:ln>
              <a:effectLst/>
            </c:spPr>
          </c:marker>
          <c:cat>
            <c:strRef>
              <c:f>Trimestral!$B$26:$J$26</c:f>
              <c:strCache>
                <c:ptCount val="9"/>
                <c:pt idx="0">
                  <c:v>1T24</c:v>
                </c:pt>
                <c:pt idx="1">
                  <c:v>2T24</c:v>
                </c:pt>
                <c:pt idx="2">
                  <c:v>3T24</c:v>
                </c:pt>
                <c:pt idx="3">
                  <c:v>4T24</c:v>
                </c:pt>
                <c:pt idx="4">
                  <c:v>1T25</c:v>
                </c:pt>
                <c:pt idx="5">
                  <c:v>2T25</c:v>
                </c:pt>
                <c:pt idx="6">
                  <c:v>3T25</c:v>
                </c:pt>
                <c:pt idx="7">
                  <c:v>4T25</c:v>
                </c:pt>
                <c:pt idx="8">
                  <c:v>1T26</c:v>
                </c:pt>
              </c:strCache>
            </c:strRef>
          </c:cat>
          <c:val>
            <c:numRef>
              <c:f>Trimestral!$B$30:$J$30</c:f>
              <c:numCache>
                <c:formatCode>0.00</c:formatCode>
                <c:ptCount val="9"/>
                <c:pt idx="0">
                  <c:v>6473</c:v>
                </c:pt>
                <c:pt idx="1">
                  <c:v>6418</c:v>
                </c:pt>
                <c:pt idx="2">
                  <c:v>6796.6720000000005</c:v>
                </c:pt>
                <c:pt idx="3">
                  <c:v>6711.91</c:v>
                </c:pt>
                <c:pt idx="4">
                  <c:v>6613.9359999999997</c:v>
                </c:pt>
                <c:pt idx="5">
                  <c:v>6426.7639999999992</c:v>
                </c:pt>
                <c:pt idx="6">
                  <c:v>6565.2150000000001</c:v>
                </c:pt>
                <c:pt idx="7">
                  <c:v>6735.616</c:v>
                </c:pt>
                <c:pt idx="8">
                  <c:v>6346</c:v>
                </c:pt>
              </c:numCache>
            </c:numRef>
          </c:val>
          <c:smooth val="1"/>
          <c:extLst>
            <c:ext xmlns:c16="http://schemas.microsoft.com/office/drawing/2014/chart" uri="{C3380CC4-5D6E-409C-BE32-E72D297353CC}">
              <c16:uniqueId val="{00000003-C542-465C-A82D-5059851C9BC2}"/>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0"/>
      </c:catAx>
      <c:valAx>
        <c:axId val="1369505151"/>
        <c:scaling>
          <c:orientation val="minMax"/>
          <c:min val="55"/>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valAx>
    </c:plotArea>
    <c:legend>
      <c:legendPos val="b"/>
      <c:layout>
        <c:manualLayout>
          <c:xMode val="edge"/>
          <c:yMode val="edge"/>
          <c:x val="0"/>
          <c:y val="0.81841974433052767"/>
          <c:w val="0.99920812414274374"/>
          <c:h val="0.17274968102156538"/>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txPr>
    <a:bodyPr/>
    <a:lstStyle/>
    <a:p>
      <a:pPr>
        <a:defRPr/>
      </a:pPr>
      <a:endParaRPr lang="pt-B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b="1"/>
              <a:t>Comercialização de Aço no Brasil </a:t>
            </a:r>
          </a:p>
        </c:rich>
      </c:tx>
      <c:overlay val="0"/>
      <c:spPr>
        <a:noFill/>
        <a:ln>
          <a:noFill/>
        </a:ln>
        <a:effectLst/>
      </c:sp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Trimestral!$A$5</c:f>
              <c:strCache>
                <c:ptCount val="1"/>
                <c:pt idx="0">
                  <c:v>Consumo aparente </c:v>
                </c:pt>
              </c:strCache>
            </c:strRef>
          </c:tx>
          <c:spPr>
            <a:ln w="25400" cap="rnd">
              <a:solidFill>
                <a:srgbClr val="EF0988"/>
              </a:solidFill>
              <a:bevel/>
            </a:ln>
            <a:effectLst/>
          </c:spPr>
          <c:marker>
            <c:symbol val="square"/>
            <c:size val="5"/>
            <c:spPr>
              <a:solidFill>
                <a:srgbClr val="EF0988"/>
              </a:solidFill>
              <a:ln w="9525" cmpd="dbl">
                <a:solidFill>
                  <a:srgbClr val="EF0988"/>
                </a:solidFill>
              </a:ln>
              <a:effectLst/>
            </c:spPr>
          </c:marker>
          <c:cat>
            <c:strRef>
              <c:f>Trimestral!$B$4:$J$4</c:f>
              <c:strCache>
                <c:ptCount val="9"/>
                <c:pt idx="0">
                  <c:v>1T24</c:v>
                </c:pt>
                <c:pt idx="1">
                  <c:v>2T24</c:v>
                </c:pt>
                <c:pt idx="2">
                  <c:v>3T24</c:v>
                </c:pt>
                <c:pt idx="3">
                  <c:v>4T24</c:v>
                </c:pt>
                <c:pt idx="4">
                  <c:v>1T25</c:v>
                </c:pt>
                <c:pt idx="5">
                  <c:v>2T25</c:v>
                </c:pt>
                <c:pt idx="6">
                  <c:v>3T25</c:v>
                </c:pt>
                <c:pt idx="7">
                  <c:v>4T25</c:v>
                </c:pt>
                <c:pt idx="8">
                  <c:v>1T26</c:v>
                </c:pt>
              </c:strCache>
            </c:strRef>
          </c:cat>
          <c:val>
            <c:numRef>
              <c:f>Trimestral!$B$5:$J$5</c:f>
              <c:numCache>
                <c:formatCode>0.00</c:formatCode>
                <c:ptCount val="9"/>
                <c:pt idx="0">
                  <c:v>5974</c:v>
                </c:pt>
                <c:pt idx="1">
                  <c:v>6505</c:v>
                </c:pt>
                <c:pt idx="2">
                  <c:v>7077.5280000000002</c:v>
                </c:pt>
                <c:pt idx="3">
                  <c:v>6379.3459999999995</c:v>
                </c:pt>
                <c:pt idx="4">
                  <c:v>6731.884</c:v>
                </c:pt>
                <c:pt idx="5">
                  <c:v>7082.027</c:v>
                </c:pt>
                <c:pt idx="6">
                  <c:v>6781.9869999999992</c:v>
                </c:pt>
                <c:pt idx="7">
                  <c:v>6348.5020000000004</c:v>
                </c:pt>
                <c:pt idx="8">
                  <c:v>6585</c:v>
                </c:pt>
              </c:numCache>
            </c:numRef>
          </c:val>
          <c:smooth val="1"/>
          <c:extLst>
            <c:ext xmlns:c16="http://schemas.microsoft.com/office/drawing/2014/chart" uri="{C3380CC4-5D6E-409C-BE32-E72D297353CC}">
              <c16:uniqueId val="{00000000-DF82-4118-8C98-81959A20C95B}"/>
            </c:ext>
          </c:extLst>
        </c:ser>
        <c:ser>
          <c:idx val="1"/>
          <c:order val="1"/>
          <c:tx>
            <c:strRef>
              <c:f>Trimestral!$A$6</c:f>
              <c:strCache>
                <c:ptCount val="1"/>
                <c:pt idx="0">
                  <c:v>Vendas Internas </c:v>
                </c:pt>
              </c:strCache>
            </c:strRef>
          </c:tx>
          <c:spPr>
            <a:ln w="25400" cap="rnd">
              <a:solidFill>
                <a:srgbClr val="0070C0"/>
              </a:solidFill>
              <a:round/>
            </a:ln>
            <a:effectLst/>
          </c:spPr>
          <c:marker>
            <c:symbol val="triangle"/>
            <c:size val="7"/>
            <c:spPr>
              <a:solidFill>
                <a:srgbClr val="2F68D3"/>
              </a:solidFill>
              <a:ln w="9525">
                <a:solidFill>
                  <a:srgbClr val="0070C0"/>
                </a:solidFill>
              </a:ln>
              <a:effectLst/>
            </c:spPr>
          </c:marker>
          <c:cat>
            <c:strRef>
              <c:f>Trimestral!$B$4:$J$4</c:f>
              <c:strCache>
                <c:ptCount val="9"/>
                <c:pt idx="0">
                  <c:v>1T24</c:v>
                </c:pt>
                <c:pt idx="1">
                  <c:v>2T24</c:v>
                </c:pt>
                <c:pt idx="2">
                  <c:v>3T24</c:v>
                </c:pt>
                <c:pt idx="3">
                  <c:v>4T24</c:v>
                </c:pt>
                <c:pt idx="4">
                  <c:v>1T25</c:v>
                </c:pt>
                <c:pt idx="5">
                  <c:v>2T25</c:v>
                </c:pt>
                <c:pt idx="6">
                  <c:v>3T25</c:v>
                </c:pt>
                <c:pt idx="7">
                  <c:v>4T25</c:v>
                </c:pt>
                <c:pt idx="8">
                  <c:v>1T26</c:v>
                </c:pt>
              </c:strCache>
            </c:strRef>
          </c:cat>
          <c:val>
            <c:numRef>
              <c:f>Trimestral!$B$6:$J$6</c:f>
              <c:numCache>
                <c:formatCode>0.00</c:formatCode>
                <c:ptCount val="9"/>
                <c:pt idx="0">
                  <c:v>4883</c:v>
                </c:pt>
                <c:pt idx="1">
                  <c:v>5298</c:v>
                </c:pt>
                <c:pt idx="2">
                  <c:v>5708.3940000000002</c:v>
                </c:pt>
                <c:pt idx="3">
                  <c:v>5233.232</c:v>
                </c:pt>
                <c:pt idx="4">
                  <c:v>5244.4519999999993</c:v>
                </c:pt>
                <c:pt idx="5">
                  <c:v>5356.9839999999995</c:v>
                </c:pt>
                <c:pt idx="6">
                  <c:v>5573.8710000000001</c:v>
                </c:pt>
                <c:pt idx="7">
                  <c:v>5154.5609999999997</c:v>
                </c:pt>
                <c:pt idx="8">
                  <c:v>5091</c:v>
                </c:pt>
              </c:numCache>
            </c:numRef>
          </c:val>
          <c:smooth val="1"/>
          <c:extLst>
            <c:ext xmlns:c16="http://schemas.microsoft.com/office/drawing/2014/chart" uri="{C3380CC4-5D6E-409C-BE32-E72D297353CC}">
              <c16:uniqueId val="{00000001-DF82-4118-8C98-81959A20C95B}"/>
            </c:ext>
          </c:extLst>
        </c:ser>
        <c:ser>
          <c:idx val="2"/>
          <c:order val="2"/>
          <c:tx>
            <c:strRef>
              <c:f>Trimestral!$A$7</c:f>
              <c:strCache>
                <c:ptCount val="1"/>
                <c:pt idx="0">
                  <c:v>Vendas externas </c:v>
                </c:pt>
              </c:strCache>
            </c:strRef>
          </c:tx>
          <c:spPr>
            <a:ln w="25400" cap="rnd">
              <a:solidFill>
                <a:srgbClr val="FF7C00"/>
              </a:solidFill>
              <a:round/>
            </a:ln>
            <a:effectLst/>
          </c:spPr>
          <c:marker>
            <c:symbol val="circle"/>
            <c:size val="6"/>
            <c:spPr>
              <a:solidFill>
                <a:srgbClr val="FF7C00"/>
              </a:solidFill>
              <a:ln w="9525">
                <a:solidFill>
                  <a:srgbClr val="FF7C00"/>
                </a:solidFill>
              </a:ln>
              <a:effectLst/>
            </c:spPr>
          </c:marker>
          <c:cat>
            <c:strRef>
              <c:f>Trimestral!$B$4:$J$4</c:f>
              <c:strCache>
                <c:ptCount val="9"/>
                <c:pt idx="0">
                  <c:v>1T24</c:v>
                </c:pt>
                <c:pt idx="1">
                  <c:v>2T24</c:v>
                </c:pt>
                <c:pt idx="2">
                  <c:v>3T24</c:v>
                </c:pt>
                <c:pt idx="3">
                  <c:v>4T24</c:v>
                </c:pt>
                <c:pt idx="4">
                  <c:v>1T25</c:v>
                </c:pt>
                <c:pt idx="5">
                  <c:v>2T25</c:v>
                </c:pt>
                <c:pt idx="6">
                  <c:v>3T25</c:v>
                </c:pt>
                <c:pt idx="7">
                  <c:v>4T25</c:v>
                </c:pt>
                <c:pt idx="8">
                  <c:v>1T26</c:v>
                </c:pt>
              </c:strCache>
            </c:strRef>
          </c:cat>
          <c:val>
            <c:numRef>
              <c:f>Trimestral!$B$7:$J$7</c:f>
              <c:numCache>
                <c:formatCode>0.00</c:formatCode>
                <c:ptCount val="9"/>
                <c:pt idx="0">
                  <c:v>2674</c:v>
                </c:pt>
                <c:pt idx="1">
                  <c:v>2523</c:v>
                </c:pt>
                <c:pt idx="2">
                  <c:v>3027.163</c:v>
                </c:pt>
                <c:pt idx="3">
                  <c:v>2620.9410000000003</c:v>
                </c:pt>
                <c:pt idx="4">
                  <c:v>2413.8379999999997</c:v>
                </c:pt>
                <c:pt idx="5">
                  <c:v>2454.3119999999999</c:v>
                </c:pt>
                <c:pt idx="6">
                  <c:v>2644.2979999999998</c:v>
                </c:pt>
                <c:pt idx="7">
                  <c:v>3156.1849999999999</c:v>
                </c:pt>
                <c:pt idx="8">
                  <c:v>2616</c:v>
                </c:pt>
              </c:numCache>
            </c:numRef>
          </c:val>
          <c:smooth val="1"/>
          <c:extLst>
            <c:ext xmlns:c16="http://schemas.microsoft.com/office/drawing/2014/chart" uri="{C3380CC4-5D6E-409C-BE32-E72D297353CC}">
              <c16:uniqueId val="{00000002-DF82-4118-8C98-81959A20C95B}"/>
            </c:ext>
          </c:extLst>
        </c:ser>
        <c:ser>
          <c:idx val="3"/>
          <c:order val="3"/>
          <c:tx>
            <c:strRef>
              <c:f>Trimestral!$A$8</c:f>
              <c:strCache>
                <c:ptCount val="1"/>
                <c:pt idx="0">
                  <c:v>Exportações </c:v>
                </c:pt>
              </c:strCache>
            </c:strRef>
          </c:tx>
          <c:spPr>
            <a:ln w="25400" cap="rnd">
              <a:solidFill>
                <a:srgbClr val="FFB700"/>
              </a:solidFill>
              <a:round/>
            </a:ln>
            <a:effectLst/>
          </c:spPr>
          <c:marker>
            <c:symbol val="diamond"/>
            <c:size val="7"/>
            <c:spPr>
              <a:solidFill>
                <a:srgbClr val="FFB700"/>
              </a:solidFill>
              <a:ln w="9525">
                <a:solidFill>
                  <a:srgbClr val="FFB700"/>
                </a:solidFill>
              </a:ln>
              <a:effectLst/>
            </c:spPr>
          </c:marker>
          <c:cat>
            <c:strRef>
              <c:f>Trimestral!$B$4:$J$4</c:f>
              <c:strCache>
                <c:ptCount val="9"/>
                <c:pt idx="0">
                  <c:v>1T24</c:v>
                </c:pt>
                <c:pt idx="1">
                  <c:v>2T24</c:v>
                </c:pt>
                <c:pt idx="2">
                  <c:v>3T24</c:v>
                </c:pt>
                <c:pt idx="3">
                  <c:v>4T24</c:v>
                </c:pt>
                <c:pt idx="4">
                  <c:v>1T25</c:v>
                </c:pt>
                <c:pt idx="5">
                  <c:v>2T25</c:v>
                </c:pt>
                <c:pt idx="6">
                  <c:v>3T25</c:v>
                </c:pt>
                <c:pt idx="7">
                  <c:v>4T25</c:v>
                </c:pt>
                <c:pt idx="8">
                  <c:v>1T26</c:v>
                </c:pt>
              </c:strCache>
            </c:strRef>
          </c:cat>
          <c:val>
            <c:numRef>
              <c:f>Trimestral!$B$8:$J$8</c:f>
              <c:numCache>
                <c:formatCode>0.00</c:formatCode>
                <c:ptCount val="9"/>
                <c:pt idx="0">
                  <c:v>2534</c:v>
                </c:pt>
                <c:pt idx="1">
                  <c:v>2115</c:v>
                </c:pt>
                <c:pt idx="2">
                  <c:v>3028.0340000000001</c:v>
                </c:pt>
                <c:pt idx="3">
                  <c:v>1964.4609999999998</c:v>
                </c:pt>
                <c:pt idx="4">
                  <c:v>2770.5129999999999</c:v>
                </c:pt>
                <c:pt idx="5">
                  <c:v>2732.0909999999999</c:v>
                </c:pt>
                <c:pt idx="6">
                  <c:v>2689.7090000000003</c:v>
                </c:pt>
                <c:pt idx="7">
                  <c:v>3160.0259999999998</c:v>
                </c:pt>
                <c:pt idx="8">
                  <c:v>2782</c:v>
                </c:pt>
              </c:numCache>
            </c:numRef>
          </c:val>
          <c:smooth val="1"/>
          <c:extLst>
            <c:ext xmlns:c16="http://schemas.microsoft.com/office/drawing/2014/chart" uri="{C3380CC4-5D6E-409C-BE32-E72D297353CC}">
              <c16:uniqueId val="{00000003-DF82-4118-8C98-81959A20C95B}"/>
            </c:ext>
          </c:extLst>
        </c:ser>
        <c:ser>
          <c:idx val="4"/>
          <c:order val="4"/>
          <c:tx>
            <c:strRef>
              <c:f>Trimestral!$A$9</c:f>
              <c:strCache>
                <c:ptCount val="1"/>
                <c:pt idx="0">
                  <c:v>Importações </c:v>
                </c:pt>
              </c:strCache>
            </c:strRef>
          </c:tx>
          <c:cat>
            <c:strRef>
              <c:f>Trimestral!$B$4:$J$4</c:f>
              <c:strCache>
                <c:ptCount val="9"/>
                <c:pt idx="0">
                  <c:v>1T24</c:v>
                </c:pt>
                <c:pt idx="1">
                  <c:v>2T24</c:v>
                </c:pt>
                <c:pt idx="2">
                  <c:v>3T24</c:v>
                </c:pt>
                <c:pt idx="3">
                  <c:v>4T24</c:v>
                </c:pt>
                <c:pt idx="4">
                  <c:v>1T25</c:v>
                </c:pt>
                <c:pt idx="5">
                  <c:v>2T25</c:v>
                </c:pt>
                <c:pt idx="6">
                  <c:v>3T25</c:v>
                </c:pt>
                <c:pt idx="7">
                  <c:v>4T25</c:v>
                </c:pt>
                <c:pt idx="8">
                  <c:v>1T26</c:v>
                </c:pt>
              </c:strCache>
            </c:strRef>
          </c:cat>
          <c:val>
            <c:numRef>
              <c:f>Trimestral!$B$9:$J$9</c:f>
              <c:numCache>
                <c:formatCode>0.00</c:formatCode>
                <c:ptCount val="9"/>
                <c:pt idx="0">
                  <c:v>1299</c:v>
                </c:pt>
                <c:pt idx="1">
                  <c:v>1438</c:v>
                </c:pt>
                <c:pt idx="2">
                  <c:v>1896.105</c:v>
                </c:pt>
                <c:pt idx="3">
                  <c:v>1308.3620000000001</c:v>
                </c:pt>
                <c:pt idx="4">
                  <c:v>1679.69</c:v>
                </c:pt>
                <c:pt idx="5">
                  <c:v>1839.239</c:v>
                </c:pt>
                <c:pt idx="6">
                  <c:v>1553.001</c:v>
                </c:pt>
                <c:pt idx="7">
                  <c:v>1325.0309999999999</c:v>
                </c:pt>
                <c:pt idx="8">
                  <c:v>1753</c:v>
                </c:pt>
              </c:numCache>
            </c:numRef>
          </c:val>
          <c:smooth val="0"/>
          <c:extLst>
            <c:ext xmlns:c16="http://schemas.microsoft.com/office/drawing/2014/chart" uri="{C3380CC4-5D6E-409C-BE32-E72D297353CC}">
              <c16:uniqueId val="{00000004-DF82-4118-8C98-81959A20C95B}"/>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0"/>
      </c:catAx>
      <c:valAx>
        <c:axId val="1369505151"/>
        <c:scaling>
          <c:orientation val="minMax"/>
          <c:min val="55"/>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valAx>
    </c:plotArea>
    <c:legend>
      <c:legendPos val="b"/>
      <c:layout>
        <c:manualLayout>
          <c:xMode val="edge"/>
          <c:yMode val="edge"/>
          <c:x val="0"/>
          <c:y val="0.81841974433052767"/>
          <c:w val="0.99920812414274374"/>
          <c:h val="0.17274968102156538"/>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txPr>
    <a:bodyPr/>
    <a:lstStyle/>
    <a:p>
      <a:pPr>
        <a:defRPr/>
      </a:pPr>
      <a:endParaRPr lang="pt-B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pt-BR"/>
              <a:t>Preço dos Metais (LME)</a:t>
            </a:r>
          </a:p>
        </c:rich>
      </c:tx>
      <c:overlay val="0"/>
      <c:spPr>
        <a:noFill/>
        <a:ln>
          <a:noFill/>
        </a:ln>
        <a:effectLst/>
      </c:spPr>
    </c:title>
    <c:autoTitleDeleted val="0"/>
    <c:plotArea>
      <c:layout>
        <c:manualLayout>
          <c:layoutTarget val="inner"/>
          <c:xMode val="edge"/>
          <c:yMode val="edge"/>
          <c:x val="8.4717320218816075E-2"/>
          <c:y val="0.1420274543254568"/>
          <c:w val="0.89192361636425288"/>
          <c:h val="0.56666555105390737"/>
        </c:manualLayout>
      </c:layout>
      <c:lineChart>
        <c:grouping val="standard"/>
        <c:varyColors val="0"/>
        <c:ser>
          <c:idx val="0"/>
          <c:order val="0"/>
          <c:tx>
            <c:strRef>
              <c:f>'Graf - Outros metais (2)'!$C$24</c:f>
              <c:strCache>
                <c:ptCount val="1"/>
                <c:pt idx="0">
                  <c:v>Cobre</c:v>
                </c:pt>
              </c:strCache>
            </c:strRef>
          </c:tx>
          <c:spPr>
            <a:ln>
              <a:solidFill>
                <a:srgbClr val="2F68D3"/>
              </a:solidFill>
            </a:ln>
          </c:spPr>
          <c:marker>
            <c:spPr>
              <a:solidFill>
                <a:srgbClr val="2F68D3"/>
              </a:solidFill>
              <a:ln>
                <a:solidFill>
                  <a:srgbClr val="2F68D3"/>
                </a:solidFill>
              </a:ln>
            </c:spPr>
          </c:marker>
          <c:cat>
            <c:strRef>
              <c:f>'Graf - Outros metais (2)'!$B$25:$B$33</c:f>
              <c:strCache>
                <c:ptCount val="9"/>
                <c:pt idx="0">
                  <c:v>1T24</c:v>
                </c:pt>
                <c:pt idx="1">
                  <c:v>2T24</c:v>
                </c:pt>
                <c:pt idx="2">
                  <c:v>3T24</c:v>
                </c:pt>
                <c:pt idx="3">
                  <c:v>4T24</c:v>
                </c:pt>
                <c:pt idx="4">
                  <c:v>1T25</c:v>
                </c:pt>
                <c:pt idx="5">
                  <c:v>2T25</c:v>
                </c:pt>
                <c:pt idx="6">
                  <c:v>3T25</c:v>
                </c:pt>
                <c:pt idx="7">
                  <c:v>4T25</c:v>
                </c:pt>
                <c:pt idx="8">
                  <c:v>1T26</c:v>
                </c:pt>
              </c:strCache>
            </c:strRef>
          </c:cat>
          <c:val>
            <c:numRef>
              <c:f>'Graf - Outros metais (2)'!$C$25:$C$33</c:f>
              <c:numCache>
                <c:formatCode>General</c:formatCode>
                <c:ptCount val="9"/>
                <c:pt idx="0">
                  <c:v>8675.6299999999992</c:v>
                </c:pt>
                <c:pt idx="1">
                  <c:v>9641.6</c:v>
                </c:pt>
                <c:pt idx="2">
                  <c:v>9767</c:v>
                </c:pt>
                <c:pt idx="3">
                  <c:v>8706</c:v>
                </c:pt>
                <c:pt idx="4">
                  <c:v>9673</c:v>
                </c:pt>
                <c:pt idx="5">
                  <c:v>10040</c:v>
                </c:pt>
                <c:pt idx="6">
                  <c:v>10300</c:v>
                </c:pt>
                <c:pt idx="7">
                  <c:v>12504</c:v>
                </c:pt>
                <c:pt idx="8">
                  <c:v>12160</c:v>
                </c:pt>
              </c:numCache>
            </c:numRef>
          </c:val>
          <c:smooth val="1"/>
          <c:extLst>
            <c:ext xmlns:c16="http://schemas.microsoft.com/office/drawing/2014/chart" uri="{C3380CC4-5D6E-409C-BE32-E72D297353CC}">
              <c16:uniqueId val="{00000000-95E5-47EE-86F4-6CE793EC5AEF}"/>
            </c:ext>
          </c:extLst>
        </c:ser>
        <c:ser>
          <c:idx val="1"/>
          <c:order val="1"/>
          <c:tx>
            <c:strRef>
              <c:f>'Graf - Outros metais (2)'!$D$24</c:f>
              <c:strCache>
                <c:ptCount val="1"/>
                <c:pt idx="0">
                  <c:v>Estanho</c:v>
                </c:pt>
              </c:strCache>
            </c:strRef>
          </c:tx>
          <c:spPr>
            <a:ln>
              <a:solidFill>
                <a:srgbClr val="FF7C00"/>
              </a:solidFill>
            </a:ln>
          </c:spPr>
          <c:marker>
            <c:spPr>
              <a:solidFill>
                <a:srgbClr val="FF7C00"/>
              </a:solidFill>
              <a:ln>
                <a:solidFill>
                  <a:srgbClr val="FF7C00"/>
                </a:solidFill>
              </a:ln>
            </c:spPr>
          </c:marker>
          <c:cat>
            <c:strRef>
              <c:f>'Graf - Outros metais (2)'!$B$25:$B$33</c:f>
              <c:strCache>
                <c:ptCount val="9"/>
                <c:pt idx="0">
                  <c:v>1T24</c:v>
                </c:pt>
                <c:pt idx="1">
                  <c:v>2T24</c:v>
                </c:pt>
                <c:pt idx="2">
                  <c:v>3T24</c:v>
                </c:pt>
                <c:pt idx="3">
                  <c:v>4T24</c:v>
                </c:pt>
                <c:pt idx="4">
                  <c:v>1T25</c:v>
                </c:pt>
                <c:pt idx="5">
                  <c:v>2T25</c:v>
                </c:pt>
                <c:pt idx="6">
                  <c:v>3T25</c:v>
                </c:pt>
                <c:pt idx="7">
                  <c:v>4T25</c:v>
                </c:pt>
                <c:pt idx="8">
                  <c:v>1T26</c:v>
                </c:pt>
              </c:strCache>
            </c:strRef>
          </c:cat>
          <c:val>
            <c:numRef>
              <c:f>'Graf - Outros metais (2)'!$D$25:$D$33</c:f>
              <c:numCache>
                <c:formatCode>General</c:formatCode>
                <c:ptCount val="9"/>
                <c:pt idx="0">
                  <c:v>27446</c:v>
                </c:pt>
                <c:pt idx="1">
                  <c:v>32228.75</c:v>
                </c:pt>
                <c:pt idx="2">
                  <c:v>33325</c:v>
                </c:pt>
                <c:pt idx="3">
                  <c:v>28900</c:v>
                </c:pt>
                <c:pt idx="4">
                  <c:v>35905</c:v>
                </c:pt>
                <c:pt idx="5">
                  <c:v>33845</c:v>
                </c:pt>
                <c:pt idx="6">
                  <c:v>35285</c:v>
                </c:pt>
                <c:pt idx="7">
                  <c:v>40900</c:v>
                </c:pt>
                <c:pt idx="8">
                  <c:v>45610</c:v>
                </c:pt>
              </c:numCache>
            </c:numRef>
          </c:val>
          <c:smooth val="1"/>
          <c:extLst>
            <c:ext xmlns:c16="http://schemas.microsoft.com/office/drawing/2014/chart" uri="{C3380CC4-5D6E-409C-BE32-E72D297353CC}">
              <c16:uniqueId val="{00000001-95E5-47EE-86F4-6CE793EC5AEF}"/>
            </c:ext>
          </c:extLst>
        </c:ser>
        <c:ser>
          <c:idx val="2"/>
          <c:order val="2"/>
          <c:tx>
            <c:strRef>
              <c:f>'Graf - Outros metais (2)'!$E$24</c:f>
              <c:strCache>
                <c:ptCount val="1"/>
                <c:pt idx="0">
                  <c:v>Chumbo</c:v>
                </c:pt>
              </c:strCache>
            </c:strRef>
          </c:tx>
          <c:spPr>
            <a:ln>
              <a:solidFill>
                <a:srgbClr val="FFB700"/>
              </a:solidFill>
            </a:ln>
          </c:spPr>
          <c:marker>
            <c:spPr>
              <a:solidFill>
                <a:srgbClr val="FFB700"/>
              </a:solidFill>
              <a:ln>
                <a:solidFill>
                  <a:srgbClr val="FFB700"/>
                </a:solidFill>
              </a:ln>
            </c:spPr>
          </c:marker>
          <c:cat>
            <c:strRef>
              <c:f>'Graf - Outros metais (2)'!$B$25:$B$33</c:f>
              <c:strCache>
                <c:ptCount val="9"/>
                <c:pt idx="0">
                  <c:v>1T24</c:v>
                </c:pt>
                <c:pt idx="1">
                  <c:v>2T24</c:v>
                </c:pt>
                <c:pt idx="2">
                  <c:v>3T24</c:v>
                </c:pt>
                <c:pt idx="3">
                  <c:v>4T24</c:v>
                </c:pt>
                <c:pt idx="4">
                  <c:v>1T25</c:v>
                </c:pt>
                <c:pt idx="5">
                  <c:v>2T25</c:v>
                </c:pt>
                <c:pt idx="6">
                  <c:v>3T25</c:v>
                </c:pt>
                <c:pt idx="7">
                  <c:v>4T25</c:v>
                </c:pt>
                <c:pt idx="8">
                  <c:v>1T26</c:v>
                </c:pt>
              </c:strCache>
            </c:strRef>
          </c:cat>
          <c:val>
            <c:numRef>
              <c:f>'Graf - Outros metais (2)'!$E$25:$E$33</c:f>
              <c:numCache>
                <c:formatCode>General</c:formatCode>
                <c:ptCount val="9"/>
                <c:pt idx="0">
                  <c:v>2056.9</c:v>
                </c:pt>
                <c:pt idx="1">
                  <c:v>2147.83</c:v>
                </c:pt>
                <c:pt idx="2">
                  <c:v>2070.5</c:v>
                </c:pt>
                <c:pt idx="3">
                  <c:v>1921.5</c:v>
                </c:pt>
                <c:pt idx="4">
                  <c:v>2002</c:v>
                </c:pt>
                <c:pt idx="5">
                  <c:v>2025</c:v>
                </c:pt>
                <c:pt idx="6">
                  <c:v>1957</c:v>
                </c:pt>
                <c:pt idx="7">
                  <c:v>1962</c:v>
                </c:pt>
                <c:pt idx="8">
                  <c:v>1881</c:v>
                </c:pt>
              </c:numCache>
            </c:numRef>
          </c:val>
          <c:smooth val="1"/>
          <c:extLst>
            <c:ext xmlns:c16="http://schemas.microsoft.com/office/drawing/2014/chart" uri="{C3380CC4-5D6E-409C-BE32-E72D297353CC}">
              <c16:uniqueId val="{00000002-95E5-47EE-86F4-6CE793EC5AEF}"/>
            </c:ext>
          </c:extLst>
        </c:ser>
        <c:ser>
          <c:idx val="3"/>
          <c:order val="3"/>
          <c:tx>
            <c:strRef>
              <c:f>'Graf - Outros metais (2)'!$F$24</c:f>
              <c:strCache>
                <c:ptCount val="1"/>
                <c:pt idx="0">
                  <c:v>Zinco</c:v>
                </c:pt>
              </c:strCache>
            </c:strRef>
          </c:tx>
          <c:spPr>
            <a:ln>
              <a:solidFill>
                <a:srgbClr val="FF7CFF"/>
              </a:solidFill>
            </a:ln>
          </c:spPr>
          <c:marker>
            <c:spPr>
              <a:solidFill>
                <a:srgbClr val="FF7CFF"/>
              </a:solidFill>
              <a:ln>
                <a:solidFill>
                  <a:srgbClr val="FF7CFF"/>
                </a:solidFill>
              </a:ln>
            </c:spPr>
          </c:marker>
          <c:cat>
            <c:strRef>
              <c:f>'Graf - Outros metais (2)'!$B$25:$B$33</c:f>
              <c:strCache>
                <c:ptCount val="9"/>
                <c:pt idx="0">
                  <c:v>1T24</c:v>
                </c:pt>
                <c:pt idx="1">
                  <c:v>2T24</c:v>
                </c:pt>
                <c:pt idx="2">
                  <c:v>3T24</c:v>
                </c:pt>
                <c:pt idx="3">
                  <c:v>4T24</c:v>
                </c:pt>
                <c:pt idx="4">
                  <c:v>1T25</c:v>
                </c:pt>
                <c:pt idx="5">
                  <c:v>2T25</c:v>
                </c:pt>
                <c:pt idx="6">
                  <c:v>3T25</c:v>
                </c:pt>
                <c:pt idx="7">
                  <c:v>4T25</c:v>
                </c:pt>
                <c:pt idx="8">
                  <c:v>1T26</c:v>
                </c:pt>
              </c:strCache>
            </c:strRef>
          </c:cat>
          <c:val>
            <c:numRef>
              <c:f>'Graf - Outros metais (2)'!$F$25:$F$33</c:f>
              <c:numCache>
                <c:formatCode>General</c:formatCode>
                <c:ptCount val="9"/>
                <c:pt idx="0">
                  <c:v>2462.4</c:v>
                </c:pt>
                <c:pt idx="1">
                  <c:v>2812.85</c:v>
                </c:pt>
                <c:pt idx="2">
                  <c:v>3075.5</c:v>
                </c:pt>
                <c:pt idx="3">
                  <c:v>2974</c:v>
                </c:pt>
                <c:pt idx="4">
                  <c:v>2829</c:v>
                </c:pt>
                <c:pt idx="5">
                  <c:v>2764</c:v>
                </c:pt>
                <c:pt idx="6">
                  <c:v>3010</c:v>
                </c:pt>
                <c:pt idx="7">
                  <c:v>3063.5</c:v>
                </c:pt>
                <c:pt idx="8">
                  <c:v>3184.5</c:v>
                </c:pt>
              </c:numCache>
            </c:numRef>
          </c:val>
          <c:smooth val="1"/>
          <c:extLst>
            <c:ext xmlns:c16="http://schemas.microsoft.com/office/drawing/2014/chart" uri="{C3380CC4-5D6E-409C-BE32-E72D297353CC}">
              <c16:uniqueId val="{00000003-95E5-47EE-86F4-6CE793EC5AEF}"/>
            </c:ext>
          </c:extLst>
        </c:ser>
        <c:ser>
          <c:idx val="4"/>
          <c:order val="4"/>
          <c:tx>
            <c:strRef>
              <c:f>'Graf - Outros metais (2)'!$G$24</c:f>
              <c:strCache>
                <c:ptCount val="1"/>
                <c:pt idx="0">
                  <c:v>Alumínio</c:v>
                </c:pt>
              </c:strCache>
            </c:strRef>
          </c:tx>
          <c:spPr>
            <a:ln>
              <a:solidFill>
                <a:srgbClr val="56F49D"/>
              </a:solidFill>
            </a:ln>
          </c:spPr>
          <c:marker>
            <c:spPr>
              <a:solidFill>
                <a:srgbClr val="56F49D"/>
              </a:solidFill>
              <a:ln>
                <a:solidFill>
                  <a:srgbClr val="56F49D"/>
                </a:solidFill>
              </a:ln>
            </c:spPr>
          </c:marker>
          <c:cat>
            <c:strRef>
              <c:f>'Graf - Outros metais (2)'!$B$25:$B$33</c:f>
              <c:strCache>
                <c:ptCount val="9"/>
                <c:pt idx="0">
                  <c:v>1T24</c:v>
                </c:pt>
                <c:pt idx="1">
                  <c:v>2T24</c:v>
                </c:pt>
                <c:pt idx="2">
                  <c:v>3T24</c:v>
                </c:pt>
                <c:pt idx="3">
                  <c:v>4T24</c:v>
                </c:pt>
                <c:pt idx="4">
                  <c:v>1T25</c:v>
                </c:pt>
                <c:pt idx="5">
                  <c:v>2T25</c:v>
                </c:pt>
                <c:pt idx="6">
                  <c:v>3T25</c:v>
                </c:pt>
                <c:pt idx="7">
                  <c:v>4T25</c:v>
                </c:pt>
                <c:pt idx="8">
                  <c:v>1T26</c:v>
                </c:pt>
              </c:strCache>
            </c:strRef>
          </c:cat>
          <c:val>
            <c:numRef>
              <c:f>'Graf - Outros metais (2)'!$G$25:$G$33</c:f>
              <c:numCache>
                <c:formatCode>General</c:formatCode>
                <c:ptCount val="9"/>
                <c:pt idx="0">
                  <c:v>2222.35</c:v>
                </c:pt>
                <c:pt idx="1">
                  <c:v>2495.0500000000002</c:v>
                </c:pt>
                <c:pt idx="2">
                  <c:v>2611</c:v>
                </c:pt>
                <c:pt idx="3">
                  <c:v>2516.5</c:v>
                </c:pt>
                <c:pt idx="4">
                  <c:v>2518.5</c:v>
                </c:pt>
                <c:pt idx="5">
                  <c:v>2593</c:v>
                </c:pt>
                <c:pt idx="6">
                  <c:v>2668.5</c:v>
                </c:pt>
                <c:pt idx="7">
                  <c:v>2968</c:v>
                </c:pt>
                <c:pt idx="8">
                  <c:v>3585</c:v>
                </c:pt>
              </c:numCache>
            </c:numRef>
          </c:val>
          <c:smooth val="1"/>
          <c:extLst>
            <c:ext xmlns:c16="http://schemas.microsoft.com/office/drawing/2014/chart" uri="{C3380CC4-5D6E-409C-BE32-E72D297353CC}">
              <c16:uniqueId val="{00000004-95E5-47EE-86F4-6CE793EC5AEF}"/>
            </c:ext>
          </c:extLst>
        </c:ser>
        <c:ser>
          <c:idx val="5"/>
          <c:order val="5"/>
          <c:tx>
            <c:strRef>
              <c:f>'Graf - Outros metais (2)'!$H$24</c:f>
              <c:strCache>
                <c:ptCount val="1"/>
                <c:pt idx="0">
                  <c:v>Níquel</c:v>
                </c:pt>
              </c:strCache>
            </c:strRef>
          </c:tx>
          <c:spPr>
            <a:ln>
              <a:solidFill>
                <a:srgbClr val="EF0988"/>
              </a:solidFill>
            </a:ln>
          </c:spPr>
          <c:marker>
            <c:spPr>
              <a:solidFill>
                <a:srgbClr val="EF0988"/>
              </a:solidFill>
              <a:ln>
                <a:solidFill>
                  <a:srgbClr val="EF0988"/>
                </a:solidFill>
              </a:ln>
            </c:spPr>
          </c:marker>
          <c:cat>
            <c:strRef>
              <c:f>'Graf - Outros metais (2)'!$B$25:$B$33</c:f>
              <c:strCache>
                <c:ptCount val="9"/>
                <c:pt idx="0">
                  <c:v>1T24</c:v>
                </c:pt>
                <c:pt idx="1">
                  <c:v>2T24</c:v>
                </c:pt>
                <c:pt idx="2">
                  <c:v>3T24</c:v>
                </c:pt>
                <c:pt idx="3">
                  <c:v>4T24</c:v>
                </c:pt>
                <c:pt idx="4">
                  <c:v>1T25</c:v>
                </c:pt>
                <c:pt idx="5">
                  <c:v>2T25</c:v>
                </c:pt>
                <c:pt idx="6">
                  <c:v>3T25</c:v>
                </c:pt>
                <c:pt idx="7">
                  <c:v>4T25</c:v>
                </c:pt>
                <c:pt idx="8">
                  <c:v>1T26</c:v>
                </c:pt>
              </c:strCache>
            </c:strRef>
          </c:cat>
          <c:val>
            <c:numRef>
              <c:f>'Graf - Outros metais (2)'!$H$25:$H$33</c:f>
              <c:numCache>
                <c:formatCode>General</c:formatCode>
                <c:ptCount val="9"/>
                <c:pt idx="0">
                  <c:v>17432.75</c:v>
                </c:pt>
                <c:pt idx="1">
                  <c:v>17508.25</c:v>
                </c:pt>
                <c:pt idx="2">
                  <c:v>17005</c:v>
                </c:pt>
                <c:pt idx="3">
                  <c:v>15100</c:v>
                </c:pt>
                <c:pt idx="4">
                  <c:v>15715</c:v>
                </c:pt>
                <c:pt idx="5">
                  <c:v>15020</c:v>
                </c:pt>
                <c:pt idx="6">
                  <c:v>15075</c:v>
                </c:pt>
                <c:pt idx="7">
                  <c:v>16485</c:v>
                </c:pt>
                <c:pt idx="8">
                  <c:v>16860</c:v>
                </c:pt>
              </c:numCache>
            </c:numRef>
          </c:val>
          <c:smooth val="1"/>
          <c:extLst>
            <c:ext xmlns:c16="http://schemas.microsoft.com/office/drawing/2014/chart" uri="{C3380CC4-5D6E-409C-BE32-E72D297353CC}">
              <c16:uniqueId val="{00000005-95E5-47EE-86F4-6CE793EC5AEF}"/>
            </c:ext>
          </c:extLst>
        </c:ser>
        <c:dLbls>
          <c:showLegendKey val="0"/>
          <c:showVal val="0"/>
          <c:showCatName val="0"/>
          <c:showSerName val="0"/>
          <c:showPercent val="0"/>
          <c:showBubbleSize val="0"/>
        </c:dLbls>
        <c:marker val="1"/>
        <c:smooth val="0"/>
        <c:axId val="1369499871"/>
        <c:axId val="1369505151"/>
      </c:lineChart>
      <c:catAx>
        <c:axId val="136949987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505151"/>
        <c:crosses val="autoZero"/>
        <c:auto val="1"/>
        <c:lblAlgn val="ctr"/>
        <c:lblOffset val="100"/>
        <c:noMultiLvlLbl val="0"/>
      </c:catAx>
      <c:valAx>
        <c:axId val="1369505151"/>
        <c:scaling>
          <c:logBase val="2"/>
          <c:orientation val="minMax"/>
          <c:min val="1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1369499871"/>
        <c:crosses val="autoZero"/>
        <c:crossBetween val="between"/>
      </c:valAx>
    </c:plotArea>
    <c:legend>
      <c:legendPos val="b"/>
      <c:layout>
        <c:manualLayout>
          <c:xMode val="edge"/>
          <c:yMode val="edge"/>
          <c:x val="0"/>
          <c:y val="0.81841974433052767"/>
          <c:w val="0.99920812414274374"/>
          <c:h val="0.17274968102156538"/>
        </c:manualLayout>
      </c:layout>
      <c:overlay val="0"/>
      <c:spPr>
        <a:noFill/>
        <a:ln>
          <a:noFill/>
        </a:ln>
        <a:effectLst/>
      </c:spPr>
      <c:txPr>
        <a:bodyPr rot="0" spcFirstLastPara="1" vertOverflow="ellipsis" vert="horz" wrap="square" anchor="ctr" anchorCtr="1"/>
        <a:lstStyle/>
        <a:p>
          <a:pPr>
            <a:defRPr lang="en-US" sz="10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txPr>
    <a:bodyPr/>
    <a:lstStyle/>
    <a:p>
      <a:pPr>
        <a:defRPr/>
      </a:pPr>
      <a:endParaRPr lang="pt-B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Inflação por faixa de renda IPEA (Média Trimestral)</a:t>
            </a:r>
          </a:p>
        </c:rich>
      </c:tx>
      <c:layout>
        <c:manualLayout>
          <c:xMode val="edge"/>
          <c:yMode val="edge"/>
          <c:x val="0.20448782045770023"/>
          <c:y val="3.649173964441043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barChart>
        <c:barDir val="col"/>
        <c:grouping val="clustered"/>
        <c:varyColors val="0"/>
        <c:ser>
          <c:idx val="0"/>
          <c:order val="0"/>
          <c:tx>
            <c:strRef>
              <c:f>'Indicador de Inflção por Faixa '!$F$24</c:f>
              <c:strCache>
                <c:ptCount val="1"/>
                <c:pt idx="0">
                  <c:v>Renda muito baixa</c:v>
                </c:pt>
              </c:strCache>
            </c:strRef>
          </c:tx>
          <c:spPr>
            <a:solidFill>
              <a:schemeClr val="accent1">
                <a:tint val="50000"/>
              </a:schemeClr>
            </a:solidFill>
            <a:ln>
              <a:noFill/>
            </a:ln>
            <a:effectLst/>
          </c:spPr>
          <c:invertIfNegative val="0"/>
          <c:cat>
            <c:strRef>
              <c:f>'Indicador de Inflção por Faixa '!$E$25:$E$29</c:f>
              <c:strCache>
                <c:ptCount val="5"/>
                <c:pt idx="0">
                  <c:v>1T25</c:v>
                </c:pt>
                <c:pt idx="1">
                  <c:v>2T25</c:v>
                </c:pt>
                <c:pt idx="2">
                  <c:v>3T25</c:v>
                </c:pt>
                <c:pt idx="3">
                  <c:v>4T25</c:v>
                </c:pt>
                <c:pt idx="4">
                  <c:v>1T26</c:v>
                </c:pt>
              </c:strCache>
            </c:strRef>
          </c:cat>
          <c:val>
            <c:numRef>
              <c:f>'Indicador de Inflção por Faixa '!$F$25:$F$29</c:f>
              <c:numCache>
                <c:formatCode>0.00</c:formatCode>
                <c:ptCount val="5"/>
                <c:pt idx="0">
                  <c:v>4.7195751134422173</c:v>
                </c:pt>
                <c:pt idx="1">
                  <c:v>5.3362485111435971</c:v>
                </c:pt>
                <c:pt idx="2">
                  <c:v>5.2709861294285494</c:v>
                </c:pt>
                <c:pt idx="3">
                  <c:v>4.1347882251162451</c:v>
                </c:pt>
                <c:pt idx="4">
                  <c:v>3.6685279583625441</c:v>
                </c:pt>
              </c:numCache>
            </c:numRef>
          </c:val>
          <c:extLst>
            <c:ext xmlns:c16="http://schemas.microsoft.com/office/drawing/2014/chart" uri="{C3380CC4-5D6E-409C-BE32-E72D297353CC}">
              <c16:uniqueId val="{00000000-EE08-4652-8EB4-3121A2FCEE6C}"/>
            </c:ext>
          </c:extLst>
        </c:ser>
        <c:ser>
          <c:idx val="1"/>
          <c:order val="1"/>
          <c:tx>
            <c:strRef>
              <c:f>'Indicador de Inflção por Faixa '!$G$24</c:f>
              <c:strCache>
                <c:ptCount val="1"/>
                <c:pt idx="0">
                  <c:v>Renda baixa</c:v>
                </c:pt>
              </c:strCache>
            </c:strRef>
          </c:tx>
          <c:spPr>
            <a:solidFill>
              <a:schemeClr val="accent1">
                <a:tint val="70000"/>
              </a:schemeClr>
            </a:solidFill>
            <a:ln>
              <a:noFill/>
            </a:ln>
            <a:effectLst/>
          </c:spPr>
          <c:invertIfNegative val="0"/>
          <c:cat>
            <c:strRef>
              <c:f>'Indicador de Inflção por Faixa '!$E$25:$E$29</c:f>
              <c:strCache>
                <c:ptCount val="5"/>
                <c:pt idx="0">
                  <c:v>1T25</c:v>
                </c:pt>
                <c:pt idx="1">
                  <c:v>2T25</c:v>
                </c:pt>
                <c:pt idx="2">
                  <c:v>3T25</c:v>
                </c:pt>
                <c:pt idx="3">
                  <c:v>4T25</c:v>
                </c:pt>
                <c:pt idx="4">
                  <c:v>1T26</c:v>
                </c:pt>
              </c:strCache>
            </c:strRef>
          </c:cat>
          <c:val>
            <c:numRef>
              <c:f>'Indicador de Inflção por Faixa '!$G$25:$G$29</c:f>
              <c:numCache>
                <c:formatCode>0.00</c:formatCode>
                <c:ptCount val="5"/>
                <c:pt idx="0">
                  <c:v>4.9367001233631287</c:v>
                </c:pt>
                <c:pt idx="1">
                  <c:v>5.4825436367501217</c:v>
                </c:pt>
                <c:pt idx="2">
                  <c:v>5.3758498642748842</c:v>
                </c:pt>
                <c:pt idx="3">
                  <c:v>4.3561860256870437</c:v>
                </c:pt>
                <c:pt idx="4">
                  <c:v>3.9254294495530822</c:v>
                </c:pt>
              </c:numCache>
            </c:numRef>
          </c:val>
          <c:extLst>
            <c:ext xmlns:c16="http://schemas.microsoft.com/office/drawing/2014/chart" uri="{C3380CC4-5D6E-409C-BE32-E72D297353CC}">
              <c16:uniqueId val="{00000001-EE08-4652-8EB4-3121A2FCEE6C}"/>
            </c:ext>
          </c:extLst>
        </c:ser>
        <c:ser>
          <c:idx val="2"/>
          <c:order val="2"/>
          <c:tx>
            <c:strRef>
              <c:f>'Indicador de Inflção por Faixa '!$H$24</c:f>
              <c:strCache>
                <c:ptCount val="1"/>
                <c:pt idx="0">
                  <c:v>Renda média-baixa</c:v>
                </c:pt>
              </c:strCache>
            </c:strRef>
          </c:tx>
          <c:spPr>
            <a:solidFill>
              <a:schemeClr val="accent1">
                <a:tint val="90000"/>
              </a:schemeClr>
            </a:solidFill>
            <a:ln>
              <a:noFill/>
            </a:ln>
            <a:effectLst/>
          </c:spPr>
          <c:invertIfNegative val="0"/>
          <c:cat>
            <c:strRef>
              <c:f>'Indicador de Inflção por Faixa '!$E$25:$E$29</c:f>
              <c:strCache>
                <c:ptCount val="5"/>
                <c:pt idx="0">
                  <c:v>1T25</c:v>
                </c:pt>
                <c:pt idx="1">
                  <c:v>2T25</c:v>
                </c:pt>
                <c:pt idx="2">
                  <c:v>3T25</c:v>
                </c:pt>
                <c:pt idx="3">
                  <c:v>4T25</c:v>
                </c:pt>
                <c:pt idx="4">
                  <c:v>1T26</c:v>
                </c:pt>
              </c:strCache>
            </c:strRef>
          </c:cat>
          <c:val>
            <c:numRef>
              <c:f>'Indicador de Inflção por Faixa '!$H$25:$H$29</c:f>
              <c:numCache>
                <c:formatCode>0.00</c:formatCode>
                <c:ptCount val="5"/>
                <c:pt idx="0">
                  <c:v>4.9630358475760916</c:v>
                </c:pt>
                <c:pt idx="1">
                  <c:v>5.4342299365339146</c:v>
                </c:pt>
                <c:pt idx="2">
                  <c:v>5.2502658972959511</c:v>
                </c:pt>
                <c:pt idx="3">
                  <c:v>4.3985918862013831</c:v>
                </c:pt>
                <c:pt idx="4">
                  <c:v>3.9981823412813093</c:v>
                </c:pt>
              </c:numCache>
            </c:numRef>
          </c:val>
          <c:extLst>
            <c:ext xmlns:c16="http://schemas.microsoft.com/office/drawing/2014/chart" uri="{C3380CC4-5D6E-409C-BE32-E72D297353CC}">
              <c16:uniqueId val="{00000002-EE08-4652-8EB4-3121A2FCEE6C}"/>
            </c:ext>
          </c:extLst>
        </c:ser>
        <c:ser>
          <c:idx val="3"/>
          <c:order val="3"/>
          <c:tx>
            <c:strRef>
              <c:f>'Indicador de Inflção por Faixa '!$I$24</c:f>
              <c:strCache>
                <c:ptCount val="1"/>
                <c:pt idx="0">
                  <c:v>Renda média</c:v>
                </c:pt>
              </c:strCache>
            </c:strRef>
          </c:tx>
          <c:spPr>
            <a:solidFill>
              <a:schemeClr val="accent1">
                <a:shade val="90000"/>
              </a:schemeClr>
            </a:solidFill>
            <a:ln>
              <a:noFill/>
            </a:ln>
            <a:effectLst/>
          </c:spPr>
          <c:invertIfNegative val="0"/>
          <c:cat>
            <c:strRef>
              <c:f>'Indicador de Inflção por Faixa '!$E$25:$E$29</c:f>
              <c:strCache>
                <c:ptCount val="5"/>
                <c:pt idx="0">
                  <c:v>1T25</c:v>
                </c:pt>
                <c:pt idx="1">
                  <c:v>2T25</c:v>
                </c:pt>
                <c:pt idx="2">
                  <c:v>3T25</c:v>
                </c:pt>
                <c:pt idx="3">
                  <c:v>4T25</c:v>
                </c:pt>
                <c:pt idx="4">
                  <c:v>1T26</c:v>
                </c:pt>
              </c:strCache>
            </c:strRef>
          </c:cat>
          <c:val>
            <c:numRef>
              <c:f>'Indicador de Inflção por Faixa '!$I$25:$I$29</c:f>
              <c:numCache>
                <c:formatCode>0.00</c:formatCode>
                <c:ptCount val="5"/>
                <c:pt idx="0">
                  <c:v>5.1348489649310451</c:v>
                </c:pt>
                <c:pt idx="1">
                  <c:v>5.4275354448393225</c:v>
                </c:pt>
                <c:pt idx="2">
                  <c:v>5.1413828896421139</c:v>
                </c:pt>
                <c:pt idx="3">
                  <c:v>4.4898467849618706</c:v>
                </c:pt>
                <c:pt idx="4">
                  <c:v>4.1666834079318855</c:v>
                </c:pt>
              </c:numCache>
            </c:numRef>
          </c:val>
          <c:extLst>
            <c:ext xmlns:c16="http://schemas.microsoft.com/office/drawing/2014/chart" uri="{C3380CC4-5D6E-409C-BE32-E72D297353CC}">
              <c16:uniqueId val="{00000003-EE08-4652-8EB4-3121A2FCEE6C}"/>
            </c:ext>
          </c:extLst>
        </c:ser>
        <c:ser>
          <c:idx val="4"/>
          <c:order val="4"/>
          <c:tx>
            <c:strRef>
              <c:f>'Indicador de Inflção por Faixa '!$J$24</c:f>
              <c:strCache>
                <c:ptCount val="1"/>
                <c:pt idx="0">
                  <c:v>Renda média-alta</c:v>
                </c:pt>
              </c:strCache>
            </c:strRef>
          </c:tx>
          <c:spPr>
            <a:solidFill>
              <a:schemeClr val="accent1">
                <a:shade val="70000"/>
              </a:schemeClr>
            </a:solidFill>
            <a:ln>
              <a:noFill/>
            </a:ln>
            <a:effectLst/>
          </c:spPr>
          <c:invertIfNegative val="0"/>
          <c:cat>
            <c:strRef>
              <c:f>'Indicador de Inflção por Faixa '!$E$25:$E$29</c:f>
              <c:strCache>
                <c:ptCount val="5"/>
                <c:pt idx="0">
                  <c:v>1T25</c:v>
                </c:pt>
                <c:pt idx="1">
                  <c:v>2T25</c:v>
                </c:pt>
                <c:pt idx="2">
                  <c:v>3T25</c:v>
                </c:pt>
                <c:pt idx="3">
                  <c:v>4T25</c:v>
                </c:pt>
                <c:pt idx="4">
                  <c:v>1T26</c:v>
                </c:pt>
              </c:strCache>
            </c:strRef>
          </c:cat>
          <c:val>
            <c:numRef>
              <c:f>'Indicador de Inflção por Faixa '!$J$25:$J$29</c:f>
              <c:numCache>
                <c:formatCode>0.00</c:formatCode>
                <c:ptCount val="5"/>
                <c:pt idx="0">
                  <c:v>5.1129358942080634</c:v>
                </c:pt>
                <c:pt idx="1">
                  <c:v>5.3851601326015599</c:v>
                </c:pt>
                <c:pt idx="2">
                  <c:v>5.1275443255532673</c:v>
                </c:pt>
                <c:pt idx="3">
                  <c:v>4.6493248283572042</c:v>
                </c:pt>
                <c:pt idx="4">
                  <c:v>4.3411505655153322</c:v>
                </c:pt>
              </c:numCache>
            </c:numRef>
          </c:val>
          <c:extLst>
            <c:ext xmlns:c16="http://schemas.microsoft.com/office/drawing/2014/chart" uri="{C3380CC4-5D6E-409C-BE32-E72D297353CC}">
              <c16:uniqueId val="{00000004-EE08-4652-8EB4-3121A2FCEE6C}"/>
            </c:ext>
          </c:extLst>
        </c:ser>
        <c:ser>
          <c:idx val="5"/>
          <c:order val="5"/>
          <c:tx>
            <c:strRef>
              <c:f>'Indicador de Inflção por Faixa '!$K$24</c:f>
              <c:strCache>
                <c:ptCount val="1"/>
                <c:pt idx="0">
                  <c:v>Renda alta</c:v>
                </c:pt>
              </c:strCache>
            </c:strRef>
          </c:tx>
          <c:spPr>
            <a:solidFill>
              <a:schemeClr val="accent1">
                <a:shade val="50000"/>
              </a:schemeClr>
            </a:solidFill>
            <a:ln>
              <a:noFill/>
            </a:ln>
            <a:effectLst/>
          </c:spPr>
          <c:invertIfNegative val="0"/>
          <c:cat>
            <c:strRef>
              <c:f>'Indicador de Inflção por Faixa '!$E$25:$E$29</c:f>
              <c:strCache>
                <c:ptCount val="5"/>
                <c:pt idx="0">
                  <c:v>1T25</c:v>
                </c:pt>
                <c:pt idx="1">
                  <c:v>2T25</c:v>
                </c:pt>
                <c:pt idx="2">
                  <c:v>3T25</c:v>
                </c:pt>
                <c:pt idx="3">
                  <c:v>4T25</c:v>
                </c:pt>
                <c:pt idx="4">
                  <c:v>1T26</c:v>
                </c:pt>
              </c:strCache>
            </c:strRef>
          </c:cat>
          <c:val>
            <c:numRef>
              <c:f>'Indicador de Inflção por Faixa '!$K$25:$K$29</c:f>
              <c:numCache>
                <c:formatCode>0.00</c:formatCode>
                <c:ptCount val="5"/>
                <c:pt idx="0">
                  <c:v>5.2003824821658178</c:v>
                </c:pt>
                <c:pt idx="1">
                  <c:v>5.3705770497337681</c:v>
                </c:pt>
                <c:pt idx="2">
                  <c:v>5.0201145869010508</c:v>
                </c:pt>
                <c:pt idx="3">
                  <c:v>4.8124230649420063</c:v>
                </c:pt>
                <c:pt idx="4">
                  <c:v>4.5969205856472533</c:v>
                </c:pt>
              </c:numCache>
            </c:numRef>
          </c:val>
          <c:extLst>
            <c:ext xmlns:c16="http://schemas.microsoft.com/office/drawing/2014/chart" uri="{C3380CC4-5D6E-409C-BE32-E72D297353CC}">
              <c16:uniqueId val="{00000005-EE08-4652-8EB4-3121A2FCEE6C}"/>
            </c:ext>
          </c:extLst>
        </c:ser>
        <c:dLbls>
          <c:showLegendKey val="0"/>
          <c:showVal val="0"/>
          <c:showCatName val="0"/>
          <c:showSerName val="0"/>
          <c:showPercent val="0"/>
          <c:showBubbleSize val="0"/>
        </c:dLbls>
        <c:gapWidth val="219"/>
        <c:overlap val="-27"/>
        <c:axId val="66726175"/>
        <c:axId val="66720895"/>
      </c:barChart>
      <c:catAx>
        <c:axId val="667261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crossAx val="66720895"/>
        <c:crosses val="autoZero"/>
        <c:auto val="1"/>
        <c:lblAlgn val="ctr"/>
        <c:lblOffset val="100"/>
        <c:noMultiLvlLbl val="0"/>
      </c:catAx>
      <c:valAx>
        <c:axId val="667208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667261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45AD0E-0C3C-440E-85B9-7AAF8607AD89}" type="doc">
      <dgm:prSet loTypeId="urn:microsoft.com/office/officeart/2005/8/layout/gear1" loCatId="cycle" qsTypeId="urn:microsoft.com/office/officeart/2005/8/quickstyle/simple1" qsCatId="simple" csTypeId="urn:microsoft.com/office/officeart/2005/8/colors/accent1_2" csCatId="accent1" phldr="1"/>
      <dgm:spPr/>
    </dgm:pt>
    <dgm:pt modelId="{8F94466F-1D81-4DAF-BBF2-68F52B90955A}">
      <dgm:prSet phldrT="[Texto]"/>
      <dgm:spPr>
        <a:solidFill>
          <a:srgbClr val="2F68D3"/>
        </a:solidFill>
      </dgm:spPr>
      <dgm:t>
        <a:bodyPr/>
        <a:lstStyle/>
        <a:p>
          <a:r>
            <a:rPr lang="pt-BR"/>
            <a:t>Redução Produções</a:t>
          </a:r>
        </a:p>
        <a:p>
          <a:endParaRPr lang="pt-BR"/>
        </a:p>
      </dgm:t>
    </dgm:pt>
    <dgm:pt modelId="{F66F247F-ABB9-4DD5-BA2B-006C7B51AB9B}" type="parTrans" cxnId="{C2A1A68B-A053-455F-B215-FCC94CEEB574}">
      <dgm:prSet/>
      <dgm:spPr/>
      <dgm:t>
        <a:bodyPr/>
        <a:lstStyle/>
        <a:p>
          <a:endParaRPr lang="pt-BR"/>
        </a:p>
      </dgm:t>
    </dgm:pt>
    <dgm:pt modelId="{D637963B-80AA-46E8-A37A-FDA1CBC645A6}" type="sibTrans" cxnId="{C2A1A68B-A053-455F-B215-FCC94CEEB574}">
      <dgm:prSet/>
      <dgm:spPr/>
      <dgm:t>
        <a:bodyPr/>
        <a:lstStyle/>
        <a:p>
          <a:endParaRPr lang="pt-BR"/>
        </a:p>
      </dgm:t>
    </dgm:pt>
    <dgm:pt modelId="{E9243B97-B59D-477A-B8E0-22415A8793BD}">
      <dgm:prSet phldrT="[Texto]"/>
      <dgm:spPr>
        <a:solidFill>
          <a:srgbClr val="2F68D3"/>
        </a:solidFill>
      </dgm:spPr>
      <dgm:t>
        <a:bodyPr/>
        <a:lstStyle/>
        <a:p>
          <a:pPr rtl="0"/>
          <a:r>
            <a:rPr lang="pt-BR"/>
            <a:t>Políticas insensíveis</a:t>
          </a:r>
        </a:p>
        <a:p>
          <a:pPr rtl="0"/>
          <a:r>
            <a:rPr lang="pt-BR"/>
            <a:t>Desafios no comércio </a:t>
          </a:r>
        </a:p>
      </dgm:t>
    </dgm:pt>
    <dgm:pt modelId="{F3B5F5A7-552B-4DF6-959F-EA0EA7F27BE4}" type="parTrans" cxnId="{CDE21E65-AF89-4DF8-80A3-527035C80830}">
      <dgm:prSet/>
      <dgm:spPr/>
      <dgm:t>
        <a:bodyPr/>
        <a:lstStyle/>
        <a:p>
          <a:endParaRPr lang="pt-BR"/>
        </a:p>
      </dgm:t>
    </dgm:pt>
    <dgm:pt modelId="{87927CE3-3A3D-4BA6-894F-B7C55B4AE064}" type="sibTrans" cxnId="{CDE21E65-AF89-4DF8-80A3-527035C80830}">
      <dgm:prSet/>
      <dgm:spPr/>
      <dgm:t>
        <a:bodyPr/>
        <a:lstStyle/>
        <a:p>
          <a:endParaRPr lang="pt-BR"/>
        </a:p>
      </dgm:t>
    </dgm:pt>
    <dgm:pt modelId="{4EF7644E-4747-4929-8343-039BF8F3C0FA}">
      <dgm:prSet phldrT="[Texto]"/>
      <dgm:spPr>
        <a:solidFill>
          <a:srgbClr val="2F68D3"/>
        </a:solidFill>
      </dgm:spPr>
      <dgm:t>
        <a:bodyPr/>
        <a:lstStyle/>
        <a:p>
          <a:r>
            <a:rPr lang="pt-BR"/>
            <a:t>Conflitos comerciais</a:t>
          </a:r>
        </a:p>
      </dgm:t>
    </dgm:pt>
    <dgm:pt modelId="{107B47C0-0A38-489E-B54A-79FB7FBACD38}" type="parTrans" cxnId="{C9F40ACA-794C-458D-A433-770C3D99B0E8}">
      <dgm:prSet/>
      <dgm:spPr/>
      <dgm:t>
        <a:bodyPr/>
        <a:lstStyle/>
        <a:p>
          <a:endParaRPr lang="pt-BR"/>
        </a:p>
      </dgm:t>
    </dgm:pt>
    <dgm:pt modelId="{B704B5FD-AC47-48D4-BD0D-49C252B6047E}" type="sibTrans" cxnId="{C9F40ACA-794C-458D-A433-770C3D99B0E8}">
      <dgm:prSet/>
      <dgm:spPr/>
      <dgm:t>
        <a:bodyPr/>
        <a:lstStyle/>
        <a:p>
          <a:endParaRPr lang="pt-BR"/>
        </a:p>
      </dgm:t>
    </dgm:pt>
    <dgm:pt modelId="{ABB59898-890D-454D-8DE9-E73BF85117FF}" type="pres">
      <dgm:prSet presAssocID="{9B45AD0E-0C3C-440E-85B9-7AAF8607AD89}" presName="composite" presStyleCnt="0">
        <dgm:presLayoutVars>
          <dgm:chMax val="3"/>
          <dgm:animLvl val="lvl"/>
          <dgm:resizeHandles val="exact"/>
        </dgm:presLayoutVars>
      </dgm:prSet>
      <dgm:spPr/>
    </dgm:pt>
    <dgm:pt modelId="{2778B97E-47C1-46B0-A31F-0E39D6942200}" type="pres">
      <dgm:prSet presAssocID="{8F94466F-1D81-4DAF-BBF2-68F52B90955A}" presName="gear1" presStyleLbl="node1" presStyleIdx="0" presStyleCnt="3" custLinFactNeighborY="-2489">
        <dgm:presLayoutVars>
          <dgm:chMax val="1"/>
          <dgm:bulletEnabled val="1"/>
        </dgm:presLayoutVars>
      </dgm:prSet>
      <dgm:spPr/>
    </dgm:pt>
    <dgm:pt modelId="{8CCEE97F-2F62-41CC-8513-647EBBD2F683}" type="pres">
      <dgm:prSet presAssocID="{8F94466F-1D81-4DAF-BBF2-68F52B90955A}" presName="gear1srcNode" presStyleLbl="node1" presStyleIdx="0" presStyleCnt="3"/>
      <dgm:spPr/>
    </dgm:pt>
    <dgm:pt modelId="{1EF03B6E-2559-4438-A776-72AE112EADCA}" type="pres">
      <dgm:prSet presAssocID="{8F94466F-1D81-4DAF-BBF2-68F52B90955A}" presName="gear1dstNode" presStyleLbl="node1" presStyleIdx="0" presStyleCnt="3"/>
      <dgm:spPr/>
    </dgm:pt>
    <dgm:pt modelId="{A50FAC47-3349-41F4-96BE-F4D609F1F05F}" type="pres">
      <dgm:prSet presAssocID="{E9243B97-B59D-477A-B8E0-22415A8793BD}" presName="gear2" presStyleLbl="node1" presStyleIdx="1" presStyleCnt="3">
        <dgm:presLayoutVars>
          <dgm:chMax val="1"/>
          <dgm:bulletEnabled val="1"/>
        </dgm:presLayoutVars>
      </dgm:prSet>
      <dgm:spPr/>
    </dgm:pt>
    <dgm:pt modelId="{806572B1-9559-47E4-8350-4842DF3E2CFA}" type="pres">
      <dgm:prSet presAssocID="{E9243B97-B59D-477A-B8E0-22415A8793BD}" presName="gear2srcNode" presStyleLbl="node1" presStyleIdx="1" presStyleCnt="3"/>
      <dgm:spPr/>
    </dgm:pt>
    <dgm:pt modelId="{F74FDBE3-55A7-42A3-B205-6C65CBE2B8AB}" type="pres">
      <dgm:prSet presAssocID="{E9243B97-B59D-477A-B8E0-22415A8793BD}" presName="gear2dstNode" presStyleLbl="node1" presStyleIdx="1" presStyleCnt="3"/>
      <dgm:spPr/>
    </dgm:pt>
    <dgm:pt modelId="{493ABAA0-1ED7-4669-910C-A43539BF56C4}" type="pres">
      <dgm:prSet presAssocID="{4EF7644E-4747-4929-8343-039BF8F3C0FA}" presName="gear3" presStyleLbl="node1" presStyleIdx="2" presStyleCnt="3"/>
      <dgm:spPr/>
    </dgm:pt>
    <dgm:pt modelId="{9357EDEB-CDE0-4B14-8402-164A56785174}" type="pres">
      <dgm:prSet presAssocID="{4EF7644E-4747-4929-8343-039BF8F3C0FA}" presName="gear3tx" presStyleLbl="node1" presStyleIdx="2" presStyleCnt="3">
        <dgm:presLayoutVars>
          <dgm:chMax val="1"/>
          <dgm:bulletEnabled val="1"/>
        </dgm:presLayoutVars>
      </dgm:prSet>
      <dgm:spPr/>
    </dgm:pt>
    <dgm:pt modelId="{F0BFF3FA-4443-4EC3-B73F-F76CB08A3D28}" type="pres">
      <dgm:prSet presAssocID="{4EF7644E-4747-4929-8343-039BF8F3C0FA}" presName="gear3srcNode" presStyleLbl="node1" presStyleIdx="2" presStyleCnt="3"/>
      <dgm:spPr/>
    </dgm:pt>
    <dgm:pt modelId="{4E9491C8-87FD-47AC-8134-FB1B84BA8178}" type="pres">
      <dgm:prSet presAssocID="{4EF7644E-4747-4929-8343-039BF8F3C0FA}" presName="gear3dstNode" presStyleLbl="node1" presStyleIdx="2" presStyleCnt="3"/>
      <dgm:spPr/>
    </dgm:pt>
    <dgm:pt modelId="{91A160C8-77C1-4E19-9816-73086197F5BA}" type="pres">
      <dgm:prSet presAssocID="{D637963B-80AA-46E8-A37A-FDA1CBC645A6}" presName="connector1" presStyleLbl="sibTrans2D1" presStyleIdx="0" presStyleCnt="3"/>
      <dgm:spPr/>
    </dgm:pt>
    <dgm:pt modelId="{627737FD-F84F-4C84-AE65-6D77ACAE9742}" type="pres">
      <dgm:prSet presAssocID="{87927CE3-3A3D-4BA6-894F-B7C55B4AE064}" presName="connector2" presStyleLbl="sibTrans2D1" presStyleIdx="1" presStyleCnt="3"/>
      <dgm:spPr/>
    </dgm:pt>
    <dgm:pt modelId="{42AE3EAE-2C13-4C1C-9C0C-7C0ECB0E7C9C}" type="pres">
      <dgm:prSet presAssocID="{B704B5FD-AC47-48D4-BD0D-49C252B6047E}" presName="connector3" presStyleLbl="sibTrans2D1" presStyleIdx="2" presStyleCnt="3" custAng="7740000"/>
      <dgm:spPr/>
    </dgm:pt>
  </dgm:ptLst>
  <dgm:cxnLst>
    <dgm:cxn modelId="{5818FD0A-7F3F-42D2-BA4C-39E3F973E246}" type="presOf" srcId="{D637963B-80AA-46E8-A37A-FDA1CBC645A6}" destId="{91A160C8-77C1-4E19-9816-73086197F5BA}" srcOrd="0" destOrd="0" presId="urn:microsoft.com/office/officeart/2005/8/layout/gear1"/>
    <dgm:cxn modelId="{E2972D1F-53A3-4103-96F8-825E2A929FDF}" type="presOf" srcId="{E9243B97-B59D-477A-B8E0-22415A8793BD}" destId="{A50FAC47-3349-41F4-96BE-F4D609F1F05F}" srcOrd="0" destOrd="0" presId="urn:microsoft.com/office/officeart/2005/8/layout/gear1"/>
    <dgm:cxn modelId="{5604212A-A209-43BC-9748-E973924306CF}" type="presOf" srcId="{4EF7644E-4747-4929-8343-039BF8F3C0FA}" destId="{493ABAA0-1ED7-4669-910C-A43539BF56C4}" srcOrd="0" destOrd="0" presId="urn:microsoft.com/office/officeart/2005/8/layout/gear1"/>
    <dgm:cxn modelId="{34EF312B-6DFB-40F6-81CE-DCFB12618738}" type="presOf" srcId="{4EF7644E-4747-4929-8343-039BF8F3C0FA}" destId="{F0BFF3FA-4443-4EC3-B73F-F76CB08A3D28}" srcOrd="2" destOrd="0" presId="urn:microsoft.com/office/officeart/2005/8/layout/gear1"/>
    <dgm:cxn modelId="{DB317D2B-E326-4AD0-A881-591B64B59168}" type="presOf" srcId="{8F94466F-1D81-4DAF-BBF2-68F52B90955A}" destId="{2778B97E-47C1-46B0-A31F-0E39D6942200}" srcOrd="0" destOrd="0" presId="urn:microsoft.com/office/officeart/2005/8/layout/gear1"/>
    <dgm:cxn modelId="{D5A7CC5B-6A27-4C37-9E5B-EF10843ACA00}" type="presOf" srcId="{8F94466F-1D81-4DAF-BBF2-68F52B90955A}" destId="{1EF03B6E-2559-4438-A776-72AE112EADCA}" srcOrd="2" destOrd="0" presId="urn:microsoft.com/office/officeart/2005/8/layout/gear1"/>
    <dgm:cxn modelId="{CDE21E65-AF89-4DF8-80A3-527035C80830}" srcId="{9B45AD0E-0C3C-440E-85B9-7AAF8607AD89}" destId="{E9243B97-B59D-477A-B8E0-22415A8793BD}" srcOrd="1" destOrd="0" parTransId="{F3B5F5A7-552B-4DF6-959F-EA0EA7F27BE4}" sibTransId="{87927CE3-3A3D-4BA6-894F-B7C55B4AE064}"/>
    <dgm:cxn modelId="{9DEC1C4F-76C4-4F94-9C89-1516E7127311}" type="presOf" srcId="{8F94466F-1D81-4DAF-BBF2-68F52B90955A}" destId="{8CCEE97F-2F62-41CC-8513-647EBBD2F683}" srcOrd="1" destOrd="0" presId="urn:microsoft.com/office/officeart/2005/8/layout/gear1"/>
    <dgm:cxn modelId="{6DA73486-0CA8-4F05-90C8-0EC4F27CA2DB}" type="presOf" srcId="{9B45AD0E-0C3C-440E-85B9-7AAF8607AD89}" destId="{ABB59898-890D-454D-8DE9-E73BF85117FF}" srcOrd="0" destOrd="0" presId="urn:microsoft.com/office/officeart/2005/8/layout/gear1"/>
    <dgm:cxn modelId="{C2A1A68B-A053-455F-B215-FCC94CEEB574}" srcId="{9B45AD0E-0C3C-440E-85B9-7AAF8607AD89}" destId="{8F94466F-1D81-4DAF-BBF2-68F52B90955A}" srcOrd="0" destOrd="0" parTransId="{F66F247F-ABB9-4DD5-BA2B-006C7B51AB9B}" sibTransId="{D637963B-80AA-46E8-A37A-FDA1CBC645A6}"/>
    <dgm:cxn modelId="{BDF325AC-9A46-4376-AC38-75EB100168AD}" type="presOf" srcId="{4EF7644E-4747-4929-8343-039BF8F3C0FA}" destId="{4E9491C8-87FD-47AC-8134-FB1B84BA8178}" srcOrd="3" destOrd="0" presId="urn:microsoft.com/office/officeart/2005/8/layout/gear1"/>
    <dgm:cxn modelId="{5D04D1BF-3BA3-402C-BE18-1E8F6DE0196A}" type="presOf" srcId="{4EF7644E-4747-4929-8343-039BF8F3C0FA}" destId="{9357EDEB-CDE0-4B14-8402-164A56785174}" srcOrd="1" destOrd="0" presId="urn:microsoft.com/office/officeart/2005/8/layout/gear1"/>
    <dgm:cxn modelId="{C9F40ACA-794C-458D-A433-770C3D99B0E8}" srcId="{9B45AD0E-0C3C-440E-85B9-7AAF8607AD89}" destId="{4EF7644E-4747-4929-8343-039BF8F3C0FA}" srcOrd="2" destOrd="0" parTransId="{107B47C0-0A38-489E-B54A-79FB7FBACD38}" sibTransId="{B704B5FD-AC47-48D4-BD0D-49C252B6047E}"/>
    <dgm:cxn modelId="{1109E9D4-9AB4-42FA-8410-F94E2190DFE5}" type="presOf" srcId="{E9243B97-B59D-477A-B8E0-22415A8793BD}" destId="{F74FDBE3-55A7-42A3-B205-6C65CBE2B8AB}" srcOrd="2" destOrd="0" presId="urn:microsoft.com/office/officeart/2005/8/layout/gear1"/>
    <dgm:cxn modelId="{88FFFBEC-2408-47CB-9FAF-EC02D87C1480}" type="presOf" srcId="{B704B5FD-AC47-48D4-BD0D-49C252B6047E}" destId="{42AE3EAE-2C13-4C1C-9C0C-7C0ECB0E7C9C}" srcOrd="0" destOrd="0" presId="urn:microsoft.com/office/officeart/2005/8/layout/gear1"/>
    <dgm:cxn modelId="{C4A70AFB-FA7F-4036-A81B-B18B2B1DD698}" type="presOf" srcId="{87927CE3-3A3D-4BA6-894F-B7C55B4AE064}" destId="{627737FD-F84F-4C84-AE65-6D77ACAE9742}" srcOrd="0" destOrd="0" presId="urn:microsoft.com/office/officeart/2005/8/layout/gear1"/>
    <dgm:cxn modelId="{551AF0FE-1B83-4F8C-9276-5A7C27C90482}" type="presOf" srcId="{E9243B97-B59D-477A-B8E0-22415A8793BD}" destId="{806572B1-9559-47E4-8350-4842DF3E2CFA}" srcOrd="1" destOrd="0" presId="urn:microsoft.com/office/officeart/2005/8/layout/gear1"/>
    <dgm:cxn modelId="{F37FB169-0F50-42BA-BBE6-439C506D90A5}" type="presParOf" srcId="{ABB59898-890D-454D-8DE9-E73BF85117FF}" destId="{2778B97E-47C1-46B0-A31F-0E39D6942200}" srcOrd="0" destOrd="0" presId="urn:microsoft.com/office/officeart/2005/8/layout/gear1"/>
    <dgm:cxn modelId="{07868E48-CCC1-4605-92B9-275738B4EE25}" type="presParOf" srcId="{ABB59898-890D-454D-8DE9-E73BF85117FF}" destId="{8CCEE97F-2F62-41CC-8513-647EBBD2F683}" srcOrd="1" destOrd="0" presId="urn:microsoft.com/office/officeart/2005/8/layout/gear1"/>
    <dgm:cxn modelId="{514E9E36-D30B-463C-85F2-0561CB51B3FD}" type="presParOf" srcId="{ABB59898-890D-454D-8DE9-E73BF85117FF}" destId="{1EF03B6E-2559-4438-A776-72AE112EADCA}" srcOrd="2" destOrd="0" presId="urn:microsoft.com/office/officeart/2005/8/layout/gear1"/>
    <dgm:cxn modelId="{38F7A4EE-D389-4B68-94A6-BEE3516F28D9}" type="presParOf" srcId="{ABB59898-890D-454D-8DE9-E73BF85117FF}" destId="{A50FAC47-3349-41F4-96BE-F4D609F1F05F}" srcOrd="3" destOrd="0" presId="urn:microsoft.com/office/officeart/2005/8/layout/gear1"/>
    <dgm:cxn modelId="{93691CE5-D8E9-4336-9968-5049D3C36A4E}" type="presParOf" srcId="{ABB59898-890D-454D-8DE9-E73BF85117FF}" destId="{806572B1-9559-47E4-8350-4842DF3E2CFA}" srcOrd="4" destOrd="0" presId="urn:microsoft.com/office/officeart/2005/8/layout/gear1"/>
    <dgm:cxn modelId="{CF969667-9BFC-49C2-B100-7DBDD14545DF}" type="presParOf" srcId="{ABB59898-890D-454D-8DE9-E73BF85117FF}" destId="{F74FDBE3-55A7-42A3-B205-6C65CBE2B8AB}" srcOrd="5" destOrd="0" presId="urn:microsoft.com/office/officeart/2005/8/layout/gear1"/>
    <dgm:cxn modelId="{21E3FE3B-90A0-42CC-833C-285701E66741}" type="presParOf" srcId="{ABB59898-890D-454D-8DE9-E73BF85117FF}" destId="{493ABAA0-1ED7-4669-910C-A43539BF56C4}" srcOrd="6" destOrd="0" presId="urn:microsoft.com/office/officeart/2005/8/layout/gear1"/>
    <dgm:cxn modelId="{54C8ED4D-5AA6-4991-9C06-F7960FD23F85}" type="presParOf" srcId="{ABB59898-890D-454D-8DE9-E73BF85117FF}" destId="{9357EDEB-CDE0-4B14-8402-164A56785174}" srcOrd="7" destOrd="0" presId="urn:microsoft.com/office/officeart/2005/8/layout/gear1"/>
    <dgm:cxn modelId="{8FB50817-2FDC-4244-803E-93503D85C2F4}" type="presParOf" srcId="{ABB59898-890D-454D-8DE9-E73BF85117FF}" destId="{F0BFF3FA-4443-4EC3-B73F-F76CB08A3D28}" srcOrd="8" destOrd="0" presId="urn:microsoft.com/office/officeart/2005/8/layout/gear1"/>
    <dgm:cxn modelId="{2A164A6B-00E9-4682-A85F-7BA8A54E3A5C}" type="presParOf" srcId="{ABB59898-890D-454D-8DE9-E73BF85117FF}" destId="{4E9491C8-87FD-47AC-8134-FB1B84BA8178}" srcOrd="9" destOrd="0" presId="urn:microsoft.com/office/officeart/2005/8/layout/gear1"/>
    <dgm:cxn modelId="{5B49AF6C-9957-4D46-B024-E28D0E7EC5CF}" type="presParOf" srcId="{ABB59898-890D-454D-8DE9-E73BF85117FF}" destId="{91A160C8-77C1-4E19-9816-73086197F5BA}" srcOrd="10" destOrd="0" presId="urn:microsoft.com/office/officeart/2005/8/layout/gear1"/>
    <dgm:cxn modelId="{C141E2E9-B6FD-4794-8CAA-3C145B4C970D}" type="presParOf" srcId="{ABB59898-890D-454D-8DE9-E73BF85117FF}" destId="{627737FD-F84F-4C84-AE65-6D77ACAE9742}" srcOrd="11" destOrd="0" presId="urn:microsoft.com/office/officeart/2005/8/layout/gear1"/>
    <dgm:cxn modelId="{F3212523-4F54-4179-89C2-FF59D95CFE84}" type="presParOf" srcId="{ABB59898-890D-454D-8DE9-E73BF85117FF}" destId="{42AE3EAE-2C13-4C1C-9C0C-7C0ECB0E7C9C}" srcOrd="12" destOrd="0" presId="urn:microsoft.com/office/officeart/2005/8/layout/gear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8B97E-47C1-46B0-A31F-0E39D6942200}">
      <dsp:nvSpPr>
        <dsp:cNvPr id="0" name=""/>
        <dsp:cNvSpPr/>
      </dsp:nvSpPr>
      <dsp:spPr>
        <a:xfrm>
          <a:off x="2246095" y="2028058"/>
          <a:ext cx="2556510" cy="2556510"/>
        </a:xfrm>
        <a:prstGeom prst="gear9">
          <a:avLst/>
        </a:prstGeom>
        <a:solidFill>
          <a:srgbClr val="2F68D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pt-BR" sz="1400" kern="1200"/>
            <a:t>Redução Produções</a:t>
          </a:r>
        </a:p>
        <a:p>
          <a:pPr marL="0" lvl="0" indent="0" algn="ctr" defTabSz="622300">
            <a:lnSpc>
              <a:spcPct val="90000"/>
            </a:lnSpc>
            <a:spcBef>
              <a:spcPct val="0"/>
            </a:spcBef>
            <a:spcAft>
              <a:spcPct val="35000"/>
            </a:spcAft>
            <a:buNone/>
          </a:pPr>
          <a:endParaRPr lang="pt-BR" sz="1400" kern="1200"/>
        </a:p>
      </dsp:txBody>
      <dsp:txXfrm>
        <a:off x="2760067" y="2626908"/>
        <a:ext cx="1528566" cy="1314099"/>
      </dsp:txXfrm>
    </dsp:sp>
    <dsp:sp modelId="{A50FAC47-3349-41F4-96BE-F4D609F1F05F}">
      <dsp:nvSpPr>
        <dsp:cNvPr id="0" name=""/>
        <dsp:cNvSpPr/>
      </dsp:nvSpPr>
      <dsp:spPr>
        <a:xfrm>
          <a:off x="758671" y="1487424"/>
          <a:ext cx="1859280" cy="1859280"/>
        </a:xfrm>
        <a:prstGeom prst="gear6">
          <a:avLst/>
        </a:prstGeom>
        <a:solidFill>
          <a:srgbClr val="2F68D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rtl="0">
            <a:lnSpc>
              <a:spcPct val="90000"/>
            </a:lnSpc>
            <a:spcBef>
              <a:spcPct val="0"/>
            </a:spcBef>
            <a:spcAft>
              <a:spcPct val="35000"/>
            </a:spcAft>
            <a:buNone/>
          </a:pPr>
          <a:r>
            <a:rPr lang="pt-BR" sz="1400" kern="1200"/>
            <a:t>Políticas insensíveis</a:t>
          </a:r>
        </a:p>
        <a:p>
          <a:pPr marL="0" lvl="0" indent="0" algn="ctr" defTabSz="622300" rtl="0">
            <a:lnSpc>
              <a:spcPct val="90000"/>
            </a:lnSpc>
            <a:spcBef>
              <a:spcPct val="0"/>
            </a:spcBef>
            <a:spcAft>
              <a:spcPct val="35000"/>
            </a:spcAft>
            <a:buNone/>
          </a:pPr>
          <a:r>
            <a:rPr lang="pt-BR" sz="1400" kern="1200"/>
            <a:t>Desafios no comércio </a:t>
          </a:r>
        </a:p>
      </dsp:txBody>
      <dsp:txXfrm>
        <a:off x="1226750" y="1958332"/>
        <a:ext cx="923122" cy="917464"/>
      </dsp:txXfrm>
    </dsp:sp>
    <dsp:sp modelId="{493ABAA0-1ED7-4669-910C-A43539BF56C4}">
      <dsp:nvSpPr>
        <dsp:cNvPr id="0" name=""/>
        <dsp:cNvSpPr/>
      </dsp:nvSpPr>
      <dsp:spPr>
        <a:xfrm rot="20700000">
          <a:off x="1800058" y="204710"/>
          <a:ext cx="1821714" cy="1821714"/>
        </a:xfrm>
        <a:prstGeom prst="gear6">
          <a:avLst/>
        </a:prstGeom>
        <a:solidFill>
          <a:srgbClr val="2F68D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pt-BR" sz="1400" kern="1200"/>
            <a:t>Conflitos comerciais</a:t>
          </a:r>
        </a:p>
      </dsp:txBody>
      <dsp:txXfrm rot="-20700000">
        <a:off x="2199613" y="604266"/>
        <a:ext cx="1022604" cy="1022604"/>
      </dsp:txXfrm>
    </dsp:sp>
    <dsp:sp modelId="{91A160C8-77C1-4E19-9816-73086197F5BA}">
      <dsp:nvSpPr>
        <dsp:cNvPr id="0" name=""/>
        <dsp:cNvSpPr/>
      </dsp:nvSpPr>
      <dsp:spPr>
        <a:xfrm>
          <a:off x="2054528" y="1703061"/>
          <a:ext cx="3272332" cy="3272332"/>
        </a:xfrm>
        <a:prstGeom prst="circularArrow">
          <a:avLst>
            <a:gd name="adj1" fmla="val 4688"/>
            <a:gd name="adj2" fmla="val 299029"/>
            <a:gd name="adj3" fmla="val 2526040"/>
            <a:gd name="adj4" fmla="val 15840166"/>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27737FD-F84F-4C84-AE65-6D77ACAE9742}">
      <dsp:nvSpPr>
        <dsp:cNvPr id="0" name=""/>
        <dsp:cNvSpPr/>
      </dsp:nvSpPr>
      <dsp:spPr>
        <a:xfrm>
          <a:off x="429396" y="1074087"/>
          <a:ext cx="2377554" cy="2377554"/>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2AE3EAE-2C13-4C1C-9C0C-7C0ECB0E7C9C}">
      <dsp:nvSpPr>
        <dsp:cNvPr id="0" name=""/>
        <dsp:cNvSpPr/>
      </dsp:nvSpPr>
      <dsp:spPr>
        <a:xfrm rot="7740000">
          <a:off x="1378676" y="-196261"/>
          <a:ext cx="2563482" cy="2563482"/>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109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260879A6-ADC7-71D8-54CF-8ED45ACAA6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EF584FED-CA37-D71F-A13B-7438F19AD6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5F9A69-DC73-46DA-86C0-AD7FD66E3EC3}" type="datetimeFigureOut">
              <a:rPr lang="pt-BR" smtClean="0"/>
              <a:t>02/09/2026</a:t>
            </a:fld>
            <a:endParaRPr lang="pt-BR"/>
          </a:p>
        </p:txBody>
      </p:sp>
      <p:sp>
        <p:nvSpPr>
          <p:cNvPr id="4" name="Espaço Reservado para Rodapé 3">
            <a:extLst>
              <a:ext uri="{FF2B5EF4-FFF2-40B4-BE49-F238E27FC236}">
                <a16:creationId xmlns:a16="http://schemas.microsoft.com/office/drawing/2014/main" id="{2FA1912E-1DF0-A440-1BAA-7332A7AFFC4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4E8DAF1E-7313-A5BB-6A45-4605A15AF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FA407C-A7C1-488C-A159-5A86305C83F0}" type="slidenum">
              <a:rPr lang="pt-BR" smtClean="0"/>
              <a:t>‹nº›</a:t>
            </a:fld>
            <a:endParaRPr lang="pt-BR"/>
          </a:p>
        </p:txBody>
      </p:sp>
    </p:spTree>
    <p:extLst>
      <p:ext uri="{BB962C8B-B14F-4D97-AF65-F5344CB8AC3E}">
        <p14:creationId xmlns:p14="http://schemas.microsoft.com/office/powerpoint/2010/main" val="126471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D9CFA-EB31-43A8-AB6B-93B0FB27A328}" type="datetimeFigureOut">
              <a:rPr lang="pt-BR" smtClean="0"/>
              <a:t>02/09/2026</a:t>
            </a:fld>
            <a:endParaRPr lang="pt-BR"/>
          </a:p>
        </p:txBody>
      </p:sp>
      <p:sp>
        <p:nvSpPr>
          <p:cNvPr id="4" name="Espaço Reservado para Imagem de Slide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FA0280-8081-4056-A9BB-76D624A716B1}" type="slidenum">
              <a:rPr lang="pt-BR" smtClean="0"/>
              <a:t>‹nº›</a:t>
            </a:fld>
            <a:endParaRPr lang="pt-BR"/>
          </a:p>
        </p:txBody>
      </p:sp>
    </p:spTree>
    <p:extLst>
      <p:ext uri="{BB962C8B-B14F-4D97-AF65-F5344CB8AC3E}">
        <p14:creationId xmlns:p14="http://schemas.microsoft.com/office/powerpoint/2010/main" val="3262050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0FA0280-8081-4056-A9BB-76D624A716B1}" type="slidenum">
              <a:rPr lang="pt-BR" smtClean="0"/>
              <a:t>30</a:t>
            </a:fld>
            <a:endParaRPr lang="pt-BR"/>
          </a:p>
        </p:txBody>
      </p:sp>
    </p:spTree>
    <p:extLst>
      <p:ext uri="{BB962C8B-B14F-4D97-AF65-F5344CB8AC3E}">
        <p14:creationId xmlns:p14="http://schemas.microsoft.com/office/powerpoint/2010/main" val="1862235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0FA0280-8081-4056-A9BB-76D624A716B1}" type="slidenum">
              <a:rPr lang="pt-BR" smtClean="0"/>
              <a:t>31</a:t>
            </a:fld>
            <a:endParaRPr lang="pt-BR"/>
          </a:p>
        </p:txBody>
      </p:sp>
    </p:spTree>
    <p:extLst>
      <p:ext uri="{BB962C8B-B14F-4D97-AF65-F5344CB8AC3E}">
        <p14:creationId xmlns:p14="http://schemas.microsoft.com/office/powerpoint/2010/main" val="625234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B0FA0280-8081-4056-A9BB-76D624A716B1}" type="slidenum">
              <a:rPr lang="pt-BR" smtClean="0"/>
              <a:t>36</a:t>
            </a:fld>
            <a:endParaRPr lang="pt-BR"/>
          </a:p>
        </p:txBody>
      </p:sp>
    </p:spTree>
    <p:extLst>
      <p:ext uri="{BB962C8B-B14F-4D97-AF65-F5344CB8AC3E}">
        <p14:creationId xmlns:p14="http://schemas.microsoft.com/office/powerpoint/2010/main" val="807647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pt-BR"/>
              <a:t>Clique para editar o título Mestre</a:t>
            </a:r>
            <a:endParaRPr lang="en-US"/>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a:p>
        </p:txBody>
      </p:sp>
      <p:sp>
        <p:nvSpPr>
          <p:cNvPr id="4" name="Date Placeholder 3"/>
          <p:cNvSpPr>
            <a:spLocks noGrp="1"/>
          </p:cNvSpPr>
          <p:nvPr>
            <p:ph type="dt" sz="half" idx="10"/>
          </p:nvPr>
        </p:nvSpPr>
        <p:spPr/>
        <p:txBody>
          <a:bodyPr/>
          <a:lstStyle/>
          <a:p>
            <a:fld id="{29D6D7B8-5115-42F4-99C2-19C68154C71D}" type="datetime1">
              <a:rPr lang="pt-BR" smtClean="0"/>
              <a:t>02/09/2026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1236438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04830255-6BCC-43BE-8DAB-93958FD0F8BF}" type="datetime1">
              <a:rPr lang="pt-BR" smtClean="0"/>
              <a:t>02/09/2026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2500036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pt-BR"/>
              <a:t>Clique para editar o título Mestre</a:t>
            </a:r>
            <a:endParaRPr lang="en-US"/>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51CF03FD-A909-4F90-B7F9-1A405A39D19C}" type="datetime1">
              <a:rPr lang="pt-BR" smtClean="0"/>
              <a:t>02/09/2026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183294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sz="half" idx="1"/>
          </p:nvPr>
        </p:nvSpPr>
        <p:spPr>
          <a:xfrm>
            <a:off x="471488"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Content Placeholder 3"/>
          <p:cNvSpPr>
            <a:spLocks noGrp="1"/>
          </p:cNvSpPr>
          <p:nvPr>
            <p:ph sz="half" idx="2"/>
          </p:nvPr>
        </p:nvSpPr>
        <p:spPr>
          <a:xfrm>
            <a:off x="3471863"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4"/>
          <p:cNvSpPr>
            <a:spLocks noGrp="1"/>
          </p:cNvSpPr>
          <p:nvPr>
            <p:ph type="dt" sz="half" idx="10"/>
          </p:nvPr>
        </p:nvSpPr>
        <p:spPr/>
        <p:txBody>
          <a:bodyPr/>
          <a:lstStyle/>
          <a:p>
            <a:fld id="{DC336C2E-D3F0-4234-9390-A6F41A8E6AEF}" type="datetime1">
              <a:rPr lang="pt-BR" smtClean="0"/>
              <a:t>02/09/2026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2074817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pt-BR"/>
              <a:t>Clique para editar o título Mestre</a:t>
            </a:r>
            <a:endParaRPr lang="en-US"/>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618442"/>
            <a:ext cx="2901255"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618442"/>
            <a:ext cx="2915543"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Date Placeholder 6"/>
          <p:cNvSpPr>
            <a:spLocks noGrp="1"/>
          </p:cNvSpPr>
          <p:nvPr>
            <p:ph type="dt" sz="half" idx="10"/>
          </p:nvPr>
        </p:nvSpPr>
        <p:spPr/>
        <p:txBody>
          <a:bodyPr/>
          <a:lstStyle/>
          <a:p>
            <a:fld id="{E078C87F-537F-42F3-A084-422D1C83D0E9}" type="datetime1">
              <a:rPr lang="pt-BR" smtClean="0"/>
              <a:t>02/09/2026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968310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Date Placeholder 2"/>
          <p:cNvSpPr>
            <a:spLocks noGrp="1"/>
          </p:cNvSpPr>
          <p:nvPr>
            <p:ph type="dt" sz="half" idx="10"/>
          </p:nvPr>
        </p:nvSpPr>
        <p:spPr/>
        <p:txBody>
          <a:bodyPr/>
          <a:lstStyle/>
          <a:p>
            <a:fld id="{4C03C469-AF13-4EF9-B33D-9BE411E285D8}" type="datetime1">
              <a:rPr lang="pt-BR" smtClean="0"/>
              <a:t>02/09/2026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3014577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AF7348-3C21-4BC8-9BA3-712A742632A5}" type="datetime1">
              <a:rPr lang="pt-BR" smtClean="0"/>
              <a:t>02/09/2026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3098664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5E0EF02-1A52-438B-AD0E-9956E50EB7DB}" type="datetime1">
              <a:rPr lang="pt-BR" smtClean="0"/>
              <a:t>02/09/2026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590352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a:t>Clique no ícone para adicionar uma imagem</a:t>
            </a:r>
            <a:endParaRPr lang="en-US"/>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267CC915-30E1-4E43-87EB-18354FF5FA5A}" type="datetime1">
              <a:rPr lang="pt-BR" smtClean="0"/>
              <a:t>02/09/2026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1792556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AF64812D-912C-4641-A1BA-7FADC045302C}" type="datetime1">
              <a:rPr lang="pt-BR" smtClean="0"/>
              <a:t>02/09/2026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1928347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pt-BR"/>
              <a:t>Clique para editar o título Mestre</a:t>
            </a:r>
            <a:endParaRPr lang="en-US"/>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91F97470-747A-485E-A711-FC6A1EA20B2D}" type="datetime1">
              <a:rPr lang="pt-BR" smtClean="0"/>
              <a:t>02/09/2026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BDBA070-BF11-4ECF-A255-AE5E34372AE1}" type="slidenum">
              <a:rPr lang="pt-BR" smtClean="0"/>
              <a:t>‹nº›</a:t>
            </a:fld>
            <a:endParaRPr lang="pt-BR"/>
          </a:p>
        </p:txBody>
      </p:sp>
    </p:spTree>
    <p:extLst>
      <p:ext uri="{BB962C8B-B14F-4D97-AF65-F5344CB8AC3E}">
        <p14:creationId xmlns:p14="http://schemas.microsoft.com/office/powerpoint/2010/main" val="1932037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D9D66EA-8E5D-45CD-80D5-A467E7BC9230}" type="datetime1">
              <a:rPr lang="pt-BR" smtClean="0"/>
              <a:t>02/09/2026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DBDBA070-BF11-4ECF-A255-AE5E34372AE1}" type="slidenum">
              <a:rPr lang="pt-BR" smtClean="0"/>
              <a:t>‹nº›</a:t>
            </a:fld>
            <a:endParaRPr lang="pt-BR"/>
          </a:p>
        </p:txBody>
      </p:sp>
    </p:spTree>
    <p:extLst>
      <p:ext uri="{BB962C8B-B14F-4D97-AF65-F5344CB8AC3E}">
        <p14:creationId xmlns:p14="http://schemas.microsoft.com/office/powerpoint/2010/main" val="21011800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svg" /></Relationships>
</file>

<file path=ppt/slides/_rels/slide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8" Type="http://schemas.microsoft.com/office/2007/relationships/diagramDrawing" Target="../diagrams/drawing1.xml" /><Relationship Id="rId3" Type="http://schemas.openxmlformats.org/officeDocument/2006/relationships/image" Target="../media/image5.png" /><Relationship Id="rId7" Type="http://schemas.openxmlformats.org/officeDocument/2006/relationships/diagramColors" Target="../diagrams/colors1.xml" /><Relationship Id="rId2" Type="http://schemas.openxmlformats.org/officeDocument/2006/relationships/image" Target="../media/image4.png" /><Relationship Id="rId1" Type="http://schemas.openxmlformats.org/officeDocument/2006/relationships/slideLayout" Target="../slideLayouts/slideLayout1.xml" /><Relationship Id="rId6" Type="http://schemas.openxmlformats.org/officeDocument/2006/relationships/diagramQuickStyle" Target="../diagrams/quickStyle1.xml" /><Relationship Id="rId5" Type="http://schemas.openxmlformats.org/officeDocument/2006/relationships/diagramLayout" Target="../diagrams/layout1.xml" /><Relationship Id="rId4" Type="http://schemas.openxmlformats.org/officeDocument/2006/relationships/diagramData" Target="../diagrams/data1.xml" /></Relationships>
</file>

<file path=ppt/slides/_rels/slide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6.png" /></Relationships>
</file>

<file path=ppt/slides/_rels/slide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7.png" /></Relationships>
</file>

<file path=ppt/slides/_rels/slide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1.xml" /></Relationships>
</file>

<file path=ppt/slides/_rels/slide7.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2.xml" /></Relationships>
</file>

<file path=ppt/slides/_rels/slide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3.xml" /></Relationships>
</file>

<file path=ppt/slides/_rels/slide9.xml.rels><?xml version="1.0" encoding="UTF-8" standalone="yes"?>
<Relationships xmlns="http://schemas.openxmlformats.org/package/2006/relationships"><Relationship Id="rId3" Type="http://schemas.openxmlformats.org/officeDocument/2006/relationships/chart" Target="../charts/chart5.xml" /><Relationship Id="rId2" Type="http://schemas.openxmlformats.org/officeDocument/2006/relationships/chart" Target="../charts/chart4.xml" /><Relationship Id="rId1" Type="http://schemas.openxmlformats.org/officeDocument/2006/relationships/slideLayout" Target="../slideLayouts/slideLayout1.xml" /><Relationship Id="rId5" Type="http://schemas.openxmlformats.org/officeDocument/2006/relationships/image" Target="../media/image5.png" /><Relationship Id="rId4" Type="http://schemas.openxmlformats.org/officeDocument/2006/relationships/image" Target="../media/image4.png" /></Relationships>
</file>

<file path=ppt/slides/_rels/slide10.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6.xml" /></Relationships>
</file>

<file path=ppt/slides/_rels/slide1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7.xml" /></Relationships>
</file>

<file path=ppt/slides/_rels/slide1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8.xml" /></Relationships>
</file>

<file path=ppt/slides/_rels/slide1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9.xml" /></Relationships>
</file>

<file path=ppt/slides/_rels/slide1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7.xml" /><Relationship Id="rId4" Type="http://schemas.openxmlformats.org/officeDocument/2006/relationships/chart" Target="../charts/chart10.xml" /></Relationships>
</file>

<file path=ppt/slides/_rels/slide1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7.xml" /><Relationship Id="rId4" Type="http://schemas.openxmlformats.org/officeDocument/2006/relationships/chart" Target="../charts/chart11.xml" /></Relationships>
</file>

<file path=ppt/slides/_rels/slide1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7.xml" /><Relationship Id="rId4" Type="http://schemas.openxmlformats.org/officeDocument/2006/relationships/chart" Target="../charts/chart12.xml" /></Relationships>
</file>

<file path=ppt/slides/_rels/slide17.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13.xml" /></Relationships>
</file>

<file path=ppt/slides/_rels/slide1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14.xml" /></Relationships>
</file>

<file path=ppt/slides/_rels/slide1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7.xml" /><Relationship Id="rId5" Type="http://schemas.openxmlformats.org/officeDocument/2006/relationships/image" Target="../media/image9.png" /><Relationship Id="rId4" Type="http://schemas.openxmlformats.org/officeDocument/2006/relationships/image" Target="../media/image8.png" /></Relationships>
</file>

<file path=ppt/slides/_rels/slide20.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15.xml" /></Relationships>
</file>

<file path=ppt/slides/_rels/slide21.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16.xml" /></Relationships>
</file>

<file path=ppt/slides/_rels/slide2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0.png" /></Relationships>
</file>

<file path=ppt/slides/_rels/slide2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1.png" /></Relationships>
</file>

<file path=ppt/slides/_rels/slide2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2.png" /></Relationships>
</file>

<file path=ppt/slides/_rels/slide2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3.png" /></Relationships>
</file>

<file path=ppt/slides/_rels/slide2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4.png" /></Relationships>
</file>

<file path=ppt/slides/_rels/slide27.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5.png" /></Relationships>
</file>

<file path=ppt/slides/_rels/slide30.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chart" Target="../charts/chart17.xml" /><Relationship Id="rId4" Type="http://schemas.openxmlformats.org/officeDocument/2006/relationships/image" Target="../media/image5.png" /></Relationships>
</file>

<file path=ppt/slides/_rels/slide3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image" Target="../media/image5.png" /></Relationships>
</file>

<file path=ppt/slides/_rels/slide3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image" Target="../media/image16.png" /></Relationships>
</file>

<file path=ppt/slides/_rels/slide3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1.xml" /><Relationship Id="rId4" Type="http://schemas.openxmlformats.org/officeDocument/2006/relationships/chart" Target="../charts/chart18.xml" /></Relationships>
</file>

<file path=ppt/slides/_rels/slide3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8" Type="http://schemas.openxmlformats.org/officeDocument/2006/relationships/image" Target="../media/image22.png" /><Relationship Id="rId3" Type="http://schemas.openxmlformats.org/officeDocument/2006/relationships/image" Target="../media/image17.jpeg" /><Relationship Id="rId7" Type="http://schemas.openxmlformats.org/officeDocument/2006/relationships/image" Target="../media/image21.png" /><Relationship Id="rId2" Type="http://schemas.openxmlformats.org/officeDocument/2006/relationships/notesSlide" Target="../notesSlides/notesSlide3.xml" /><Relationship Id="rId1" Type="http://schemas.openxmlformats.org/officeDocument/2006/relationships/slideLayout" Target="../slideLayouts/slideLayout1.xml" /><Relationship Id="rId6" Type="http://schemas.openxmlformats.org/officeDocument/2006/relationships/image" Target="../media/image20.png" /><Relationship Id="rId5" Type="http://schemas.openxmlformats.org/officeDocument/2006/relationships/image" Target="../media/image19.svg" /><Relationship Id="rId4" Type="http://schemas.openxmlformats.org/officeDocument/2006/relationships/image" Target="../media/image18.png" /><Relationship Id="rId9" Type="http://schemas.openxmlformats.org/officeDocument/2006/relationships/image" Target="../media/image23.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Imagem 30">
            <a:extLst>
              <a:ext uri="{FF2B5EF4-FFF2-40B4-BE49-F238E27FC236}">
                <a16:creationId xmlns:a16="http://schemas.microsoft.com/office/drawing/2014/main" id="{D52A85A6-ED6D-E0AA-5A80-31C12858C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 y="-20320"/>
            <a:ext cx="6858000" cy="8345424"/>
          </a:xfrm>
          <a:prstGeom prst="rect">
            <a:avLst/>
          </a:prstGeom>
        </p:spPr>
      </p:pic>
      <p:sp>
        <p:nvSpPr>
          <p:cNvPr id="4" name="Espaço Reservado para Número de Slide 3">
            <a:extLst>
              <a:ext uri="{FF2B5EF4-FFF2-40B4-BE49-F238E27FC236}">
                <a16:creationId xmlns:a16="http://schemas.microsoft.com/office/drawing/2014/main" id="{07477839-6D48-5177-4CEB-CF4B89ABCA6E}"/>
              </a:ext>
            </a:extLst>
          </p:cNvPr>
          <p:cNvSpPr>
            <a:spLocks noGrp="1"/>
          </p:cNvSpPr>
          <p:nvPr>
            <p:ph type="sldNum" sz="quarter" idx="12"/>
          </p:nvPr>
        </p:nvSpPr>
        <p:spPr/>
        <p:txBody>
          <a:bodyPr/>
          <a:lstStyle/>
          <a:p>
            <a:fld id="{DBDBA070-BF11-4ECF-A255-AE5E34372AE1}" type="slidenum">
              <a:rPr lang="pt-BR" smtClean="0"/>
              <a:t>1</a:t>
            </a:fld>
            <a:endParaRPr lang="pt-BR"/>
          </a:p>
        </p:txBody>
      </p:sp>
      <p:sp>
        <p:nvSpPr>
          <p:cNvPr id="6" name="CaixaDeTexto 5">
            <a:extLst>
              <a:ext uri="{FF2B5EF4-FFF2-40B4-BE49-F238E27FC236}">
                <a16:creationId xmlns:a16="http://schemas.microsoft.com/office/drawing/2014/main" id="{933AD7EA-3350-F5F5-BA0E-58F696E69812}"/>
              </a:ext>
            </a:extLst>
          </p:cNvPr>
          <p:cNvSpPr txBox="1"/>
          <p:nvPr/>
        </p:nvSpPr>
        <p:spPr>
          <a:xfrm>
            <a:off x="1714500" y="4768334"/>
            <a:ext cx="3429000" cy="369332"/>
          </a:xfrm>
          <a:prstGeom prst="rect">
            <a:avLst/>
          </a:prstGeom>
          <a:noFill/>
        </p:spPr>
        <p:txBody>
          <a:bodyPr wrap="square">
            <a:spAutoFit/>
          </a:bodyPr>
          <a:lstStyle/>
          <a:p>
            <a:endParaRPr lang="pt-BR"/>
          </a:p>
        </p:txBody>
      </p:sp>
      <p:sp>
        <p:nvSpPr>
          <p:cNvPr id="8" name="CaixaDeTexto 7">
            <a:extLst>
              <a:ext uri="{FF2B5EF4-FFF2-40B4-BE49-F238E27FC236}">
                <a16:creationId xmlns:a16="http://schemas.microsoft.com/office/drawing/2014/main" id="{6422E89B-75C7-F367-026B-3F25D53E7F28}"/>
              </a:ext>
            </a:extLst>
          </p:cNvPr>
          <p:cNvSpPr txBox="1"/>
          <p:nvPr/>
        </p:nvSpPr>
        <p:spPr>
          <a:xfrm>
            <a:off x="1714500" y="4768334"/>
            <a:ext cx="3429000" cy="369332"/>
          </a:xfrm>
          <a:prstGeom prst="rect">
            <a:avLst/>
          </a:prstGeom>
          <a:noFill/>
        </p:spPr>
        <p:txBody>
          <a:bodyPr wrap="square">
            <a:spAutoFit/>
          </a:bodyPr>
          <a:lstStyle/>
          <a:p>
            <a:endParaRPr lang="pt-BR"/>
          </a:p>
        </p:txBody>
      </p:sp>
      <p:sp>
        <p:nvSpPr>
          <p:cNvPr id="26" name="Freeform 2">
            <a:extLst>
              <a:ext uri="{FF2B5EF4-FFF2-40B4-BE49-F238E27FC236}">
                <a16:creationId xmlns:a16="http://schemas.microsoft.com/office/drawing/2014/main" id="{36BBA2F0-BF9A-E6EB-531A-9A347379C308}"/>
              </a:ext>
            </a:extLst>
          </p:cNvPr>
          <p:cNvSpPr/>
          <p:nvPr/>
        </p:nvSpPr>
        <p:spPr>
          <a:xfrm>
            <a:off x="-3" y="7055041"/>
            <a:ext cx="6858000" cy="2891599"/>
          </a:xfrm>
          <a:custGeom>
            <a:avLst/>
            <a:gdLst/>
            <a:ahLst/>
            <a:cxnLst/>
            <a:rect l="l" t="t" r="r" b="b"/>
            <a:pathLst>
              <a:path w="7223784" h="2383849">
                <a:moveTo>
                  <a:pt x="0" y="0"/>
                </a:moveTo>
                <a:lnTo>
                  <a:pt x="7223784" y="0"/>
                </a:lnTo>
                <a:lnTo>
                  <a:pt x="7223784" y="2383849"/>
                </a:lnTo>
                <a:lnTo>
                  <a:pt x="0" y="23838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pt-BR"/>
          </a:p>
        </p:txBody>
      </p:sp>
      <p:sp>
        <p:nvSpPr>
          <p:cNvPr id="25" name="TextBox 9">
            <a:extLst>
              <a:ext uri="{FF2B5EF4-FFF2-40B4-BE49-F238E27FC236}">
                <a16:creationId xmlns:a16="http://schemas.microsoft.com/office/drawing/2014/main" id="{4D2145E1-4D7A-14FB-4BEE-E5B2549B9170}"/>
              </a:ext>
            </a:extLst>
          </p:cNvPr>
          <p:cNvSpPr txBox="1"/>
          <p:nvPr/>
        </p:nvSpPr>
        <p:spPr>
          <a:xfrm>
            <a:off x="491640" y="7888665"/>
            <a:ext cx="5874707" cy="1395126"/>
          </a:xfrm>
          <a:prstGeom prst="rect">
            <a:avLst/>
          </a:prstGeom>
        </p:spPr>
        <p:txBody>
          <a:bodyPr wrap="square" lIns="0" tIns="0" rIns="0" bIns="0" rtlCol="0" anchor="t">
            <a:spAutoFit/>
          </a:bodyPr>
          <a:lstStyle/>
          <a:p>
            <a:pPr algn="ctr" defTabSz="914400">
              <a:lnSpc>
                <a:spcPts val="5574"/>
              </a:lnSpc>
            </a:pPr>
            <a:r>
              <a:rPr lang="pt-BR" sz="4400" b="1">
                <a:solidFill>
                  <a:srgbClr val="FFB700"/>
                </a:solidFill>
                <a:latin typeface="Harabara" panose="020B0803050302020204" pitchFamily="34" charset="0"/>
              </a:rPr>
              <a:t>Boletim de Conjuntura Industrial </a:t>
            </a:r>
          </a:p>
        </p:txBody>
      </p:sp>
      <p:sp>
        <p:nvSpPr>
          <p:cNvPr id="27" name="Elipse 26">
            <a:extLst>
              <a:ext uri="{FF2B5EF4-FFF2-40B4-BE49-F238E27FC236}">
                <a16:creationId xmlns:a16="http://schemas.microsoft.com/office/drawing/2014/main" id="{D44C4439-E108-EFD5-F3AE-E634F6922192}"/>
              </a:ext>
            </a:extLst>
          </p:cNvPr>
          <p:cNvSpPr/>
          <p:nvPr/>
        </p:nvSpPr>
        <p:spPr>
          <a:xfrm>
            <a:off x="5488941" y="5710607"/>
            <a:ext cx="1208930" cy="1230172"/>
          </a:xfrm>
          <a:prstGeom prst="ellipse">
            <a:avLst/>
          </a:prstGeom>
          <a:solidFill>
            <a:srgbClr val="04014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b="1">
                <a:solidFill>
                  <a:srgbClr val="FFB700"/>
                </a:solidFill>
              </a:rPr>
              <a:t>Edição </a:t>
            </a:r>
            <a:r>
              <a:rPr lang="pt-BR" sz="2000" b="1">
                <a:solidFill>
                  <a:srgbClr val="FFB700"/>
                </a:solidFill>
              </a:rPr>
              <a:t>44</a:t>
            </a:r>
            <a:endParaRPr lang="pt-BR" b="1">
              <a:solidFill>
                <a:srgbClr val="FFB700"/>
              </a:solidFill>
            </a:endParaRPr>
          </a:p>
        </p:txBody>
      </p:sp>
      <p:sp>
        <p:nvSpPr>
          <p:cNvPr id="7" name="Retângulo 6">
            <a:extLst>
              <a:ext uri="{FF2B5EF4-FFF2-40B4-BE49-F238E27FC236}">
                <a16:creationId xmlns:a16="http://schemas.microsoft.com/office/drawing/2014/main" id="{9FCD15F8-8563-14B9-04B0-66263103BD68}"/>
              </a:ext>
            </a:extLst>
          </p:cNvPr>
          <p:cNvSpPr/>
          <p:nvPr/>
        </p:nvSpPr>
        <p:spPr>
          <a:xfrm>
            <a:off x="0" y="-41308"/>
            <a:ext cx="6858000" cy="842973"/>
          </a:xfrm>
          <a:prstGeom prst="rect">
            <a:avLst/>
          </a:prstGeom>
          <a:solidFill>
            <a:srgbClr val="2F68D3">
              <a:alpha val="70000"/>
            </a:srgbClr>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9" name="Imagem 8">
            <a:extLst>
              <a:ext uri="{FF2B5EF4-FFF2-40B4-BE49-F238E27FC236}">
                <a16:creationId xmlns:a16="http://schemas.microsoft.com/office/drawing/2014/main" id="{23451541-2B76-FB42-5E4C-39A46F4D21BF}"/>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246282" y="277309"/>
            <a:ext cx="1020517" cy="310592"/>
          </a:xfrm>
          <a:prstGeom prst="rect">
            <a:avLst/>
          </a:prstGeom>
        </p:spPr>
      </p:pic>
      <p:pic>
        <p:nvPicPr>
          <p:cNvPr id="10" name="Imagem 9">
            <a:extLst>
              <a:ext uri="{FF2B5EF4-FFF2-40B4-BE49-F238E27FC236}">
                <a16:creationId xmlns:a16="http://schemas.microsoft.com/office/drawing/2014/main" id="{5D67942F-2824-EEF3-3D60-1756BBBE2628}"/>
              </a:ext>
            </a:extLst>
          </p:cNvPr>
          <p:cNvPicPr>
            <a:picLocks noChangeAspect="1"/>
          </p:cNvPicPr>
          <p:nvPr/>
        </p:nvPicPr>
        <p:blipFill rotWithShape="1">
          <a:blip r:embed="rId6">
            <a:extLst>
              <a:ext uri="{28A0092B-C50C-407E-A947-70E740481C1C}">
                <a14:useLocalDpi xmlns:a14="http://schemas.microsoft.com/office/drawing/2010/main" val="0"/>
              </a:ext>
            </a:extLst>
          </a:blip>
          <a:srcRect b="28543"/>
          <a:stretch/>
        </p:blipFill>
        <p:spPr>
          <a:xfrm>
            <a:off x="1482675" y="117559"/>
            <a:ext cx="1311039" cy="470342"/>
          </a:xfrm>
          <a:prstGeom prst="rect">
            <a:avLst/>
          </a:prstGeom>
        </p:spPr>
      </p:pic>
    </p:spTree>
    <p:extLst>
      <p:ext uri="{BB962C8B-B14F-4D97-AF65-F5344CB8AC3E}">
        <p14:creationId xmlns:p14="http://schemas.microsoft.com/office/powerpoint/2010/main" val="922964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sz="1800" b="1">
                <a:highlight>
                  <a:schemeClr val="lt1"/>
                </a:highlight>
                <a:latin typeface="Nunito"/>
                <a:ea typeface="Nunito"/>
                <a:cs typeface="Nunito"/>
                <a:sym typeface="Nunito"/>
              </a:rPr>
              <a:t>Editoria</a:t>
            </a:r>
            <a:r>
              <a:rPr lang="pt-BR" b="1">
                <a:highlight>
                  <a:schemeClr val="lt1"/>
                </a:highlight>
                <a:latin typeface="Nunito"/>
                <a:ea typeface="Nunito"/>
                <a:cs typeface="Nunito"/>
                <a:sym typeface="Nunito"/>
              </a:rPr>
              <a:t>l </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a:t>
            </a:fld>
            <a:endParaRPr lang="pt-BR"/>
          </a:p>
        </p:txBody>
      </p:sp>
      <p:sp>
        <p:nvSpPr>
          <p:cNvPr id="2" name="CaixaDeTexto 22">
            <a:extLst>
              <a:ext uri="{FF2B5EF4-FFF2-40B4-BE49-F238E27FC236}">
                <a16:creationId xmlns:a16="http://schemas.microsoft.com/office/drawing/2014/main" id="{3B7FEDC3-6A48-BC9F-A9F4-0EBB44FDDB14}"/>
              </a:ext>
            </a:extLst>
          </p:cNvPr>
          <p:cNvSpPr txBox="1"/>
          <p:nvPr/>
        </p:nvSpPr>
        <p:spPr>
          <a:xfrm>
            <a:off x="355600" y="1275357"/>
            <a:ext cx="6156268" cy="6804000"/>
          </a:xfrm>
          <a:prstGeom prst="rect">
            <a:avLst/>
          </a:prstGeom>
          <a:noFill/>
        </p:spPr>
        <p:txBody>
          <a:bodyPr wrap="square" lIns="91440" tIns="45720" rIns="91440" bIns="45720" numCol="2" spcCol="28800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pt-BR" sz="1100">
                <a:ea typeface="Calibri"/>
                <a:cs typeface="Calibri"/>
              </a:rPr>
              <a:t>  O setor metalomecânico brasileiro atravessou 2025 com sinais claros de desaceleração no segundo semestre, após um início de ano mais favorável. Os Indicadores Industriais da Confederação Nacional da Indústria (CNI) mostram que o faturamento real da indústria de transformação terminou 2025 praticamente estável (+0,1% em relação a 2024), enquanto o número de horas trabalhadas na produção ainda fechou o ano com alta moderada (+0,8%), sustentada pelos resultados do primeiro semestre. Já a Utilização da Capacidade Instalada (UCI) recuou ao final do ano — em dezembro de 2025, caiu para 76,8% (série dessazonalizada) —, reforçando o diagnóstico de perda de ritmo em um ambiente de juros elevados, crédito mais caro e competição crescente de importados.</a:t>
            </a:r>
            <a:endParaRPr lang="pt-BR" sz="1100"/>
          </a:p>
          <a:p>
            <a:pPr algn="just"/>
            <a:r>
              <a:rPr lang="pt-BR" sz="1100">
                <a:ea typeface="Calibri"/>
                <a:cs typeface="Calibri"/>
              </a:rPr>
              <a:t>  No núcleo da cadeia metalomecânica, o segmento de máquinas e equipamentos encerrou 2025 com crescimento, mas sob um quadro de pressão competitiva. Segundo a ABIMAQ, a receita líquida total do setor atingiu R$ 298,9 bilhões em 2025 (+7,3%), com expansão do mercado interno (R$ 221,7 bilhões; +8,4%) e avanço das exportações (US$ 13,8 bilhões; +5,0%). Ainda assim, a elevada penetração de importados se manteve como desafio estrutural: as importações alcançaram novo recorde (US$ 32,2 bilhões; +8,3%), ampliando o déficit comercial e evidenciando perda de espaço do produto nacional em segmentos sensíveis a preço, prazo e escala. Para 2026, a própria ABIMAQ indica um ciclo de investimento em modernização, com previsão de cerca de R$ 10 bilhões em aportes, em um cenário que tende a seguir condicionado pela política monetária e pela trajetória da demanda. Nesse contexto, a Nova Indústria Brasil (NIB), conduzida no âmbito do Conselho Nacional de Desenvolvimento Industrial (CNDI), permanece como referência para o reposicionamento competitivo — especialmente em digitalização, adensamento produtivo e transição para padrões industriais mais sustentáveis.</a:t>
            </a:r>
            <a:endParaRPr lang="pt-BR" sz="1100"/>
          </a:p>
          <a:p>
            <a:pPr algn="just"/>
            <a:r>
              <a:rPr lang="pt-BR" sz="1100">
                <a:ea typeface="Calibri"/>
                <a:cs typeface="Calibri"/>
              </a:rPr>
              <a:t>  Apesar das iniciativas em curso, persistem entraves estruturais que limitam a competitividade. A escassez de mão de obra qualificada, a defasagem tecnológica em parte do parque industrial e a complexidade tributária seguem como fatores de custo e de incerteza. A digitalização, por exemplo, demanda mais do que a compra de equipamentos: requer integração de dados, cibersegurança, capacitação contínua e mudança de processos nas plantas. Do lado ambiental, a sustentabilidade deixou de ser diferencial e passou a ser requisito de mercado. Eficiência energética, rastreabilidade e conformidade com padrões ESG condicionam o acesso a clientes mais exigentes, a financiamentos e a mercados externos, além de se tornarem determinantes na atração de investimentos.</a:t>
            </a:r>
            <a:endParaRPr lang="pt-BR" sz="1100"/>
          </a:p>
          <a:p>
            <a:pPr algn="just"/>
            <a:r>
              <a:rPr lang="pt-BR" sz="1100">
                <a:ea typeface="Calibri"/>
                <a:cs typeface="Calibri"/>
              </a:rPr>
              <a:t>  Em 2026, o setor metalomecânico brasileiro se encontra em um ponto de inflexão. A alternativa é clara: avançar em inovação, produtividade e transição para uma indústria mais digital e sustentável, ou continuar perdendo espaço para concorrentes internacionais com maior escala, eficiência e intensidade tecnológica. O momento exige visão estratégica, disciplina de investimento e coordenação entre empresas, governo e instituições de ensino e pesquisa — tanto para formar competências quanto para acelerar a difusão tecnológica. As organizações que conseguirem transformar este ciclo em modernização efetiva tendem a sair mais robustas, competitivas e preparadas para um mercado global cada vez mais dinâmico e exigente.</a:t>
            </a:r>
            <a:endParaRPr lang="pt-BR" sz="1100"/>
          </a:p>
          <a:p>
            <a:pPr algn="just"/>
            <a:endParaRPr lang="pt-BR" sz="1100">
              <a:ea typeface="Calibri"/>
              <a:cs typeface="Calibri"/>
            </a:endParaRPr>
          </a:p>
        </p:txBody>
      </p:sp>
    </p:spTree>
    <p:extLst>
      <p:ext uri="{BB962C8B-B14F-4D97-AF65-F5344CB8AC3E}">
        <p14:creationId xmlns:p14="http://schemas.microsoft.com/office/powerpoint/2010/main" val="3656878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EDC5-DCD9-FD3D-1FBC-CE538D8D20FA}"/>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13611452-747B-2F4F-36FA-E9895FE9C0B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735EDA19-5A20-07E7-00DC-3C29B647D4AF}"/>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77116817-6A2B-0ABE-6595-E5DF3979D2F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FAA666D9-9D4F-7A7D-1B21-BA8DAEEBDC7D}"/>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67B23227-56E9-8119-A2AF-DEB3537FB343}"/>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03438B55-0851-2349-32EA-37B25B332F6C}"/>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B6CEA0C5-581F-2B5F-A660-E1A5C75F6B3C}"/>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2AE39ACA-1975-B28E-2453-93C0C134D854}"/>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DE8BD064-D897-F6A0-E9F1-D252C2BAC374}"/>
              </a:ext>
            </a:extLst>
          </p:cNvPr>
          <p:cNvSpPr txBox="1"/>
          <p:nvPr/>
        </p:nvSpPr>
        <p:spPr>
          <a:xfrm>
            <a:off x="646958" y="1054779"/>
            <a:ext cx="4127500"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pPr>
            <a:r>
              <a:rPr lang="pt-BR" b="1">
                <a:highlight>
                  <a:srgbClr val="FFFFFF"/>
                </a:highlight>
                <a:latin typeface="Nunito"/>
                <a:sym typeface="Nunito"/>
              </a:rPr>
              <a:t>Release</a:t>
            </a:r>
            <a:endParaRPr lang="pt-BR"/>
          </a:p>
        </p:txBody>
      </p:sp>
      <p:sp>
        <p:nvSpPr>
          <p:cNvPr id="8" name="Espaço Reservado para Número de Slide 7">
            <a:extLst>
              <a:ext uri="{FF2B5EF4-FFF2-40B4-BE49-F238E27FC236}">
                <a16:creationId xmlns:a16="http://schemas.microsoft.com/office/drawing/2014/main" id="{59C470EB-6544-3AA7-AF0A-0C04909214DA}"/>
              </a:ext>
            </a:extLst>
          </p:cNvPr>
          <p:cNvSpPr>
            <a:spLocks noGrp="1"/>
          </p:cNvSpPr>
          <p:nvPr>
            <p:ph type="sldNum" sz="quarter" idx="12"/>
          </p:nvPr>
        </p:nvSpPr>
        <p:spPr/>
        <p:txBody>
          <a:bodyPr/>
          <a:lstStyle/>
          <a:p>
            <a:fld id="{DBDBA070-BF11-4ECF-A255-AE5E34372AE1}" type="slidenum">
              <a:rPr lang="pt-BR" smtClean="0"/>
              <a:t>3</a:t>
            </a:fld>
            <a:endParaRPr lang="pt-BR"/>
          </a:p>
        </p:txBody>
      </p:sp>
      <p:graphicFrame>
        <p:nvGraphicFramePr>
          <p:cNvPr id="2" name="Diagrama 1">
            <a:extLst>
              <a:ext uri="{FF2B5EF4-FFF2-40B4-BE49-F238E27FC236}">
                <a16:creationId xmlns:a16="http://schemas.microsoft.com/office/drawing/2014/main" id="{3E62C980-10D8-ED98-067E-E313FC1AC861}"/>
              </a:ext>
            </a:extLst>
          </p:cNvPr>
          <p:cNvGraphicFramePr/>
          <p:nvPr>
            <p:extLst>
              <p:ext uri="{D42A27DB-BD31-4B8C-83A1-F6EECF244321}">
                <p14:modId xmlns:p14="http://schemas.microsoft.com/office/powerpoint/2010/main" val="2377606410"/>
              </p:ext>
            </p:extLst>
          </p:nvPr>
        </p:nvGraphicFramePr>
        <p:xfrm>
          <a:off x="757989" y="1828800"/>
          <a:ext cx="4957011" cy="4648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6769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505D4-4344-E7D0-D302-F30DBD6A1780}"/>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8896F990-F124-27CB-6CCE-10468C26FBD0}"/>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F3B091C0-2278-2A89-9A2E-73179BD2C704}"/>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73361FA5-A51D-B1A1-D47D-5B296E1BEE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1A68A273-56BE-8EE3-F10D-3F011AC2E782}"/>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9C0B4B11-1052-F59A-4789-73DB814B00E3}"/>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EB68F360-E3E5-685E-9899-76691B1C37DA}"/>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9EECF25A-FB6A-43B3-800D-131C2BF262EF}"/>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BC67C0EB-3C11-4F03-8640-C2349B1899A3}"/>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83FF51B0-9FA4-DFCE-039B-E3622CBF668B}"/>
              </a:ext>
            </a:extLst>
          </p:cNvPr>
          <p:cNvSpPr txBox="1"/>
          <p:nvPr/>
        </p:nvSpPr>
        <p:spPr>
          <a:xfrm>
            <a:off x="350865" y="906026"/>
            <a:ext cx="6473658" cy="369332"/>
          </a:xfrm>
          <a:prstGeom prst="rect">
            <a:avLst/>
          </a:prstGeom>
          <a:noFill/>
        </p:spPr>
        <p:txBody>
          <a:bodyPr wrap="square" lIns="91440" tIns="45720" rIns="91440" bIns="45720" anchor="t">
            <a:spAutoFit/>
          </a:bodyPr>
          <a:lstStyle/>
          <a:p>
            <a:pPr>
              <a:spcBef>
                <a:spcPts val="2400"/>
              </a:spcBef>
              <a:spcAft>
                <a:spcPts val="600"/>
              </a:spcAft>
            </a:pPr>
            <a:r>
              <a:rPr lang="pt-BR" b="1" dirty="0">
                <a:highlight>
                  <a:srgbClr val="FFFFFF"/>
                </a:highlight>
                <a:latin typeface="Nunito"/>
                <a:sym typeface="Nunito"/>
              </a:rPr>
              <a:t>Pesquisa de Estabilidade Financeira – 1º Tri de 2026</a:t>
            </a:r>
            <a:endParaRPr lang="pt-BR" dirty="0"/>
          </a:p>
        </p:txBody>
      </p:sp>
      <p:sp>
        <p:nvSpPr>
          <p:cNvPr id="23" name="CaixaDeTexto 22">
            <a:extLst>
              <a:ext uri="{FF2B5EF4-FFF2-40B4-BE49-F238E27FC236}">
                <a16:creationId xmlns:a16="http://schemas.microsoft.com/office/drawing/2014/main" id="{CFD5B893-8E64-2B92-E803-B6C375590F21}"/>
              </a:ext>
            </a:extLst>
          </p:cNvPr>
          <p:cNvSpPr txBox="1"/>
          <p:nvPr/>
        </p:nvSpPr>
        <p:spPr>
          <a:xfrm>
            <a:off x="350869" y="3712067"/>
            <a:ext cx="6172441" cy="5868000"/>
          </a:xfrm>
          <a:prstGeom prst="rect">
            <a:avLst/>
          </a:prstGeom>
          <a:noFill/>
        </p:spPr>
        <p:txBody>
          <a:bodyPr wrap="square" lIns="91440" tIns="45720" rIns="91440" bIns="45720" numCol="2" spcCol="288000" rtlCol="0" anchor="t">
            <a:spAutoFit/>
          </a:bodyPr>
          <a:lstStyle/>
          <a:p>
            <a:pPr algn="just">
              <a:lnSpc>
                <a:spcPct val="150000"/>
              </a:lnSpc>
            </a:pPr>
            <a:r>
              <a:rPr lang="pt-BR" sz="1100" dirty="0">
                <a:ea typeface="+mn-lt"/>
                <a:cs typeface="+mn-lt"/>
              </a:rPr>
              <a:t>  A Pesquisa de Estabilidade Financeira (PEF) é realizada trimestralmente pelo Banco Central do Brasil junto a instituições do Sistema Financeiro Nacional, como bancos, seguradoras, cooperativas e gestoras de recursos. Seu objetivo é captar a percepção dessas instituições sobre a estabilidade do sistema em várias dimensões, como riscos prospectivos, nível de confiança e dinâmica dos ciclos econômico e financeiro. </a:t>
            </a:r>
          </a:p>
          <a:p>
            <a:pPr algn="just">
              <a:lnSpc>
                <a:spcPct val="150000"/>
              </a:lnSpc>
            </a:pPr>
            <a:r>
              <a:rPr lang="pt-BR" sz="1100" dirty="0">
                <a:ea typeface="+mn-lt"/>
                <a:cs typeface="+mn-lt"/>
              </a:rPr>
              <a:t>  A pesquisa do primeiro trimestre de 2026 aponta a continuidade das preocupações fiscais no centro do radar do mercado. Os riscos fiscais mantêm-se como a principal ameaça à estabilidade, apontados como o risco mais importante por 40% das instituições, com foco na sustentabilidade da dívida pública e em seus impactos na política monetária. O risco atrelado a inadimplência e atividade figura na segunda posição, com 22%, impulsionado pelo alto endividamento das famílias e empresas em um cenário de taxas de juros elevadas. O cenário internacional aparece em seguida, com 19%, refletindo incertezas relacionadas a conflitos geopolíticos e à política econômica dos Estados Unidos. Destaca-se ainda a menção a riscos políticos (4%), associados à judicialização e questionamentos sobre a competência dos reguladores do sistema. </a:t>
            </a:r>
          </a:p>
          <a:p>
            <a:pPr algn="just">
              <a:lnSpc>
                <a:spcPct val="150000"/>
              </a:lnSpc>
            </a:pPr>
            <a:r>
              <a:rPr lang="pt-BR" sz="1100" dirty="0">
                <a:ea typeface="+mn-lt"/>
                <a:cs typeface="+mn-lt"/>
              </a:rPr>
              <a:t>  No que tange os ciclos econômicos, a maioria das instituições avalia que a economia continua em ritmo de contração. Além disso, o mercado vê o endividamento de famílias e empresas estabilizado em um nível muito alto, o que deve continuar provocando o aumento da inadimplência. Apesar desse sinal de alerta, a confiança na estabilidade do Sistema Financeiro Nacional permanece elevada, mesmo com uma leve redução na comparação com o trimestre anterior. Essa segurança fica clara quando olhamos para o Adicional Contracíclico de Capital Principal (ACCP Brasil): quase todas as instituições pesquisadas (97%) esperam e sugerem que o valor atual seja mantido.</a:t>
            </a:r>
          </a:p>
        </p:txBody>
      </p:sp>
      <p:sp>
        <p:nvSpPr>
          <p:cNvPr id="8" name="Espaço Reservado para Número de Slide 7">
            <a:extLst>
              <a:ext uri="{FF2B5EF4-FFF2-40B4-BE49-F238E27FC236}">
                <a16:creationId xmlns:a16="http://schemas.microsoft.com/office/drawing/2014/main" id="{829012FB-B7A6-595D-4915-9D08B014BAFC}"/>
              </a:ext>
            </a:extLst>
          </p:cNvPr>
          <p:cNvSpPr>
            <a:spLocks noGrp="1"/>
          </p:cNvSpPr>
          <p:nvPr>
            <p:ph type="sldNum" sz="quarter" idx="12"/>
          </p:nvPr>
        </p:nvSpPr>
        <p:spPr/>
        <p:txBody>
          <a:bodyPr/>
          <a:lstStyle/>
          <a:p>
            <a:fld id="{DBDBA070-BF11-4ECF-A255-AE5E34372AE1}" type="slidenum">
              <a:rPr lang="pt-BR" smtClean="0"/>
              <a:t>4</a:t>
            </a:fld>
            <a:endParaRPr lang="pt-BR"/>
          </a:p>
        </p:txBody>
      </p:sp>
      <p:sp>
        <p:nvSpPr>
          <p:cNvPr id="6" name="CaixaDeTexto 5">
            <a:extLst>
              <a:ext uri="{FF2B5EF4-FFF2-40B4-BE49-F238E27FC236}">
                <a16:creationId xmlns:a16="http://schemas.microsoft.com/office/drawing/2014/main" id="{D54165A3-FF4F-8F55-C35E-038FC2DBADA1}"/>
              </a:ext>
            </a:extLst>
          </p:cNvPr>
          <p:cNvSpPr txBox="1"/>
          <p:nvPr/>
        </p:nvSpPr>
        <p:spPr>
          <a:xfrm>
            <a:off x="4905378" y="3562033"/>
            <a:ext cx="202066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900">
                <a:cs typeface="Calibri"/>
              </a:rPr>
              <a:t>Reprodução: Banco Central.</a:t>
            </a:r>
            <a:endParaRPr lang="pt-BR"/>
          </a:p>
        </p:txBody>
      </p:sp>
      <p:pic>
        <p:nvPicPr>
          <p:cNvPr id="3" name="Imagem 2">
            <a:extLst>
              <a:ext uri="{FF2B5EF4-FFF2-40B4-BE49-F238E27FC236}">
                <a16:creationId xmlns:a16="http://schemas.microsoft.com/office/drawing/2014/main" id="{3364FCE1-7D0A-4F45-DE51-FFF836CE1BEA}"/>
              </a:ext>
            </a:extLst>
          </p:cNvPr>
          <p:cNvPicPr>
            <a:picLocks noChangeAspect="1"/>
          </p:cNvPicPr>
          <p:nvPr/>
        </p:nvPicPr>
        <p:blipFill>
          <a:blip r:embed="rId4"/>
          <a:stretch>
            <a:fillRect/>
          </a:stretch>
        </p:blipFill>
        <p:spPr>
          <a:xfrm>
            <a:off x="350865" y="1371258"/>
            <a:ext cx="6156268" cy="1813946"/>
          </a:xfrm>
          <a:prstGeom prst="rect">
            <a:avLst/>
          </a:prstGeom>
        </p:spPr>
      </p:pic>
    </p:spTree>
    <p:extLst>
      <p:ext uri="{BB962C8B-B14F-4D97-AF65-F5344CB8AC3E}">
        <p14:creationId xmlns:p14="http://schemas.microsoft.com/office/powerpoint/2010/main" val="2504172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3F3C-B016-B6D9-464B-9C36622165DC}"/>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E4C9634C-E73C-5773-D5CD-846211269EEF}"/>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2C1EC189-C9D8-0799-FF86-79231E34912F}"/>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771DD50D-8D50-2B28-F0CA-B444E089B3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9D3394EF-8888-217D-6849-B58B65620838}"/>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FF67E79B-2E08-F361-7AAB-7F7BF95B3F41}"/>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BB86387-099F-5079-0478-329F0826317C}"/>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6981495C-4C70-BB1B-0085-719BDD4C5145}"/>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DA07E684-1E85-588D-C5BE-0E4758106E3A}"/>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838D7F77-BB67-6117-05E3-452F7BB8BECB}"/>
              </a:ext>
            </a:extLst>
          </p:cNvPr>
          <p:cNvSpPr txBox="1"/>
          <p:nvPr/>
        </p:nvSpPr>
        <p:spPr>
          <a:xfrm>
            <a:off x="350865" y="906026"/>
            <a:ext cx="6473658"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Relatório Firmus – 1º Tri de 2026</a:t>
            </a:r>
            <a:endParaRPr lang="pt-BR"/>
          </a:p>
        </p:txBody>
      </p:sp>
      <p:sp>
        <p:nvSpPr>
          <p:cNvPr id="23" name="CaixaDeTexto 22">
            <a:extLst>
              <a:ext uri="{FF2B5EF4-FFF2-40B4-BE49-F238E27FC236}">
                <a16:creationId xmlns:a16="http://schemas.microsoft.com/office/drawing/2014/main" id="{FEE0D0D5-339B-C31B-A22E-2694C0DC5121}"/>
              </a:ext>
            </a:extLst>
          </p:cNvPr>
          <p:cNvSpPr txBox="1"/>
          <p:nvPr/>
        </p:nvSpPr>
        <p:spPr>
          <a:xfrm>
            <a:off x="350866" y="3935337"/>
            <a:ext cx="6172442" cy="5398337"/>
          </a:xfrm>
          <a:prstGeom prst="rect">
            <a:avLst/>
          </a:prstGeom>
          <a:noFill/>
        </p:spPr>
        <p:txBody>
          <a:bodyPr wrap="square" lIns="91440" tIns="45720" rIns="91440" bIns="45720" numCol="2" spcCol="288000" rtlCol="0" anchor="t">
            <a:spAutoFit/>
          </a:bodyPr>
          <a:lstStyle/>
          <a:p>
            <a:pPr algn="just">
              <a:lnSpc>
                <a:spcPct val="150000"/>
              </a:lnSpc>
            </a:pPr>
            <a:r>
              <a:rPr lang="pt-BR" sz="1100" dirty="0">
                <a:ea typeface="+mn-lt"/>
                <a:cs typeface="+mn-lt"/>
              </a:rPr>
              <a:t>  A Pesquisa </a:t>
            </a:r>
            <a:r>
              <a:rPr lang="pt-BR" sz="1100" dirty="0" err="1">
                <a:ea typeface="+mn-lt"/>
                <a:cs typeface="+mn-lt"/>
              </a:rPr>
              <a:t>Firmus</a:t>
            </a:r>
            <a:r>
              <a:rPr lang="pt-BR" sz="1100" dirty="0">
                <a:ea typeface="+mn-lt"/>
                <a:cs typeface="+mn-lt"/>
              </a:rPr>
              <a:t>, conduzida pelo Banco Central do Brasil, mapeia a percepção de empresas não financeiras sobre a situação de seus negócios e as variáveis econômicas que guiam suas decisões. A rodada do primeiro trimestre de 2026, realizada em fevereiro com 309 respostas completas, atualiza o panorama corporativo e as projeções para os próximos anos. </a:t>
            </a:r>
            <a:endParaRPr lang="pt-BR" dirty="0">
              <a:ea typeface="Calibri" panose="020F0502020204030204"/>
              <a:cs typeface="Calibri" panose="020F0502020204030204"/>
            </a:endParaRPr>
          </a:p>
          <a:p>
            <a:pPr algn="just">
              <a:lnSpc>
                <a:spcPct val="150000"/>
              </a:lnSpc>
            </a:pPr>
            <a:r>
              <a:rPr lang="pt-BR" sz="1100" dirty="0">
                <a:ea typeface="+mn-lt"/>
                <a:cs typeface="+mn-lt"/>
              </a:rPr>
              <a:t>  O início de 2026 consolidou um viés mais benigno para a inflação e estabilidade no crescimento. A mediana das expectativas para o IPCA de 2026 recuou de 4,2% para 4,0%, enquanto a de 2027 permaneceu em 4,0% e a de 2028 situou-se em 3,8%. </a:t>
            </a:r>
          </a:p>
          <a:p>
            <a:pPr algn="just">
              <a:lnSpc>
                <a:spcPct val="150000"/>
              </a:lnSpc>
            </a:pPr>
            <a:r>
              <a:rPr lang="pt-BR" sz="1100" dirty="0">
                <a:ea typeface="+mn-lt"/>
                <a:cs typeface="+mn-lt"/>
              </a:rPr>
              <a:t>	No câmbio, a projeção para seis meses à frente registrou queda pelo quarto trimestre consecutivo, passando para R$/US$ 5,40. </a:t>
            </a:r>
          </a:p>
          <a:p>
            <a:pPr algn="just">
              <a:lnSpc>
                <a:spcPct val="150000"/>
              </a:lnSpc>
            </a:pPr>
            <a:r>
              <a:rPr lang="pt-BR" sz="1100" dirty="0">
                <a:ea typeface="+mn-lt"/>
                <a:cs typeface="+mn-lt"/>
              </a:rPr>
              <a:t>	Quanto à atividade econômica, a expectativa para o crescimento real do PIB em 2026 manteve-se estável em 1,8%, mesma taxa projetada para 2027. Paralelamente, a percepção corporativa sobre a situação econômica atual registrou melhora pela segunda edição seguida, embora o indicador agregado ainda se posicione em terreno negativo. </a:t>
            </a:r>
            <a:endParaRPr lang="pt-BR" dirty="0">
              <a:ea typeface="Calibri" panose="020F0502020204030204"/>
              <a:cs typeface="Calibri" panose="020F0502020204030204"/>
            </a:endParaRPr>
          </a:p>
          <a:p>
            <a:pPr algn="just">
              <a:lnSpc>
                <a:spcPct val="150000"/>
              </a:lnSpc>
            </a:pPr>
            <a:r>
              <a:rPr lang="pt-BR" sz="1100" dirty="0">
                <a:ea typeface="+mn-lt"/>
                <a:cs typeface="+mn-lt"/>
              </a:rPr>
              <a:t>  Na dinâmica interna, o índice de expectativas para despesas com insumos caiu pelo quarto trimestre consecutivo (atingindo 4,0%), acompanhado por um ligeiro arrefecimento na projeção de custos com mão de obra (de 4,8% para 4,7%). </a:t>
            </a:r>
          </a:p>
          <a:p>
            <a:pPr algn="just">
              <a:lnSpc>
                <a:spcPct val="150000"/>
              </a:lnSpc>
            </a:pPr>
            <a:r>
              <a:rPr lang="pt-BR" sz="1100" dirty="0">
                <a:ea typeface="+mn-lt"/>
                <a:cs typeface="+mn-lt"/>
              </a:rPr>
              <a:t>	Em consonância com esse alívio, observou-se redução na parcela de empresas que planejam reajustes de preços acima da inflação. Esse cenário, somado à melhora líquida na percepção sobre a oferta de crédito e ao maior nível de otimismo setorial em cinco trimestres, deu sustentação para que as expectativas de margens de resultado para os próximos doze meses mantivessem uma trajetória de recuperação gradual.</a:t>
            </a:r>
            <a:endParaRPr lang="pt-BR" dirty="0">
              <a:ea typeface="+mn-lt"/>
              <a:cs typeface="+mn-lt"/>
            </a:endParaRPr>
          </a:p>
        </p:txBody>
      </p:sp>
      <p:sp>
        <p:nvSpPr>
          <p:cNvPr id="8" name="Espaço Reservado para Número de Slide 7">
            <a:extLst>
              <a:ext uri="{FF2B5EF4-FFF2-40B4-BE49-F238E27FC236}">
                <a16:creationId xmlns:a16="http://schemas.microsoft.com/office/drawing/2014/main" id="{78A68572-0453-3C07-84AF-89117A426DE5}"/>
              </a:ext>
            </a:extLst>
          </p:cNvPr>
          <p:cNvSpPr>
            <a:spLocks noGrp="1"/>
          </p:cNvSpPr>
          <p:nvPr>
            <p:ph type="sldNum" sz="quarter" idx="12"/>
          </p:nvPr>
        </p:nvSpPr>
        <p:spPr/>
        <p:txBody>
          <a:bodyPr/>
          <a:lstStyle/>
          <a:p>
            <a:fld id="{DBDBA070-BF11-4ECF-A255-AE5E34372AE1}" type="slidenum">
              <a:rPr lang="pt-BR" smtClean="0"/>
              <a:t>5</a:t>
            </a:fld>
            <a:endParaRPr lang="pt-BR"/>
          </a:p>
        </p:txBody>
      </p:sp>
      <p:sp>
        <p:nvSpPr>
          <p:cNvPr id="6" name="CaixaDeTexto 5">
            <a:extLst>
              <a:ext uri="{FF2B5EF4-FFF2-40B4-BE49-F238E27FC236}">
                <a16:creationId xmlns:a16="http://schemas.microsoft.com/office/drawing/2014/main" id="{29C646E3-BA45-9D84-5279-34968613EB77}"/>
              </a:ext>
            </a:extLst>
          </p:cNvPr>
          <p:cNvSpPr txBox="1"/>
          <p:nvPr/>
        </p:nvSpPr>
        <p:spPr>
          <a:xfrm>
            <a:off x="4996782" y="3713108"/>
            <a:ext cx="2020660"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900">
                <a:cs typeface="Calibri"/>
              </a:rPr>
              <a:t>Reprodução: Banco Central.</a:t>
            </a:r>
            <a:endParaRPr lang="pt-BR"/>
          </a:p>
        </p:txBody>
      </p:sp>
      <p:pic>
        <p:nvPicPr>
          <p:cNvPr id="2" name="Imagem 1" descr="Tabela  O conteúdo gerado por IA pode estar incorreto.">
            <a:extLst>
              <a:ext uri="{FF2B5EF4-FFF2-40B4-BE49-F238E27FC236}">
                <a16:creationId xmlns:a16="http://schemas.microsoft.com/office/drawing/2014/main" id="{3E577031-7FDA-7CC9-110A-7C8918371834}"/>
              </a:ext>
            </a:extLst>
          </p:cNvPr>
          <p:cNvPicPr>
            <a:picLocks noChangeAspect="1"/>
          </p:cNvPicPr>
          <p:nvPr/>
        </p:nvPicPr>
        <p:blipFill>
          <a:blip r:embed="rId4"/>
          <a:stretch>
            <a:fillRect/>
          </a:stretch>
        </p:blipFill>
        <p:spPr>
          <a:xfrm>
            <a:off x="873425" y="1271234"/>
            <a:ext cx="5133547" cy="2450931"/>
          </a:xfrm>
          <a:prstGeom prst="rect">
            <a:avLst/>
          </a:prstGeom>
        </p:spPr>
      </p:pic>
    </p:spTree>
    <p:extLst>
      <p:ext uri="{BB962C8B-B14F-4D97-AF65-F5344CB8AC3E}">
        <p14:creationId xmlns:p14="http://schemas.microsoft.com/office/powerpoint/2010/main" val="3643571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8D34-3279-ED06-A8BD-B62E0F951443}"/>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2EBFA8F8-F142-0C72-240B-AD0BE33B2AB2}"/>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C9E50B17-5E68-61AC-C17B-F98EB2EE2F1A}"/>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3A776EC9-E583-2C24-BA90-DCDBCEFE09BD}"/>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A53B06DA-43A6-9E97-0F65-F6FA85033D5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DC1AF566-1E06-0199-14B1-01FE217B182C}"/>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D81F1260-9342-7639-741E-C4061D814841}"/>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8CFB08DF-539A-8328-13AC-0C16D5081ABD}"/>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F078F761-8348-9039-B66D-B77C612A3F4F}"/>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5B03967D-5B33-3A34-AF2C-DA7FA9400FFB}"/>
              </a:ext>
            </a:extLst>
          </p:cNvPr>
          <p:cNvSpPr txBox="1"/>
          <p:nvPr/>
        </p:nvSpPr>
        <p:spPr>
          <a:xfrm>
            <a:off x="350866" y="906026"/>
            <a:ext cx="5184543"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pPr>
            <a:r>
              <a:rPr lang="pt-BR" b="1">
                <a:highlight>
                  <a:srgbClr val="FFFFFF"/>
                </a:highlight>
                <a:latin typeface="Nunito"/>
                <a:sym typeface="Nunito"/>
              </a:rPr>
              <a:t>Índice de Atividade Econômica (IBC-Br)</a:t>
            </a:r>
          </a:p>
        </p:txBody>
      </p:sp>
      <p:sp>
        <p:nvSpPr>
          <p:cNvPr id="8" name="Espaço Reservado para Número de Slide 7">
            <a:extLst>
              <a:ext uri="{FF2B5EF4-FFF2-40B4-BE49-F238E27FC236}">
                <a16:creationId xmlns:a16="http://schemas.microsoft.com/office/drawing/2014/main" id="{ACF8A5E0-111C-6CDD-31C5-FC1F29E1ADF5}"/>
              </a:ext>
            </a:extLst>
          </p:cNvPr>
          <p:cNvSpPr>
            <a:spLocks noGrp="1"/>
          </p:cNvSpPr>
          <p:nvPr>
            <p:ph type="sldNum" sz="quarter" idx="12"/>
          </p:nvPr>
        </p:nvSpPr>
        <p:spPr/>
        <p:txBody>
          <a:bodyPr/>
          <a:lstStyle/>
          <a:p>
            <a:fld id="{DBDBA070-BF11-4ECF-A255-AE5E34372AE1}" type="slidenum">
              <a:rPr lang="pt-BR" smtClean="0"/>
              <a:t>6</a:t>
            </a:fld>
            <a:endParaRPr lang="pt-BR"/>
          </a:p>
        </p:txBody>
      </p:sp>
      <p:sp>
        <p:nvSpPr>
          <p:cNvPr id="12" name="CaixaDeTexto 11">
            <a:extLst>
              <a:ext uri="{FF2B5EF4-FFF2-40B4-BE49-F238E27FC236}">
                <a16:creationId xmlns:a16="http://schemas.microsoft.com/office/drawing/2014/main" id="{AEC9E3C0-72B7-EB13-849A-F3B5E64B41C4}"/>
              </a:ext>
            </a:extLst>
          </p:cNvPr>
          <p:cNvSpPr txBox="1"/>
          <p:nvPr/>
        </p:nvSpPr>
        <p:spPr>
          <a:xfrm>
            <a:off x="400622" y="3597372"/>
            <a:ext cx="6105968" cy="276999"/>
          </a:xfrm>
          <a:prstGeom prst="rect">
            <a:avLst/>
          </a:prstGeom>
          <a:noFill/>
        </p:spPr>
        <p:txBody>
          <a:bodyPr wrap="square" lIns="91440" tIns="45720" rIns="91440" bIns="45720" numCol="2" spcCol="288000" rtlCol="0" anchor="t">
            <a:spAutoFit/>
          </a:bodyPr>
          <a:lstStyle/>
          <a:p>
            <a:pPr algn="just"/>
            <a:endParaRPr lang="pt-BR" sz="1200">
              <a:solidFill>
                <a:srgbClr val="374151"/>
              </a:solidFill>
              <a:cs typeface="Calibri"/>
            </a:endParaRPr>
          </a:p>
        </p:txBody>
      </p:sp>
      <p:sp>
        <p:nvSpPr>
          <p:cNvPr id="7" name="CaixaDeTexto 6">
            <a:extLst>
              <a:ext uri="{FF2B5EF4-FFF2-40B4-BE49-F238E27FC236}">
                <a16:creationId xmlns:a16="http://schemas.microsoft.com/office/drawing/2014/main" id="{DD78B2A0-E549-C998-0A47-5826F8A7AF2B}"/>
              </a:ext>
            </a:extLst>
          </p:cNvPr>
          <p:cNvSpPr txBox="1"/>
          <p:nvPr/>
        </p:nvSpPr>
        <p:spPr>
          <a:xfrm>
            <a:off x="5246698" y="4765794"/>
            <a:ext cx="1259892" cy="215444"/>
          </a:xfrm>
          <a:prstGeom prst="rect">
            <a:avLst/>
          </a:prstGeom>
          <a:noFill/>
        </p:spPr>
        <p:txBody>
          <a:bodyPr wrap="square" lIns="91440" tIns="45720" rIns="91440" bIns="45720" rtlCol="0" anchor="t">
            <a:spAutoFit/>
          </a:bodyPr>
          <a:lstStyle/>
          <a:p>
            <a:pPr algn="r"/>
            <a:r>
              <a:rPr lang="pt-BR" sz="800"/>
              <a:t>Fonte: Banco Central.</a:t>
            </a:r>
          </a:p>
        </p:txBody>
      </p:sp>
      <p:sp>
        <p:nvSpPr>
          <p:cNvPr id="9" name="CaixaDeTexto 8">
            <a:extLst>
              <a:ext uri="{FF2B5EF4-FFF2-40B4-BE49-F238E27FC236}">
                <a16:creationId xmlns:a16="http://schemas.microsoft.com/office/drawing/2014/main" id="{77F695E1-C88C-661C-6A35-8EFDC55D4714}"/>
              </a:ext>
            </a:extLst>
          </p:cNvPr>
          <p:cNvSpPr txBox="1"/>
          <p:nvPr/>
        </p:nvSpPr>
        <p:spPr>
          <a:xfrm>
            <a:off x="350323" y="4973525"/>
            <a:ext cx="6156268" cy="4382675"/>
          </a:xfrm>
          <a:prstGeom prst="rect">
            <a:avLst/>
          </a:prstGeom>
          <a:noFill/>
        </p:spPr>
        <p:txBody>
          <a:bodyPr wrap="square" lIns="91440" tIns="45720" rIns="91440" bIns="45720" numCol="2" spcCol="288000" rtlCol="0" anchor="t">
            <a:spAutoFit/>
          </a:bodyPr>
          <a:lstStyle>
            <a:defPPr>
              <a:defRPr lang="en-US"/>
            </a:defPPr>
            <a:lvl1pPr indent="132715" algn="just">
              <a:lnSpc>
                <a:spcPct val="150000"/>
              </a:lnSpc>
              <a:defRPr sz="1100"/>
            </a:lvl1pPr>
          </a:lstStyle>
          <a:p>
            <a:r>
              <a:rPr lang="pt-BR" dirty="0">
                <a:solidFill>
                  <a:srgbClr val="1F1F1F"/>
                </a:solidFill>
                <a:ea typeface="+mn-lt"/>
                <a:cs typeface="+mn-lt"/>
              </a:rPr>
              <a:t> O Índice de Atividade Econômica do Banco Central (IBC-Br) e seus desdobramentos entre o 1T23 e o 1T26 revelam uma economia com crescimento gradual, sustentada pelo dinamismo da agropecuária e pela resiliência dos serviços, que compensaram a menor tração industrial. O indicador geral reflete essa composição de forças ao iniciar a série em 103,1 pontos e encerrar o ciclo no 1T26 em 110,2 pontos. O resultado iguala o pico histórico observado no 1T25, evidenciando que a atividade econômica mantém um patamar robusto apesar das pressões macroeconômicas.</a:t>
            </a:r>
            <a:endParaRPr lang="pt-BR" dirty="0"/>
          </a:p>
          <a:p>
            <a:r>
              <a:rPr lang="pt-BR" dirty="0">
                <a:solidFill>
                  <a:srgbClr val="1F1F1F"/>
                </a:solidFill>
                <a:ea typeface="+mn-lt"/>
                <a:cs typeface="+mn-lt"/>
              </a:rPr>
              <a:t> O grande motor dessa expansão foi a agropecuária, que saltou de 103,1 pontos no início de 2023 para o ápice de 132,1 pontos no 1T25, abrindo 2026 ainda em nível elevado, aos 130,0 pontos. No mesmo sentido, o setor de serviços funcionou como uma âncora de estabilidade, apresentando expansão contínua a partir de seus 101,5 pontos iniciais até atingir sua máxima de 110,0 pontos no 1T26, impulsionado pela demanda doméstica.</a:t>
            </a:r>
            <a:endParaRPr lang="pt-BR" dirty="0"/>
          </a:p>
          <a:p>
            <a:r>
              <a:rPr lang="pt-BR" dirty="0">
                <a:solidFill>
                  <a:srgbClr val="1F1F1F"/>
                </a:solidFill>
                <a:ea typeface="+mn-lt"/>
                <a:cs typeface="+mn-lt"/>
              </a:rPr>
              <a:t> Por outro lado, a indústria evidenciou dificuldades estruturais e maior volatilidade para acompanhar o ritmo das demais frentes. Partindo de 100,0 pontos no 1T23, o segmento alternou momentos de aceleração com perdas de fôlego, encerrando o 1T26 em 105,9 pontos. Essa evolução mais discreta reforça os diagnósticos de gargalos produtivos no período, deixando para o agronegócio e para os serviços o papel de liderar o crescimento no balanço acumulado.</a:t>
            </a:r>
            <a:endParaRPr lang="pt-BR" dirty="0"/>
          </a:p>
        </p:txBody>
      </p:sp>
      <p:graphicFrame>
        <p:nvGraphicFramePr>
          <p:cNvPr id="3" name="Gráfico 2">
            <a:extLst>
              <a:ext uri="{FF2B5EF4-FFF2-40B4-BE49-F238E27FC236}">
                <a16:creationId xmlns:a16="http://schemas.microsoft.com/office/drawing/2014/main" id="{00000000-0008-0000-0D00-000002000000}"/>
              </a:ext>
            </a:extLst>
          </p:cNvPr>
          <p:cNvGraphicFramePr>
            <a:graphicFrameLocks/>
          </p:cNvGraphicFramePr>
          <p:nvPr>
            <p:extLst>
              <p:ext uri="{D42A27DB-BD31-4B8C-83A1-F6EECF244321}">
                <p14:modId xmlns:p14="http://schemas.microsoft.com/office/powerpoint/2010/main" val="1675726397"/>
              </p:ext>
            </p:extLst>
          </p:nvPr>
        </p:nvGraphicFramePr>
        <p:xfrm>
          <a:off x="356143" y="1275740"/>
          <a:ext cx="6132417" cy="37080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9964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A0819C80-0B42-3AC6-3797-49FED885AD5C}"/>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47266"/>
            <a:ext cx="6073365"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Índice de Confiança do Empresário Industrial (ICEI)</a:t>
            </a:r>
            <a:endParaRPr lang="pt-BR">
              <a:ea typeface="Calibri" panose="020F0502020204030204"/>
              <a:cs typeface="Calibri" panose="020F0502020204030204"/>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7</a:t>
            </a:fld>
            <a:endParaRPr lang="pt-BR"/>
          </a:p>
        </p:txBody>
      </p:sp>
      <p:sp>
        <p:nvSpPr>
          <p:cNvPr id="13" name="CaixaDeTexto 12">
            <a:extLst>
              <a:ext uri="{FF2B5EF4-FFF2-40B4-BE49-F238E27FC236}">
                <a16:creationId xmlns:a16="http://schemas.microsoft.com/office/drawing/2014/main" id="{4002B4E8-F776-F922-F6CB-3D778487ACF3}"/>
              </a:ext>
            </a:extLst>
          </p:cNvPr>
          <p:cNvSpPr txBox="1"/>
          <p:nvPr/>
        </p:nvSpPr>
        <p:spPr>
          <a:xfrm>
            <a:off x="350866" y="4231496"/>
            <a:ext cx="6152075" cy="5144422"/>
          </a:xfrm>
          <a:prstGeom prst="rect">
            <a:avLst/>
          </a:prstGeom>
          <a:noFill/>
        </p:spPr>
        <p:txBody>
          <a:bodyPr wrap="square" lIns="91440" tIns="45720" rIns="91440" bIns="45720" numCol="2" spcCol="288000" rtlCol="0" anchor="t">
            <a:spAutoFit/>
          </a:bodyPr>
          <a:lstStyle>
            <a:defPPr>
              <a:defRPr lang="en-US"/>
            </a:defPPr>
            <a:lvl1pPr indent="132715" algn="just">
              <a:lnSpc>
                <a:spcPct val="150000"/>
              </a:lnSpc>
              <a:defRPr sz="1100"/>
            </a:lvl1pPr>
          </a:lstStyle>
          <a:p>
            <a:pPr indent="0"/>
            <a:r>
              <a:rPr lang="pt-BR"/>
              <a:t>	O Índice de Confiança do Empresário Industrial (ICEI) do período apresenta trajetória de queda desde seu pico no 3T24, refletindo maior cautela dos empresários diante do cenário econômico, mas com evolução diferente nas regiões da união.</a:t>
            </a:r>
          </a:p>
          <a:p>
            <a:pPr indent="0"/>
            <a:r>
              <a:rPr lang="pt-BR"/>
              <a:t>	No 1T26, o indicador permaneceu abaixo ao observado no 1T25 em todas as regiões e também abaixo do trimestre imediatamente anterior, apresentando uma confiança que vem sendo cada vez mais fragilizada.</a:t>
            </a:r>
            <a:endParaRPr lang="pt-BR">
              <a:ea typeface="Calibri"/>
              <a:cs typeface="Calibri"/>
            </a:endParaRPr>
          </a:p>
          <a:p>
            <a:pPr indent="0"/>
            <a:r>
              <a:rPr lang="pt-BR"/>
              <a:t>	A Região Nordeste permaneceu acima das demais ao longo da série e foi a única que se manteve acima do parâmetro durante todo o período observado. Já a Região Norte também apresentou desempenho superior por maior parte do período, mas que se inverteu no 3T25, fato que se mantém até agora.</a:t>
            </a:r>
          </a:p>
          <a:p>
            <a:pPr indent="0"/>
            <a:r>
              <a:rPr lang="pt-BR"/>
              <a:t>	Por outro lado, as regiões Sul e Sudeste registraram os menores níveis de confiança no 1T26 tal como uma constante queda no período, ficando bem abaixo do parâmetro de referência e sinalizando maior receio nos principais polos industriais do país e ainda menores que os observados no 1T25.</a:t>
            </a:r>
            <a:endParaRPr lang="pt-BR">
              <a:ea typeface="Calibri"/>
              <a:cs typeface="Calibri"/>
            </a:endParaRPr>
          </a:p>
          <a:p>
            <a:pPr indent="0"/>
            <a:r>
              <a:rPr lang="pt-BR"/>
              <a:t>	O Centro-Oeste apresentou certa estabilidade, mas com leve recuo em relação ao início da série, permanecendo maior parte do período acima do parâmetro, fato que não ocorreu no 1T26.</a:t>
            </a:r>
          </a:p>
          <a:p>
            <a:pPr indent="0"/>
            <a:r>
              <a:rPr lang="pt-BR"/>
              <a:t>	O cenário atual se mostra bem pessimista para a maior parte do Brasil, com exceção do Nordeste. Além de 4 das 5 regiões do Brasil estarem abaixo do parâmetro, o cenário é de queda desde o pico de 3T24 sem perspectiva de recuperação, sendo o Sul e Sudeste as regiões com maior desconfiança absoluta.</a:t>
            </a:r>
            <a:endParaRPr lang="pt-BR">
              <a:ea typeface="Calibri"/>
              <a:cs typeface="Calibri"/>
            </a:endParaRPr>
          </a:p>
        </p:txBody>
      </p:sp>
      <p:sp>
        <p:nvSpPr>
          <p:cNvPr id="9" name="CaixaDeTexto 26">
            <a:extLst>
              <a:ext uri="{FF2B5EF4-FFF2-40B4-BE49-F238E27FC236}">
                <a16:creationId xmlns:a16="http://schemas.microsoft.com/office/drawing/2014/main" id="{2AA85FED-4350-6BD0-2363-E887EC062B89}"/>
              </a:ext>
            </a:extLst>
          </p:cNvPr>
          <p:cNvSpPr txBox="1"/>
          <p:nvPr/>
        </p:nvSpPr>
        <p:spPr>
          <a:xfrm>
            <a:off x="5883411" y="4161310"/>
            <a:ext cx="625820" cy="215444"/>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pt-BR" sz="800"/>
              <a:t>Fonte: CNI</a:t>
            </a:r>
          </a:p>
        </p:txBody>
      </p:sp>
      <p:graphicFrame>
        <p:nvGraphicFramePr>
          <p:cNvPr id="3" name="Gráfico 2">
            <a:extLst>
              <a:ext uri="{FF2B5EF4-FFF2-40B4-BE49-F238E27FC236}">
                <a16:creationId xmlns:a16="http://schemas.microsoft.com/office/drawing/2014/main" id="{CC47E625-608C-4358-B776-9727BA3F5A96}"/>
              </a:ext>
              <a:ext uri="{147F2762-F138-4A5C-976F-8EAC2B608ADB}">
                <a16:predDERef xmlns:a16="http://schemas.microsoft.com/office/drawing/2014/main" pred="{90D002DA-045C-470D-8FC1-B0D3E7B04C7C}"/>
              </a:ext>
            </a:extLst>
          </p:cNvPr>
          <p:cNvGraphicFramePr>
            <a:graphicFrameLocks/>
          </p:cNvGraphicFramePr>
          <p:nvPr>
            <p:extLst>
              <p:ext uri="{D42A27DB-BD31-4B8C-83A1-F6EECF244321}">
                <p14:modId xmlns:p14="http://schemas.microsoft.com/office/powerpoint/2010/main" val="921914488"/>
              </p:ext>
            </p:extLst>
          </p:nvPr>
        </p:nvGraphicFramePr>
        <p:xfrm>
          <a:off x="355060" y="1141021"/>
          <a:ext cx="6147882" cy="31465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91437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F5976-A645-57B8-2A85-81302DE51087}"/>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D605B48C-25E7-49CE-694E-5E19BB989863}"/>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65006A48-0050-5A0E-07FC-4A5CB57AE999}"/>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46DC5D3E-0AE0-466B-FC6D-F6CD515CCED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844E6354-F35A-F5AB-8252-D1B2E62C6E20}"/>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AFA6E744-6E76-1214-6DDB-B7206CF32BBA}"/>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75C42D71-2092-02E9-8E3D-80ACFC97D6EA}"/>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D742960B-94DC-B89F-2BB2-ACC4A4AFAA2F}"/>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18418AD4-9AA1-890F-C606-F4B73823271E}"/>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87EF6EC2-E27F-025A-5F31-8B61B1A04F3A}"/>
              </a:ext>
            </a:extLst>
          </p:cNvPr>
          <p:cNvSpPr>
            <a:spLocks noGrp="1"/>
          </p:cNvSpPr>
          <p:nvPr>
            <p:ph type="sldNum" sz="quarter" idx="12"/>
          </p:nvPr>
        </p:nvSpPr>
        <p:spPr/>
        <p:txBody>
          <a:bodyPr/>
          <a:lstStyle/>
          <a:p>
            <a:fld id="{DBDBA070-BF11-4ECF-A255-AE5E34372AE1}" type="slidenum">
              <a:rPr lang="pt-BR" smtClean="0"/>
              <a:t>8</a:t>
            </a:fld>
            <a:endParaRPr lang="pt-BR"/>
          </a:p>
        </p:txBody>
      </p:sp>
      <p:sp>
        <p:nvSpPr>
          <p:cNvPr id="13" name="CaixaDeTexto 12">
            <a:extLst>
              <a:ext uri="{FF2B5EF4-FFF2-40B4-BE49-F238E27FC236}">
                <a16:creationId xmlns:a16="http://schemas.microsoft.com/office/drawing/2014/main" id="{90B1C7A0-C160-2D1D-7D53-539C3ACD2E16}"/>
              </a:ext>
            </a:extLst>
          </p:cNvPr>
          <p:cNvSpPr txBox="1"/>
          <p:nvPr/>
        </p:nvSpPr>
        <p:spPr>
          <a:xfrm>
            <a:off x="346225" y="4765794"/>
            <a:ext cx="6165548" cy="3874843"/>
          </a:xfrm>
          <a:prstGeom prst="rect">
            <a:avLst/>
          </a:prstGeom>
          <a:noFill/>
        </p:spPr>
        <p:txBody>
          <a:bodyPr wrap="square" lIns="91440" tIns="45720" rIns="91440" bIns="45720" numCol="2" spcCol="288000" rtlCol="0" anchor="t">
            <a:spAutoFit/>
          </a:bodyPr>
          <a:lstStyle>
            <a:defPPr>
              <a:defRPr lang="en-US"/>
            </a:defPPr>
            <a:lvl1pPr indent="132715" algn="just">
              <a:lnSpc>
                <a:spcPct val="150000"/>
              </a:lnSpc>
              <a:defRPr sz="1100"/>
            </a:lvl1pPr>
          </a:lstStyle>
          <a:p>
            <a:pPr indent="0"/>
            <a:r>
              <a:rPr lang="pt-BR"/>
              <a:t>	O ICEI por porte de empresas apresentou perda de confiança ao longo do período analisado em todos os segmentos, encerrando no 1T26 abaixo do parâmetro de confiança. Em comparação aos níveis no 1T25, há uma redução no otimismo empresarial, indicando maior pessimismo em relação ao ambiente industrial.</a:t>
            </a:r>
          </a:p>
          <a:p>
            <a:pPr indent="0"/>
            <a:r>
              <a:rPr lang="pt-BR"/>
              <a:t>	As grandes empresas mantiveram os maiores níveis de confiança durante toda a série, embora tenham apresentado queda após o pico observado em 2024, só inverteram a confiança no setor no 2T26, 2 semestres depois em relação aos outros portes. Para além disso, é o único porte que apresenta recuperação de confiança frente ao 3T25.</a:t>
            </a:r>
          </a:p>
          <a:p>
            <a:pPr indent="0"/>
            <a:r>
              <a:rPr lang="pt-BR"/>
              <a:t>	As médias empresas seguiram a mesma trajetória de desaceleração que as pequenas, invertendo a confiança no 4T24 e sem cenário de recuperação, evidenciando uma intuitiva maior desconfiança frente ao cenário econômico.</a:t>
            </a:r>
          </a:p>
          <a:p>
            <a:pPr indent="0"/>
            <a:r>
              <a:rPr lang="pt-BR"/>
              <a:t>	O resultado indica que a redução da confiança afetou empresas de todos os portes, mas foi mais intensa entre pequenos e médios negócios, enquanto as grandes empresas demonstram maior resiliência, comportamento natural quando se pensa em economias de escala e capacidade de caixa e financiamento.</a:t>
            </a:r>
            <a:endParaRPr lang="pt-BR">
              <a:ea typeface="+mn-lt"/>
              <a:cs typeface="+mn-lt"/>
            </a:endParaRPr>
          </a:p>
        </p:txBody>
      </p:sp>
      <p:sp>
        <p:nvSpPr>
          <p:cNvPr id="9" name="CaixaDeTexto 26">
            <a:extLst>
              <a:ext uri="{FF2B5EF4-FFF2-40B4-BE49-F238E27FC236}">
                <a16:creationId xmlns:a16="http://schemas.microsoft.com/office/drawing/2014/main" id="{3C0A396D-A08E-728B-BF17-3FB02AB060EB}"/>
              </a:ext>
            </a:extLst>
          </p:cNvPr>
          <p:cNvSpPr txBox="1"/>
          <p:nvPr/>
        </p:nvSpPr>
        <p:spPr>
          <a:xfrm>
            <a:off x="5857583" y="4550350"/>
            <a:ext cx="625820" cy="215444"/>
          </a:xfrm>
          <a:prstGeom prst="rect">
            <a:avLst/>
          </a:prstGeom>
          <a:noFill/>
        </p:spPr>
        <p:txBody>
          <a:bodyPr wrap="square" lIns="91440" tIns="45720" rIns="91440" bIns="4572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pt-BR" sz="800"/>
              <a:t>Fonte: CNI</a:t>
            </a:r>
          </a:p>
        </p:txBody>
      </p:sp>
      <p:graphicFrame>
        <p:nvGraphicFramePr>
          <p:cNvPr id="3" name="Gráfico 2">
            <a:extLst>
              <a:ext uri="{FF2B5EF4-FFF2-40B4-BE49-F238E27FC236}">
                <a16:creationId xmlns:a16="http://schemas.microsoft.com/office/drawing/2014/main" id="{D16BD6F4-6D58-498E-89A0-B008FFC8C1C3}"/>
              </a:ext>
              <a:ext uri="{147F2762-F138-4A5C-976F-8EAC2B608ADB}">
                <a16:predDERef xmlns:a16="http://schemas.microsoft.com/office/drawing/2014/main" pred="{F16A0DCB-422C-477A-9D6A-B71B0FFB962D}"/>
              </a:ext>
            </a:extLst>
          </p:cNvPr>
          <p:cNvGraphicFramePr>
            <a:graphicFrameLocks/>
          </p:cNvGraphicFramePr>
          <p:nvPr>
            <p:extLst>
              <p:ext uri="{D42A27DB-BD31-4B8C-83A1-F6EECF244321}">
                <p14:modId xmlns:p14="http://schemas.microsoft.com/office/powerpoint/2010/main" val="3896699546"/>
              </p:ext>
            </p:extLst>
          </p:nvPr>
        </p:nvGraphicFramePr>
        <p:xfrm>
          <a:off x="346225" y="839882"/>
          <a:ext cx="6160909" cy="39145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92002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Gráfico 8">
            <a:extLst>
              <a:ext uri="{FF2B5EF4-FFF2-40B4-BE49-F238E27FC236}">
                <a16:creationId xmlns:a16="http://schemas.microsoft.com/office/drawing/2014/main" id="{DC8F2755-05D3-45CF-A9EF-9364FAA9B412}"/>
              </a:ext>
              <a:ext uri="{147F2762-F138-4A5C-976F-8EAC2B608ADB}">
                <a16:predDERef xmlns:a16="http://schemas.microsoft.com/office/drawing/2014/main" pred="{91CF9325-CA3B-4C86-B417-6949A347D38D}"/>
              </a:ext>
            </a:extLst>
          </p:cNvPr>
          <p:cNvGraphicFramePr>
            <a:graphicFrameLocks/>
          </p:cNvGraphicFramePr>
          <p:nvPr>
            <p:extLst>
              <p:ext uri="{D42A27DB-BD31-4B8C-83A1-F6EECF244321}">
                <p14:modId xmlns:p14="http://schemas.microsoft.com/office/powerpoint/2010/main" val="1929488487"/>
              </p:ext>
            </p:extLst>
          </p:nvPr>
        </p:nvGraphicFramePr>
        <p:xfrm>
          <a:off x="350866" y="3669607"/>
          <a:ext cx="6156268" cy="307071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Gráfico 6">
            <a:extLst>
              <a:ext uri="{FF2B5EF4-FFF2-40B4-BE49-F238E27FC236}">
                <a16:creationId xmlns:a16="http://schemas.microsoft.com/office/drawing/2014/main" id="{D2F714EB-ED6F-41E9-B247-012B7221F8BE}"/>
              </a:ext>
              <a:ext uri="{147F2762-F138-4A5C-976F-8EAC2B608ADB}">
                <a16:predDERef xmlns:a16="http://schemas.microsoft.com/office/drawing/2014/main" pred="{6C02DF97-2861-43D6-BE5A-E219B387427E}"/>
              </a:ext>
            </a:extLst>
          </p:cNvPr>
          <p:cNvGraphicFramePr>
            <a:graphicFrameLocks/>
          </p:cNvGraphicFramePr>
          <p:nvPr>
            <p:extLst>
              <p:ext uri="{D42A27DB-BD31-4B8C-83A1-F6EECF244321}">
                <p14:modId xmlns:p14="http://schemas.microsoft.com/office/powerpoint/2010/main" val="2625065115"/>
              </p:ext>
            </p:extLst>
          </p:nvPr>
        </p:nvGraphicFramePr>
        <p:xfrm>
          <a:off x="350866" y="839882"/>
          <a:ext cx="6156268" cy="3070710"/>
        </p:xfrm>
        <a:graphic>
          <a:graphicData uri="http://schemas.openxmlformats.org/drawingml/2006/chart">
            <c:chart xmlns:c="http://schemas.openxmlformats.org/drawingml/2006/chart" xmlns:r="http://schemas.openxmlformats.org/officeDocument/2006/relationships" r:id="rId3"/>
          </a:graphicData>
        </a:graphic>
      </p:graphicFrame>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5">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9</a:t>
            </a:fld>
            <a:endParaRPr lang="pt-BR"/>
          </a:p>
        </p:txBody>
      </p:sp>
      <p:sp>
        <p:nvSpPr>
          <p:cNvPr id="10" name="CaixaDeTexto 9">
            <a:extLst>
              <a:ext uri="{FF2B5EF4-FFF2-40B4-BE49-F238E27FC236}">
                <a16:creationId xmlns:a16="http://schemas.microsoft.com/office/drawing/2014/main" id="{FF5A8E6A-38C1-8F01-45AD-11DE545D408A}"/>
              </a:ext>
            </a:extLst>
          </p:cNvPr>
          <p:cNvSpPr txBox="1"/>
          <p:nvPr/>
        </p:nvSpPr>
        <p:spPr>
          <a:xfrm>
            <a:off x="377812" y="6679224"/>
            <a:ext cx="6129322" cy="2630720"/>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ea typeface="+mn-lt"/>
                <a:cs typeface="+mn-lt"/>
              </a:defRPr>
            </a:lvl1pPr>
          </a:lstStyle>
          <a:p>
            <a:r>
              <a:rPr lang="pt-BR"/>
              <a:t>	 O ICEI dos setores de transformação apresentou trajetória de perda de confiança ao longo do período analisado em todos os setores, com todos os encerrando o 1T26 abaixo do parâmetro de confiança, com exceção do setor de máquinas, aparelhos e materiais elétricos. Em comparação ao 1T25, observa-se, ainda, um menor nível de otimismo empresarial.</a:t>
            </a:r>
          </a:p>
          <a:p>
            <a:r>
              <a:rPr lang="pt-BR"/>
              <a:t>	Os setores de máquinas, aparelhos e materiais elétricos, máquinas e equipamentos e equipamentos de informática, produtos eletrônicos apresentaram comportamento bem semelhante, com queda após os níveis mais elevados registrados em 2024 e na primeira metade de 2025, mas com inversão a partir do 3T25. O Setor de máquinas, aparelhos e materiais elétricos embora evolução negativa, foi o único que começou 2026 marginalmente acima do parâmetro de confiança.</a:t>
            </a:r>
          </a:p>
        </p:txBody>
      </p:sp>
      <p:sp>
        <p:nvSpPr>
          <p:cNvPr id="3" name="CaixaDeTexto 2">
            <a:extLst>
              <a:ext uri="{FF2B5EF4-FFF2-40B4-BE49-F238E27FC236}">
                <a16:creationId xmlns:a16="http://schemas.microsoft.com/office/drawing/2014/main" id="{6155FFC6-B7E8-341E-6594-19CB4436C3EB}"/>
              </a:ext>
            </a:extLst>
          </p:cNvPr>
          <p:cNvSpPr txBox="1"/>
          <p:nvPr/>
        </p:nvSpPr>
        <p:spPr>
          <a:xfrm>
            <a:off x="5777138" y="6566451"/>
            <a:ext cx="650676" cy="215444"/>
          </a:xfrm>
          <a:prstGeom prst="rect">
            <a:avLst/>
          </a:prstGeom>
          <a:noFill/>
        </p:spPr>
        <p:txBody>
          <a:bodyPr wrap="square" lIns="91440" tIns="45720" rIns="91440" bIns="45720" rtlCol="0" anchor="t">
            <a:spAutoFit/>
          </a:bodyPr>
          <a:lstStyle/>
          <a:p>
            <a:r>
              <a:rPr lang="pt-BR" sz="800"/>
              <a:t>Fonte: CNI</a:t>
            </a:r>
          </a:p>
        </p:txBody>
      </p:sp>
    </p:spTree>
    <p:extLst>
      <p:ext uri="{BB962C8B-B14F-4D97-AF65-F5344CB8AC3E}">
        <p14:creationId xmlns:p14="http://schemas.microsoft.com/office/powerpoint/2010/main" val="3289338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68685-2C32-525C-FF26-EBE9C2B2E6AA}"/>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2A192EA2-FCD8-7667-1EFE-EB0E09D525B1}"/>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C20CBEF0-6BB8-9CAA-01DE-4849855AC098}"/>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C64F76A5-8FC5-C52A-4CC2-D797BF7545E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FBFCA91E-4469-FEED-A66A-F92D7C68B3AA}"/>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FA15AF03-74BB-A441-6C07-B72A7EF3FE4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F6B4B1A2-D25D-F9C4-39CA-AB716EA8C079}"/>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1AC0E647-E35F-3F3F-FEEB-C0095E171774}"/>
              </a:ext>
            </a:extLst>
          </p:cNvPr>
          <p:cNvSpPr>
            <a:spLocks noGrp="1"/>
          </p:cNvSpPr>
          <p:nvPr>
            <p:ph type="sldNum" sz="quarter" idx="12"/>
          </p:nvPr>
        </p:nvSpPr>
        <p:spPr/>
        <p:txBody>
          <a:bodyPr/>
          <a:lstStyle/>
          <a:p>
            <a:fld id="{DBDBA070-BF11-4ECF-A255-AE5E34372AE1}" type="slidenum">
              <a:rPr lang="pt-BR" smtClean="0"/>
              <a:t>10</a:t>
            </a:fld>
            <a:endParaRPr lang="pt-BR"/>
          </a:p>
        </p:txBody>
      </p:sp>
      <p:sp>
        <p:nvSpPr>
          <p:cNvPr id="12" name="CaixaDeTexto 11">
            <a:extLst>
              <a:ext uri="{FF2B5EF4-FFF2-40B4-BE49-F238E27FC236}">
                <a16:creationId xmlns:a16="http://schemas.microsoft.com/office/drawing/2014/main" id="{29C2AA6B-381F-B07B-39BB-8AD5F8377EE2}"/>
              </a:ext>
            </a:extLst>
          </p:cNvPr>
          <p:cNvSpPr txBox="1"/>
          <p:nvPr/>
        </p:nvSpPr>
        <p:spPr>
          <a:xfrm>
            <a:off x="350866" y="902288"/>
            <a:ext cx="6156268" cy="1861535"/>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ea typeface="+mn-lt"/>
                <a:cs typeface="+mn-lt"/>
              </a:defRPr>
            </a:lvl1pPr>
          </a:lstStyle>
          <a:p>
            <a:r>
              <a:rPr lang="pt-BR"/>
              <a:t>	 Já segmentos de metalurgia e veículos automotores, reboques e carrocerias apresentaram deterioração mais acentuada da confiança, encerrando o 1T26 em patamares mínimos da série, ou seja, sendo os setores com menor confiança absoluta.</a:t>
            </a:r>
          </a:p>
          <a:p>
            <a:r>
              <a:rPr lang="pt-BR"/>
              <a:t>	Apesar de ainda se encontrar abaixo do parâmetro de confiança, o setor de produtos de metal apresenta recuperação estável no 1T26 comparação aos semestres anteriores, ficando marginalmente abaixo do parâmetro.</a:t>
            </a:r>
          </a:p>
          <a:p>
            <a:r>
              <a:rPr lang="pt-BR"/>
              <a:t>	De forma geral, a confiança de todos os setores é negativa e não apresenta cenário de melhora.</a:t>
            </a:r>
          </a:p>
        </p:txBody>
      </p:sp>
      <p:sp>
        <p:nvSpPr>
          <p:cNvPr id="7" name="CaixaDeTexto 6">
            <a:extLst>
              <a:ext uri="{FF2B5EF4-FFF2-40B4-BE49-F238E27FC236}">
                <a16:creationId xmlns:a16="http://schemas.microsoft.com/office/drawing/2014/main" id="{79B84341-0B06-36A4-CA9D-1A7E5B346946}"/>
              </a:ext>
            </a:extLst>
          </p:cNvPr>
          <p:cNvSpPr txBox="1"/>
          <p:nvPr/>
        </p:nvSpPr>
        <p:spPr>
          <a:xfrm>
            <a:off x="5878436" y="5726934"/>
            <a:ext cx="650676" cy="215444"/>
          </a:xfrm>
          <a:prstGeom prst="rect">
            <a:avLst/>
          </a:prstGeom>
          <a:noFill/>
        </p:spPr>
        <p:txBody>
          <a:bodyPr wrap="square" lIns="91440" tIns="45720" rIns="91440" bIns="45720" rtlCol="0" anchor="t">
            <a:spAutoFit/>
          </a:bodyPr>
          <a:lstStyle/>
          <a:p>
            <a:r>
              <a:rPr lang="pt-BR" sz="800"/>
              <a:t>Fonte: CNI</a:t>
            </a:r>
          </a:p>
        </p:txBody>
      </p:sp>
      <p:sp>
        <p:nvSpPr>
          <p:cNvPr id="2" name="CaixaDeTexto 1">
            <a:extLst>
              <a:ext uri="{FF2B5EF4-FFF2-40B4-BE49-F238E27FC236}">
                <a16:creationId xmlns:a16="http://schemas.microsoft.com/office/drawing/2014/main" id="{B9FAD8AE-B25A-5E61-F5BD-A6E62C87FF78}"/>
              </a:ext>
            </a:extLst>
          </p:cNvPr>
          <p:cNvSpPr txBox="1"/>
          <p:nvPr/>
        </p:nvSpPr>
        <p:spPr>
          <a:xfrm>
            <a:off x="350597" y="6017180"/>
            <a:ext cx="6156268" cy="3173824"/>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ea typeface="+mn-lt"/>
                <a:cs typeface="+mn-lt"/>
              </a:defRPr>
            </a:lvl1pPr>
          </a:lstStyle>
          <a:p>
            <a:r>
              <a:rPr lang="pt-BR"/>
              <a:t>	 O ICEI de Expectativas apresentou uma trajetória de redução ao longo do período analisado, refletindo uma visão pessimista dos empresários industriais sobre o futuro do setor. No 1T26, as expectativas se encontraram abaixo às observadas no 1T25, indicando que a perspectiva para 2026 é pior que para a de 2025</a:t>
            </a:r>
          </a:p>
          <a:p>
            <a:r>
              <a:rPr lang="pt-BR"/>
              <a:t>	As expectativas das empresas se mantiveram mais positivas, permanecendo acima do parâmetro de confiança durante todo o período, apesar da tendência de queda observada desde 2024.</a:t>
            </a:r>
          </a:p>
          <a:p>
            <a:r>
              <a:rPr lang="pt-BR"/>
              <a:t>	 Por outro lado, as expectativas da economia brasileira apresentaram queda mais intensa, permanecendo abaixo do nível de confiança desde o começo de 2024 e atingindo níveis mínimos no 3T25 que se repetem no 1T26.</a:t>
            </a:r>
          </a:p>
          <a:p>
            <a:r>
              <a:rPr lang="pt-BR"/>
              <a:t>	Os empresários seguem mais confiantes em relação ao desempenho de suas próprias empresas do que em relação à economia como um todo, evidenciando uma diferença de visões para o futuro mas que vem, comumente, se deteriorando desde 2024.</a:t>
            </a:r>
            <a:endParaRPr lang="en-US"/>
          </a:p>
        </p:txBody>
      </p:sp>
      <p:graphicFrame>
        <p:nvGraphicFramePr>
          <p:cNvPr id="3" name="Gráfico 2">
            <a:extLst>
              <a:ext uri="{FF2B5EF4-FFF2-40B4-BE49-F238E27FC236}">
                <a16:creationId xmlns:a16="http://schemas.microsoft.com/office/drawing/2014/main" id="{FCAE4F85-9393-4AE7-90B9-0C39907ECB14}"/>
              </a:ext>
              <a:ext uri="{147F2762-F138-4A5C-976F-8EAC2B608ADB}">
                <a16:predDERef xmlns:a16="http://schemas.microsoft.com/office/drawing/2014/main" pred="{9C93F233-59E6-456F-AE7F-7EFE195C5488}"/>
              </a:ext>
            </a:extLst>
          </p:cNvPr>
          <p:cNvGraphicFramePr>
            <a:graphicFrameLocks/>
          </p:cNvGraphicFramePr>
          <p:nvPr/>
        </p:nvGraphicFramePr>
        <p:xfrm>
          <a:off x="201678" y="2634774"/>
          <a:ext cx="6454107" cy="337866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62161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F9182-76DD-993C-9DD2-416FD8CC56F0}"/>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95A1675B-41D7-F88B-9D16-9E43A5068375}"/>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19E92484-6E5A-F102-5184-045666E6D8A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8D15DDFD-E87F-B6DD-0222-4286967D9E0D}"/>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B8AB8170-210A-9467-C0C6-E5A178D03D8C}"/>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736E7894-2048-308B-5140-127999C0645B}"/>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597C826C-FF2D-0E12-AB7C-A45735A8A05A}"/>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8CA48521-087E-1B2C-6DBF-C2E61B84C1AD}"/>
              </a:ext>
            </a:extLst>
          </p:cNvPr>
          <p:cNvSpPr txBox="1"/>
          <p:nvPr/>
        </p:nvSpPr>
        <p:spPr>
          <a:xfrm>
            <a:off x="346161" y="909622"/>
            <a:ext cx="4127500" cy="369332"/>
          </a:xfrm>
          <a:prstGeom prst="rect">
            <a:avLst/>
          </a:prstGeom>
          <a:noFill/>
        </p:spPr>
        <p:txBody>
          <a:bodyPr wrap="square" lIns="91440" tIns="45720" rIns="91440" bIns="45720" anchor="t">
            <a:spAutoFit/>
          </a:bodyPr>
          <a:lstStyle/>
          <a:p>
            <a:pPr>
              <a:spcBef>
                <a:spcPts val="2400"/>
              </a:spcBef>
              <a:spcAft>
                <a:spcPts val="600"/>
              </a:spcAft>
              <a:buSzPts val="2600"/>
            </a:pPr>
            <a:r>
              <a:rPr lang="pt-BR" b="1">
                <a:highlight>
                  <a:srgbClr val="FFFFFF"/>
                </a:highlight>
                <a:latin typeface="Nunito"/>
                <a:ea typeface="Nunito"/>
                <a:cs typeface="Nunito"/>
                <a:sym typeface="Nunito"/>
              </a:rPr>
              <a:t>Utilização da Capacidade Instalada</a:t>
            </a:r>
          </a:p>
        </p:txBody>
      </p:sp>
      <p:sp>
        <p:nvSpPr>
          <p:cNvPr id="23" name="CaixaDeTexto 22">
            <a:extLst>
              <a:ext uri="{FF2B5EF4-FFF2-40B4-BE49-F238E27FC236}">
                <a16:creationId xmlns:a16="http://schemas.microsoft.com/office/drawing/2014/main" id="{D03EE44D-567D-8CCA-74E7-2F0674721FAE}"/>
              </a:ext>
            </a:extLst>
          </p:cNvPr>
          <p:cNvSpPr txBox="1"/>
          <p:nvPr/>
        </p:nvSpPr>
        <p:spPr>
          <a:xfrm>
            <a:off x="351000" y="5461719"/>
            <a:ext cx="6156000" cy="4068000"/>
          </a:xfrm>
          <a:prstGeom prst="rect">
            <a:avLst/>
          </a:prstGeom>
          <a:noFill/>
        </p:spPr>
        <p:txBody>
          <a:bodyPr wrap="square" lIns="91440" tIns="45720" rIns="91440" bIns="45720" numCol="2" spcCol="288000" rtlCol="0" anchor="t">
            <a:spAutoFit/>
          </a:bodyPr>
          <a:lstStyle/>
          <a:p>
            <a:pPr algn="just">
              <a:lnSpc>
                <a:spcPct val="150000"/>
              </a:lnSpc>
              <a:defRPr/>
            </a:pPr>
            <a:r>
              <a:rPr lang="pt-BR" sz="1100">
                <a:solidFill>
                  <a:srgbClr val="000000"/>
                </a:solidFill>
                <a:ea typeface="+mn-lt"/>
                <a:cs typeface="Calibri" panose="020F0502020204030204"/>
              </a:rPr>
              <a:t>	A utilização da Capacidade Instalada (UCI) da Indústria de Transformação </a:t>
            </a:r>
            <a:r>
              <a:rPr lang="pt-BR" sz="1100"/>
              <a:t>apresentou oscilações ao longo do período, refletindo diferentes níveis de atividade entre os setores industriais.</a:t>
            </a:r>
          </a:p>
          <a:p>
            <a:pPr algn="just">
              <a:lnSpc>
                <a:spcPct val="150000"/>
              </a:lnSpc>
              <a:defRPr/>
            </a:pPr>
            <a:r>
              <a:rPr lang="pt-BR" sz="1100"/>
              <a:t>	No 1T26, houve recuperação em relação ao trimestre imediatamente anterior para a maioria dos setores, mas o indicador permaneceu próximo aos níveis observados no 1T25, indicando uma ocupação produtiva ainda moderada.</a:t>
            </a:r>
          </a:p>
          <a:p>
            <a:pPr algn="just">
              <a:lnSpc>
                <a:spcPct val="150000"/>
              </a:lnSpc>
              <a:defRPr/>
            </a:pPr>
            <a:r>
              <a:rPr lang="pt-BR" sz="1100"/>
              <a:t>	O setor de veículos automotores, reboques e carrocerias manteve uma das maiores utilizações da capacidade instalada até ser ultrapassada pela metalurgia em 2T25. Vale ressaltar, ainda, a recuperação da UCI da metalurgia em 2025 em comparação a 2024, atingindo seu pico em 3T25 e com quedas subsequentes até perder o 1º lugar em 1T26.</a:t>
            </a:r>
          </a:p>
          <a:p>
            <a:pPr algn="just">
              <a:lnSpc>
                <a:spcPct val="150000"/>
              </a:lnSpc>
              <a:defRPr/>
            </a:pPr>
            <a:r>
              <a:rPr lang="pt-BR" sz="1100"/>
              <a:t>	Enquanto máquinas, aparelhos e materiais elétricos e máquinas e equipamentos permaneceram seguem a média da indústria, em contraste, o segmento de produtos de metal apresentou forte queda no 4T25 imediatamente apresentou recuperação total no 1T26, ainda abaixo dos demais setores desde o 2T25.</a:t>
            </a:r>
          </a:p>
          <a:p>
            <a:pPr algn="just">
              <a:lnSpc>
                <a:spcPct val="150000"/>
              </a:lnSpc>
              <a:defRPr/>
            </a:pPr>
            <a:r>
              <a:rPr lang="pt-BR" sz="1100"/>
              <a:t>	Com exceção do setor de produtos de metal que apresenta subutilização de capital, o aproveitamento geral do resto da indústria foi positivo e crescente.</a:t>
            </a:r>
            <a:endParaRPr lang="pt-BR" sz="1100">
              <a:solidFill>
                <a:srgbClr val="000000"/>
              </a:solidFill>
              <a:ea typeface="+mn-lt"/>
              <a:cs typeface="Calibri" panose="020F0502020204030204"/>
            </a:endParaRPr>
          </a:p>
        </p:txBody>
      </p:sp>
      <p:sp>
        <p:nvSpPr>
          <p:cNvPr id="8" name="Espaço Reservado para Número de Slide 7">
            <a:extLst>
              <a:ext uri="{FF2B5EF4-FFF2-40B4-BE49-F238E27FC236}">
                <a16:creationId xmlns:a16="http://schemas.microsoft.com/office/drawing/2014/main" id="{E18127D0-98D4-F163-A618-8D13D1286672}"/>
              </a:ext>
            </a:extLst>
          </p:cNvPr>
          <p:cNvSpPr>
            <a:spLocks noGrp="1"/>
          </p:cNvSpPr>
          <p:nvPr>
            <p:ph type="sldNum" sz="quarter" idx="12"/>
          </p:nvPr>
        </p:nvSpPr>
        <p:spPr/>
        <p:txBody>
          <a:bodyPr/>
          <a:lstStyle/>
          <a:p>
            <a:fld id="{DBDBA070-BF11-4ECF-A255-AE5E34372AE1}" type="slidenum">
              <a:rPr lang="pt-BR" smtClean="0"/>
              <a:t>11</a:t>
            </a:fld>
            <a:endParaRPr lang="pt-BR"/>
          </a:p>
        </p:txBody>
      </p:sp>
      <p:sp>
        <p:nvSpPr>
          <p:cNvPr id="6" name="CaixaDeTexto 5">
            <a:extLst>
              <a:ext uri="{FF2B5EF4-FFF2-40B4-BE49-F238E27FC236}">
                <a16:creationId xmlns:a16="http://schemas.microsoft.com/office/drawing/2014/main" id="{FAEFCB58-888D-66CA-12CA-D3B2B7DCE2A6}"/>
              </a:ext>
            </a:extLst>
          </p:cNvPr>
          <p:cNvSpPr txBox="1"/>
          <p:nvPr/>
        </p:nvSpPr>
        <p:spPr>
          <a:xfrm>
            <a:off x="5840875" y="5350701"/>
            <a:ext cx="3592424" cy="215444"/>
          </a:xfrm>
          <a:prstGeom prst="rect">
            <a:avLst/>
          </a:prstGeom>
          <a:noFill/>
        </p:spPr>
        <p:txBody>
          <a:bodyPr wrap="square" lIns="91440" tIns="45720" rIns="91440" bIns="45720" rtlCol="0" anchor="t">
            <a:spAutoFit/>
          </a:bodyPr>
          <a:lstStyle/>
          <a:p>
            <a:r>
              <a:rPr lang="pt-BR" sz="800"/>
              <a:t>Fonte: CNI</a:t>
            </a:r>
          </a:p>
        </p:txBody>
      </p:sp>
      <p:graphicFrame>
        <p:nvGraphicFramePr>
          <p:cNvPr id="3" name="Gráfico 2">
            <a:extLst>
              <a:ext uri="{FF2B5EF4-FFF2-40B4-BE49-F238E27FC236}">
                <a16:creationId xmlns:a16="http://schemas.microsoft.com/office/drawing/2014/main" id="{BBD66C13-168F-0F65-94C8-D2BC8CAE06B6}"/>
              </a:ext>
            </a:extLst>
          </p:cNvPr>
          <p:cNvGraphicFramePr>
            <a:graphicFrameLocks/>
          </p:cNvGraphicFramePr>
          <p:nvPr>
            <p:extLst>
              <p:ext uri="{D42A27DB-BD31-4B8C-83A1-F6EECF244321}">
                <p14:modId xmlns:p14="http://schemas.microsoft.com/office/powerpoint/2010/main" val="2400837898"/>
              </p:ext>
            </p:extLst>
          </p:nvPr>
        </p:nvGraphicFramePr>
        <p:xfrm>
          <a:off x="346161" y="1164639"/>
          <a:ext cx="6156000" cy="429708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50733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8C1F3-7B06-1AA6-7143-C06BF65D4AB4}"/>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59CCC684-20C8-E92C-9DAC-06AC5FBF2DFD}"/>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D85A2ED8-4DF8-2592-855E-0FD960C70D4C}"/>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60762B6C-AA99-A75D-29AA-A9E0C85C71A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BF536CF-5C9C-AA79-89DC-955E2FA7554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C3DDFC2D-F6EA-4F5C-F034-6A53BB63E752}"/>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6D50B70F-C09F-4263-8C42-5032880553CB}"/>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50FAC1A8-C8B8-C38B-88A2-4F3D5195304A}"/>
              </a:ext>
            </a:extLst>
          </p:cNvPr>
          <p:cNvSpPr>
            <a:spLocks noGrp="1"/>
          </p:cNvSpPr>
          <p:nvPr>
            <p:ph type="sldNum" sz="quarter" idx="12"/>
          </p:nvPr>
        </p:nvSpPr>
        <p:spPr/>
        <p:txBody>
          <a:bodyPr/>
          <a:lstStyle/>
          <a:p>
            <a:fld id="{DBDBA070-BF11-4ECF-A255-AE5E34372AE1}" type="slidenum">
              <a:rPr lang="pt-BR" smtClean="0"/>
              <a:t>12</a:t>
            </a:fld>
            <a:endParaRPr lang="pt-BR"/>
          </a:p>
        </p:txBody>
      </p:sp>
      <p:sp>
        <p:nvSpPr>
          <p:cNvPr id="9" name="CaixaDeTexto 8">
            <a:extLst>
              <a:ext uri="{FF2B5EF4-FFF2-40B4-BE49-F238E27FC236}">
                <a16:creationId xmlns:a16="http://schemas.microsoft.com/office/drawing/2014/main" id="{69F830CC-7DCF-E7F0-9893-950D0C0C6122}"/>
              </a:ext>
            </a:extLst>
          </p:cNvPr>
          <p:cNvSpPr txBox="1"/>
          <p:nvPr/>
        </p:nvSpPr>
        <p:spPr>
          <a:xfrm>
            <a:off x="350866" y="904259"/>
            <a:ext cx="6035639"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(IPEA) Indicador Mensal de FBCF - Análise Trimestral</a:t>
            </a:r>
            <a:endParaRPr lang="pt-BR" b="1">
              <a:highlight>
                <a:srgbClr val="FFFFFF"/>
              </a:highlight>
              <a:latin typeface="Nunito"/>
            </a:endParaRPr>
          </a:p>
        </p:txBody>
      </p:sp>
      <p:sp>
        <p:nvSpPr>
          <p:cNvPr id="10" name="CaixaDeTexto 9">
            <a:extLst>
              <a:ext uri="{FF2B5EF4-FFF2-40B4-BE49-F238E27FC236}">
                <a16:creationId xmlns:a16="http://schemas.microsoft.com/office/drawing/2014/main" id="{6BBD8FE3-1261-EDA2-C35B-F35F92E5A20D}"/>
              </a:ext>
            </a:extLst>
          </p:cNvPr>
          <p:cNvSpPr txBox="1"/>
          <p:nvPr/>
        </p:nvSpPr>
        <p:spPr>
          <a:xfrm>
            <a:off x="3374944" y="4848480"/>
            <a:ext cx="3168340" cy="338554"/>
          </a:xfrm>
          <a:prstGeom prst="rect">
            <a:avLst/>
          </a:prstGeom>
          <a:noFill/>
        </p:spPr>
        <p:txBody>
          <a:bodyPr wrap="square" lIns="91440" tIns="45720" rIns="91440" bIns="45720" anchor="t">
            <a:spAutoFit/>
          </a:bodyPr>
          <a:lstStyle/>
          <a:p>
            <a:r>
              <a:rPr lang="pt-BR" sz="800">
                <a:ea typeface="Calibri"/>
                <a:cs typeface="Times New Roman"/>
              </a:rPr>
              <a:t>Fonte: Carta de Conjuntura IBGE/IPEA. Elaboração própria.</a:t>
            </a:r>
          </a:p>
          <a:p>
            <a:r>
              <a:rPr lang="pt-BR" sz="800" i="1">
                <a:ea typeface="Calibri"/>
                <a:cs typeface="Times New Roman"/>
              </a:rPr>
              <a:t>*O 1T26 está incompleto, faltando dados do mês de março de 2026.</a:t>
            </a:r>
          </a:p>
        </p:txBody>
      </p:sp>
      <p:sp>
        <p:nvSpPr>
          <p:cNvPr id="2" name="CaixaDeTexto 1">
            <a:extLst>
              <a:ext uri="{FF2B5EF4-FFF2-40B4-BE49-F238E27FC236}">
                <a16:creationId xmlns:a16="http://schemas.microsoft.com/office/drawing/2014/main" id="{EFDBA713-5B95-63FD-BD60-2D618C18B1BA}"/>
              </a:ext>
            </a:extLst>
          </p:cNvPr>
          <p:cNvSpPr txBox="1"/>
          <p:nvPr/>
        </p:nvSpPr>
        <p:spPr>
          <a:xfrm>
            <a:off x="311749" y="5315219"/>
            <a:ext cx="6117881" cy="3367012"/>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pPr indent="0"/>
            <a:r>
              <a:rPr lang="pt-BR"/>
              <a:t>	</a:t>
            </a:r>
            <a:r>
              <a:rPr lang="pt-BR">
                <a:ea typeface="+mn-lt"/>
                <a:cs typeface="+mn-lt"/>
              </a:rPr>
              <a:t>O Indicador Ipea de Formação Bruta de Capital Fixo (FBCF), que agrega os investimentos em máquinas e equipamentos, na construção civil e em outros ativos fixos, apresenta desaceleração ao longo de 2025, atingindo seu ponto mais baixo no quarto trimestre, seguida por uma recuperação expressiva no primeiro trimestre de 2026. Essa trajetória reflete principalmente o comportamento do consumo aparente de máquinas e equipamentos, componente mais volátil do investimento, que registra forte queda entre o primeiro e o segundo trimestre de 2025, recuperação parcial no terceiro trimestre e nova retração no quarto. Já a construção civil mostra maior estabilidade, com oscilações mais moderadas durante todo o período. A retomada do indicador agregado em 1T26 sugere melhora das expectativas econômicas e das condições de investimento, especialmente pela recuperação das aquisições de máquinas e equipamentos, enquanto a construção civil mantém crescimento mais gradual e consistente.</a:t>
            </a:r>
            <a:endParaRPr lang="pt-BR">
              <a:ea typeface="Calibri"/>
            </a:endParaRPr>
          </a:p>
          <a:p>
            <a:br>
              <a:rPr lang="pt-BR"/>
            </a:br>
            <a:endParaRPr lang="pt-BR">
              <a:solidFill>
                <a:prstClr val="black"/>
              </a:solidFill>
              <a:ea typeface="Calibri"/>
            </a:endParaRPr>
          </a:p>
          <a:p>
            <a:pPr indent="0">
              <a:defRPr/>
            </a:pPr>
            <a:endParaRPr lang="pt-BR">
              <a:solidFill>
                <a:prstClr val="black"/>
              </a:solidFill>
              <a:ea typeface="Calibri"/>
            </a:endParaRPr>
          </a:p>
        </p:txBody>
      </p:sp>
      <p:graphicFrame>
        <p:nvGraphicFramePr>
          <p:cNvPr id="3" name="Gráfico 2">
            <a:extLst>
              <a:ext uri="{FF2B5EF4-FFF2-40B4-BE49-F238E27FC236}">
                <a16:creationId xmlns:a16="http://schemas.microsoft.com/office/drawing/2014/main" id="{18C1E2C4-DD1C-27FE-A31D-3106DC2D2A5C}"/>
              </a:ext>
            </a:extLst>
          </p:cNvPr>
          <p:cNvGraphicFramePr>
            <a:graphicFrameLocks/>
          </p:cNvGraphicFramePr>
          <p:nvPr>
            <p:extLst>
              <p:ext uri="{D42A27DB-BD31-4B8C-83A1-F6EECF244321}">
                <p14:modId xmlns:p14="http://schemas.microsoft.com/office/powerpoint/2010/main" val="4128711145"/>
              </p:ext>
            </p:extLst>
          </p:nvPr>
        </p:nvGraphicFramePr>
        <p:xfrm>
          <a:off x="396079" y="1272710"/>
          <a:ext cx="6120847" cy="358222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614765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7AD9-DBD7-AA47-A79B-4A25A900983B}"/>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67F85CC5-5117-B349-BDC7-8573CFA91263}"/>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BF091829-DA35-609C-B19F-3F0F08E5F0E6}"/>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1573663D-01EF-045A-5920-8583C7811D4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FE0C08DF-59ED-3542-07B3-2A8AFF956FC7}"/>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DF28B7D8-058F-9BD3-CF51-B0BD15ED9E54}"/>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B40336F3-6021-0553-A063-80DFE289A46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166A4D4B-E7A2-1C6A-6962-630901474EA9}"/>
              </a:ext>
            </a:extLst>
          </p:cNvPr>
          <p:cNvSpPr>
            <a:spLocks noGrp="1"/>
          </p:cNvSpPr>
          <p:nvPr>
            <p:ph type="sldNum" sz="quarter" idx="12"/>
          </p:nvPr>
        </p:nvSpPr>
        <p:spPr/>
        <p:txBody>
          <a:bodyPr/>
          <a:lstStyle/>
          <a:p>
            <a:fld id="{DBDBA070-BF11-4ECF-A255-AE5E34372AE1}" type="slidenum">
              <a:rPr lang="pt-BR" smtClean="0"/>
              <a:t>13</a:t>
            </a:fld>
            <a:endParaRPr lang="pt-BR"/>
          </a:p>
        </p:txBody>
      </p:sp>
      <p:sp>
        <p:nvSpPr>
          <p:cNvPr id="9" name="CaixaDeTexto 8">
            <a:extLst>
              <a:ext uri="{FF2B5EF4-FFF2-40B4-BE49-F238E27FC236}">
                <a16:creationId xmlns:a16="http://schemas.microsoft.com/office/drawing/2014/main" id="{A0BA607A-3F03-7320-30CC-795AEA741B8A}"/>
              </a:ext>
            </a:extLst>
          </p:cNvPr>
          <p:cNvSpPr txBox="1"/>
          <p:nvPr/>
        </p:nvSpPr>
        <p:spPr>
          <a:xfrm>
            <a:off x="350866" y="904259"/>
            <a:ext cx="6035639"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(IPEA) Consumo aparente de bens industriais – Tri.</a:t>
            </a:r>
            <a:endParaRPr lang="pt-BR" b="1">
              <a:highlight>
                <a:srgbClr val="FFFFFF"/>
              </a:highlight>
              <a:latin typeface="Nunito"/>
            </a:endParaRPr>
          </a:p>
        </p:txBody>
      </p:sp>
      <p:sp>
        <p:nvSpPr>
          <p:cNvPr id="10" name="CaixaDeTexto 9">
            <a:extLst>
              <a:ext uri="{FF2B5EF4-FFF2-40B4-BE49-F238E27FC236}">
                <a16:creationId xmlns:a16="http://schemas.microsoft.com/office/drawing/2014/main" id="{D5885AAE-B5F6-A36D-4287-054A05167459}"/>
              </a:ext>
            </a:extLst>
          </p:cNvPr>
          <p:cNvSpPr txBox="1"/>
          <p:nvPr/>
        </p:nvSpPr>
        <p:spPr>
          <a:xfrm>
            <a:off x="3331095" y="4345619"/>
            <a:ext cx="3194268" cy="461665"/>
          </a:xfrm>
          <a:prstGeom prst="rect">
            <a:avLst/>
          </a:prstGeom>
          <a:noFill/>
        </p:spPr>
        <p:txBody>
          <a:bodyPr wrap="square" lIns="91440" tIns="45720" rIns="91440" bIns="45720" anchor="t">
            <a:spAutoFit/>
          </a:bodyPr>
          <a:lstStyle/>
          <a:p>
            <a:r>
              <a:rPr lang="pt-BR" sz="800">
                <a:ea typeface="Calibri"/>
                <a:cs typeface="Times New Roman"/>
              </a:rPr>
              <a:t>Fonte: Carta de Conjuntura IBGE/IPEA. Elaboração própria.</a:t>
            </a:r>
          </a:p>
          <a:p>
            <a:r>
              <a:rPr lang="pt-BR" sz="800" i="1">
                <a:ea typeface="Calibri"/>
                <a:cs typeface="Times New Roman"/>
              </a:rPr>
              <a:t>*A série do 1T26 está incompleta na base de dados, faltando dados do mês de março.</a:t>
            </a:r>
          </a:p>
        </p:txBody>
      </p:sp>
      <p:sp>
        <p:nvSpPr>
          <p:cNvPr id="2" name="CaixaDeTexto 1">
            <a:extLst>
              <a:ext uri="{FF2B5EF4-FFF2-40B4-BE49-F238E27FC236}">
                <a16:creationId xmlns:a16="http://schemas.microsoft.com/office/drawing/2014/main" id="{DC98BDFD-7453-5CBE-D24F-B3118B4B8CBD}"/>
              </a:ext>
            </a:extLst>
          </p:cNvPr>
          <p:cNvSpPr txBox="1"/>
          <p:nvPr/>
        </p:nvSpPr>
        <p:spPr>
          <a:xfrm>
            <a:off x="353700" y="4950042"/>
            <a:ext cx="6149405" cy="3113096"/>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pPr indent="0">
              <a:defRPr/>
            </a:pPr>
            <a:r>
              <a:rPr lang="pt-BR">
                <a:solidFill>
                  <a:prstClr val="black"/>
                </a:solidFill>
                <a:ea typeface="+mn-lt"/>
                <a:cs typeface="+mn-lt"/>
              </a:rPr>
              <a:t>	O </a:t>
            </a:r>
            <a:r>
              <a:rPr kumimoji="0" lang="pt-BR" sz="1100" b="0" i="0" u="none" strike="noStrike" kern="1200" cap="none" spc="0" normalizeH="0" baseline="0" noProof="0">
                <a:ln>
                  <a:noFill/>
                </a:ln>
                <a:solidFill>
                  <a:prstClr val="black"/>
                </a:solidFill>
                <a:effectLst/>
                <a:uLnTx/>
                <a:uFillTx/>
                <a:ea typeface="+mn-lt"/>
                <a:cs typeface="+mn-lt"/>
              </a:rPr>
              <a:t>Indicador </a:t>
            </a:r>
            <a:r>
              <a:rPr lang="pt-BR">
                <a:solidFill>
                  <a:prstClr val="black"/>
                </a:solidFill>
                <a:ea typeface="+mn-lt"/>
                <a:cs typeface="+mn-lt"/>
              </a:rPr>
              <a:t>Ipea Mensal de Consumo Aparente </a:t>
            </a:r>
            <a:r>
              <a:rPr kumimoji="0" lang="pt-BR" sz="1100" b="0" i="0" u="none" strike="noStrike" kern="1200" cap="none" spc="0" normalizeH="0" baseline="0" noProof="0">
                <a:ln>
                  <a:noFill/>
                </a:ln>
                <a:solidFill>
                  <a:prstClr val="black"/>
                </a:solidFill>
                <a:effectLst/>
                <a:uLnTx/>
                <a:uFillTx/>
                <a:ea typeface="+mn-lt"/>
                <a:cs typeface="+mn-lt"/>
              </a:rPr>
              <a:t>de </a:t>
            </a:r>
            <a:r>
              <a:rPr lang="pt-BR">
                <a:solidFill>
                  <a:prstClr val="black"/>
                </a:solidFill>
                <a:ea typeface="+mn-lt"/>
                <a:cs typeface="+mn-lt"/>
              </a:rPr>
              <a:t>Bens Industriais apresenta relativa estabilidade ao longo de 2025, com leve desaceleração no quarto trimestre e recuperação no início de 2026. O segmento de bens de consumo </a:t>
            </a:r>
            <a:r>
              <a:rPr lang="pt-BR" err="1">
                <a:solidFill>
                  <a:prstClr val="black"/>
                </a:solidFill>
                <a:ea typeface="+mn-lt"/>
                <a:cs typeface="+mn-lt"/>
              </a:rPr>
              <a:t>semi</a:t>
            </a:r>
            <a:r>
              <a:rPr lang="pt-BR">
                <a:solidFill>
                  <a:prstClr val="black"/>
                </a:solidFill>
                <a:ea typeface="+mn-lt"/>
                <a:cs typeface="+mn-lt"/>
              </a:rPr>
              <a:t> e não duráveis permanece como o principal componente em volume, mantendo trajetória estável e retomando crescimento no último período analisado. Os bens de consumo duráveis também mostram recuperação em 1T26, sugerindo fortalecimento da demanda das famílias por produtos de maior valor agregado. Já os bens intermediários registram oscilações moderadas, refletindo o ritmo da atividade industrial, enquanto os bens de capital apresentam comportamento mais volátil, acompanhando as variações do investimento produtivo. Em conjunto, os dados indicam um cenário de crescimento gradual da demanda doméstica e da produção industrial, com sinais mais favoráveis para o consumo das famílias e para a atividade econômica no início de 2026.</a:t>
            </a:r>
            <a:endParaRPr lang="pt-BR">
              <a:solidFill>
                <a:prstClr val="black"/>
              </a:solidFill>
              <a:ea typeface="Calibri"/>
            </a:endParaRPr>
          </a:p>
          <a:p>
            <a:pPr indent="0">
              <a:defRPr/>
            </a:pPr>
            <a:endParaRPr lang="pt-BR">
              <a:solidFill>
                <a:prstClr val="black"/>
              </a:solidFill>
              <a:ea typeface="Calibri"/>
            </a:endParaRPr>
          </a:p>
          <a:p>
            <a:pPr indent="0">
              <a:defRPr/>
            </a:pPr>
            <a:endParaRPr lang="pt-BR">
              <a:solidFill>
                <a:prstClr val="black"/>
              </a:solidFill>
              <a:ea typeface="Calibri"/>
            </a:endParaRPr>
          </a:p>
        </p:txBody>
      </p:sp>
      <p:graphicFrame>
        <p:nvGraphicFramePr>
          <p:cNvPr id="3" name="Chart 1">
            <a:extLst>
              <a:ext uri="{FF2B5EF4-FFF2-40B4-BE49-F238E27FC236}">
                <a16:creationId xmlns:a16="http://schemas.microsoft.com/office/drawing/2014/main" id="{E77AFA99-41FB-1B5C-6A7B-533FF242CBF7}"/>
              </a:ext>
            </a:extLst>
          </p:cNvPr>
          <p:cNvGraphicFramePr>
            <a:graphicFrameLocks/>
          </p:cNvGraphicFramePr>
          <p:nvPr>
            <p:extLst>
              <p:ext uri="{D42A27DB-BD31-4B8C-83A1-F6EECF244321}">
                <p14:modId xmlns:p14="http://schemas.microsoft.com/office/powerpoint/2010/main" val="677136906"/>
              </p:ext>
            </p:extLst>
          </p:nvPr>
        </p:nvGraphicFramePr>
        <p:xfrm>
          <a:off x="359033" y="1263434"/>
          <a:ext cx="6159777" cy="331946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9234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834214"/>
            <a:ext cx="6156069" cy="8511399"/>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14</a:t>
            </a:fld>
            <a:endParaRPr lang="pt-BR"/>
          </a:p>
        </p:txBody>
      </p:sp>
      <p:sp>
        <p:nvSpPr>
          <p:cNvPr id="3" name="CaixaDeTexto 2">
            <a:extLst>
              <a:ext uri="{FF2B5EF4-FFF2-40B4-BE49-F238E27FC236}">
                <a16:creationId xmlns:a16="http://schemas.microsoft.com/office/drawing/2014/main" id="{A04ACE92-C722-66E1-58C8-E2649FD419B3}"/>
              </a:ext>
            </a:extLst>
          </p:cNvPr>
          <p:cNvSpPr txBox="1"/>
          <p:nvPr/>
        </p:nvSpPr>
        <p:spPr>
          <a:xfrm>
            <a:off x="350866" y="834214"/>
            <a:ext cx="4127500"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buSzPts val="2600"/>
            </a:pPr>
            <a:r>
              <a:rPr lang="pt-BR" b="1">
                <a:highlight>
                  <a:srgbClr val="FFFFFF"/>
                </a:highlight>
                <a:latin typeface="Nunito"/>
                <a:ea typeface="Nunito"/>
                <a:cs typeface="Nunito"/>
                <a:sym typeface="Nunito"/>
              </a:rPr>
              <a:t>Balança comercial </a:t>
            </a:r>
            <a:endParaRPr lang="pt-BR" sz="1800" b="1">
              <a:highlight>
                <a:srgbClr val="FFFFFF"/>
              </a:highlight>
              <a:latin typeface="Nunito"/>
              <a:ea typeface="Nunito"/>
              <a:cs typeface="Nunito"/>
              <a:sym typeface="Nunito"/>
            </a:endParaRPr>
          </a:p>
        </p:txBody>
      </p:sp>
      <p:sp>
        <p:nvSpPr>
          <p:cNvPr id="10" name="CaixaDeTexto 9">
            <a:extLst>
              <a:ext uri="{FF2B5EF4-FFF2-40B4-BE49-F238E27FC236}">
                <a16:creationId xmlns:a16="http://schemas.microsoft.com/office/drawing/2014/main" id="{1530740E-401E-B187-877D-EF90DB152194}"/>
              </a:ext>
            </a:extLst>
          </p:cNvPr>
          <p:cNvSpPr txBox="1"/>
          <p:nvPr/>
        </p:nvSpPr>
        <p:spPr>
          <a:xfrm>
            <a:off x="352791" y="4512773"/>
            <a:ext cx="6107633" cy="2377574"/>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r>
              <a:rPr lang="pt-BR"/>
              <a:t> A balança comercial brasileira abriu o primeiro trimestre de 2026 (1TRI2026) com um superávit de US$ 14,26 bilhões. O resultado representou uma retração de 34,49% em relação ao quarto trimestre de 2025, movimento condicionado por um recuo de 8,77% nas exportações (que somaram US$ 82,45 bilhões) e uma estabilidade relativa nas importações, que registraram US$ 68,19 bilhões. Apesar da desaceleração na margem trimestral, o desempenho na comparação anual foi significativamente superior: frente ao primeiro trimestre de 2025, o saldo comercial expandiu 48,46%, impulsionado pelo crescimento de 7,26% no valor exportado, superando o modesto avanço de 1,37% nas compras externas e demonstrando a solidez estrutural do comércio exterior nacional no início do ano.</a:t>
            </a:r>
          </a:p>
        </p:txBody>
      </p:sp>
      <p:sp>
        <p:nvSpPr>
          <p:cNvPr id="2" name="CaixaDeTexto 1">
            <a:extLst>
              <a:ext uri="{FF2B5EF4-FFF2-40B4-BE49-F238E27FC236}">
                <a16:creationId xmlns:a16="http://schemas.microsoft.com/office/drawing/2014/main" id="{645F73F4-FD30-B98D-7026-A8FCA11012F6}"/>
              </a:ext>
            </a:extLst>
          </p:cNvPr>
          <p:cNvSpPr txBox="1"/>
          <p:nvPr/>
        </p:nvSpPr>
        <p:spPr>
          <a:xfrm>
            <a:off x="5360028" y="4283698"/>
            <a:ext cx="1026485" cy="215444"/>
          </a:xfrm>
          <a:prstGeom prst="rect">
            <a:avLst/>
          </a:prstGeom>
          <a:noFill/>
        </p:spPr>
        <p:txBody>
          <a:bodyPr wrap="square" lIns="91440" tIns="45720" rIns="91440" bIns="45720" anchor="t">
            <a:spAutoFit/>
          </a:bodyPr>
          <a:lstStyle/>
          <a:p>
            <a:r>
              <a:rPr lang="pt-BR" sz="800">
                <a:ea typeface="Calibri"/>
                <a:cs typeface="Times New Roman" panose="02020603050405020304" pitchFamily="18" charset="0"/>
              </a:rPr>
              <a:t>Fonte: Comex Brasil</a:t>
            </a:r>
            <a:endParaRPr lang="pt-BR" sz="800">
              <a:cs typeface="Times New Roman" panose="02020603050405020304" pitchFamily="18" charset="0"/>
            </a:endParaRPr>
          </a:p>
        </p:txBody>
      </p:sp>
      <p:graphicFrame>
        <p:nvGraphicFramePr>
          <p:cNvPr id="7" name="Gráfico 6">
            <a:extLst>
              <a:ext uri="{FF2B5EF4-FFF2-40B4-BE49-F238E27FC236}">
                <a16:creationId xmlns:a16="http://schemas.microsoft.com/office/drawing/2014/main" id="{FB24C66F-D559-466B-BF4B-89B302C5B8E3}"/>
              </a:ext>
            </a:extLst>
          </p:cNvPr>
          <p:cNvGraphicFramePr>
            <a:graphicFrameLocks/>
          </p:cNvGraphicFramePr>
          <p:nvPr>
            <p:extLst>
              <p:ext uri="{D42A27DB-BD31-4B8C-83A1-F6EECF244321}">
                <p14:modId xmlns:p14="http://schemas.microsoft.com/office/powerpoint/2010/main" val="3690745468"/>
              </p:ext>
            </p:extLst>
          </p:nvPr>
        </p:nvGraphicFramePr>
        <p:xfrm>
          <a:off x="347695" y="1208484"/>
          <a:ext cx="6115450" cy="318081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74156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DA0F8-84E6-8453-C075-93A32919BB1B}"/>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1BEDA8A6-88A2-DC1D-B318-4D72A6310365}"/>
              </a:ext>
            </a:extLst>
          </p:cNvPr>
          <p:cNvSpPr/>
          <p:nvPr/>
        </p:nvSpPr>
        <p:spPr>
          <a:xfrm>
            <a:off x="350866" y="834214"/>
            <a:ext cx="6156069" cy="8511399"/>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AB9C371B-5B80-69A7-A51B-51C1B71B55FB}"/>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3441FD09-1F5D-E322-6272-1D1BF03549B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3159298-9F56-7FDE-526A-3071042B5CE4}"/>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060512FA-B7CE-82CE-26CB-BA4660D99AE5}"/>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ADB7193B-D057-0B68-22F9-8D7910F5EB7F}"/>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4D88155C-A845-FEC3-DD34-86322628ABF4}"/>
              </a:ext>
            </a:extLst>
          </p:cNvPr>
          <p:cNvSpPr>
            <a:spLocks noGrp="1"/>
          </p:cNvSpPr>
          <p:nvPr>
            <p:ph type="sldNum" sz="quarter" idx="12"/>
          </p:nvPr>
        </p:nvSpPr>
        <p:spPr/>
        <p:txBody>
          <a:bodyPr/>
          <a:lstStyle/>
          <a:p>
            <a:fld id="{DBDBA070-BF11-4ECF-A255-AE5E34372AE1}" type="slidenum">
              <a:rPr lang="pt-BR" smtClean="0"/>
              <a:t>15</a:t>
            </a:fld>
            <a:endParaRPr lang="pt-BR"/>
          </a:p>
        </p:txBody>
      </p:sp>
      <p:sp>
        <p:nvSpPr>
          <p:cNvPr id="3" name="CaixaDeTexto 2">
            <a:extLst>
              <a:ext uri="{FF2B5EF4-FFF2-40B4-BE49-F238E27FC236}">
                <a16:creationId xmlns:a16="http://schemas.microsoft.com/office/drawing/2014/main" id="{4727E671-EB45-D4CB-C03D-B5038A1701E8}"/>
              </a:ext>
            </a:extLst>
          </p:cNvPr>
          <p:cNvSpPr txBox="1"/>
          <p:nvPr/>
        </p:nvSpPr>
        <p:spPr>
          <a:xfrm>
            <a:off x="350866" y="834214"/>
            <a:ext cx="4127500"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buSzPts val="2600"/>
            </a:pPr>
            <a:r>
              <a:rPr lang="pt-BR" b="1">
                <a:highlight>
                  <a:srgbClr val="FFFFFF"/>
                </a:highlight>
                <a:latin typeface="Nunito"/>
                <a:ea typeface="Nunito"/>
                <a:cs typeface="Nunito"/>
                <a:sym typeface="Nunito"/>
              </a:rPr>
              <a:t>Balança comercial </a:t>
            </a:r>
            <a:endParaRPr lang="pt-BR" sz="1800" b="1">
              <a:highlight>
                <a:srgbClr val="FFFFFF"/>
              </a:highlight>
              <a:latin typeface="Nunito"/>
              <a:ea typeface="Nunito"/>
              <a:cs typeface="Nunito"/>
              <a:sym typeface="Nunito"/>
            </a:endParaRPr>
          </a:p>
        </p:txBody>
      </p:sp>
      <p:sp>
        <p:nvSpPr>
          <p:cNvPr id="10" name="CaixaDeTexto 9">
            <a:extLst>
              <a:ext uri="{FF2B5EF4-FFF2-40B4-BE49-F238E27FC236}">
                <a16:creationId xmlns:a16="http://schemas.microsoft.com/office/drawing/2014/main" id="{7BF14CC7-AA54-9BEA-7DD1-6D4F936FAD9E}"/>
              </a:ext>
            </a:extLst>
          </p:cNvPr>
          <p:cNvSpPr txBox="1"/>
          <p:nvPr/>
        </p:nvSpPr>
        <p:spPr>
          <a:xfrm>
            <a:off x="352655" y="4506589"/>
            <a:ext cx="6154075" cy="2377574"/>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r>
              <a:rPr lang="pt-BR">
                <a:ea typeface="+mn-lt"/>
                <a:cs typeface="+mn-lt"/>
              </a:rPr>
              <a:t> O comércio exterior paulista encerrou o primeiro trimestre de 2026 com um déficit de US$ 5,04 bilhões. Na análise trimestral, o saldo negativo apresentou um agravamento de 74,19% em relação ao quarto trimestre de 2025, penalizado por uma queda de 13,05% nas exportações, que recuaram para US$ 15,88 bilhões, sobrepondo-se ao alívio de 1,12% nas importações (US$ 20,92 bilhões). Sob a ótica do confronto anual com o primeiro trimestre de 2025, contudo, o cenário indicou uma recuperação relativa, com o déficit encolhendo 16,10%. Essa melhora frente ao ano anterior ocorreu devido à contração de 4,53% nas importações de insumos e bens, que compensou a estabilidade negativa das vendas externas do estado.</a:t>
            </a:r>
            <a:endParaRPr lang="pt-BR"/>
          </a:p>
        </p:txBody>
      </p:sp>
      <p:sp>
        <p:nvSpPr>
          <p:cNvPr id="2" name="CaixaDeTexto 1">
            <a:extLst>
              <a:ext uri="{FF2B5EF4-FFF2-40B4-BE49-F238E27FC236}">
                <a16:creationId xmlns:a16="http://schemas.microsoft.com/office/drawing/2014/main" id="{227460BF-44C5-09DE-F448-73FEBD32B3CB}"/>
              </a:ext>
            </a:extLst>
          </p:cNvPr>
          <p:cNvSpPr txBox="1"/>
          <p:nvPr/>
        </p:nvSpPr>
        <p:spPr>
          <a:xfrm>
            <a:off x="5360028" y="4283698"/>
            <a:ext cx="1026485" cy="215444"/>
          </a:xfrm>
          <a:prstGeom prst="rect">
            <a:avLst/>
          </a:prstGeom>
          <a:noFill/>
        </p:spPr>
        <p:txBody>
          <a:bodyPr wrap="square" lIns="91440" tIns="45720" rIns="91440" bIns="45720" anchor="t">
            <a:spAutoFit/>
          </a:bodyPr>
          <a:lstStyle/>
          <a:p>
            <a:r>
              <a:rPr lang="pt-BR" sz="800">
                <a:ea typeface="Calibri"/>
                <a:cs typeface="Times New Roman" panose="02020603050405020304" pitchFamily="18" charset="0"/>
              </a:rPr>
              <a:t>Fonte: Comex Brasil</a:t>
            </a:r>
            <a:endParaRPr lang="pt-BR" sz="800">
              <a:cs typeface="Times New Roman" panose="02020603050405020304" pitchFamily="18" charset="0"/>
            </a:endParaRPr>
          </a:p>
        </p:txBody>
      </p:sp>
      <p:graphicFrame>
        <p:nvGraphicFramePr>
          <p:cNvPr id="6" name="Gráfico 5">
            <a:extLst>
              <a:ext uri="{FF2B5EF4-FFF2-40B4-BE49-F238E27FC236}">
                <a16:creationId xmlns:a16="http://schemas.microsoft.com/office/drawing/2014/main" id="{B35360F4-33FF-437D-AFE4-0FB060B5D161}"/>
              </a:ext>
              <a:ext uri="{147F2762-F138-4A5C-976F-8EAC2B608ADB}">
                <a16:predDERef xmlns:a16="http://schemas.microsoft.com/office/drawing/2014/main" pred="{FB24C66F-D559-466B-BF4B-89B302C5B8E3}"/>
              </a:ext>
            </a:extLst>
          </p:cNvPr>
          <p:cNvGraphicFramePr>
            <a:graphicFrameLocks/>
          </p:cNvGraphicFramePr>
          <p:nvPr>
            <p:extLst>
              <p:ext uri="{D42A27DB-BD31-4B8C-83A1-F6EECF244321}">
                <p14:modId xmlns:p14="http://schemas.microsoft.com/office/powerpoint/2010/main" val="4100989420"/>
              </p:ext>
            </p:extLst>
          </p:nvPr>
        </p:nvGraphicFramePr>
        <p:xfrm>
          <a:off x="358382" y="1208485"/>
          <a:ext cx="6140519" cy="305699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36291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AB0F3-8C8E-A738-EB6C-BF517F3DEAD7}"/>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32900D03-6F86-D345-69C3-CBA8CD55A5CA}"/>
              </a:ext>
            </a:extLst>
          </p:cNvPr>
          <p:cNvSpPr/>
          <p:nvPr/>
        </p:nvSpPr>
        <p:spPr>
          <a:xfrm>
            <a:off x="350866" y="834214"/>
            <a:ext cx="6156069" cy="8511399"/>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B1104496-75C4-4127-CD0E-E128EAD21756}"/>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298188C6-FCE4-59D2-21F5-6E8633ED17E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20D74D85-F483-C1B2-4760-462F8269061E}"/>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FEA78B69-42CC-2D83-13B3-A1178FF2F2A3}"/>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DC0BF280-1C31-E21C-DDBD-55A15108C653}"/>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F71C1404-8630-9CF8-5A81-243D2418B428}"/>
              </a:ext>
            </a:extLst>
          </p:cNvPr>
          <p:cNvSpPr>
            <a:spLocks noGrp="1"/>
          </p:cNvSpPr>
          <p:nvPr>
            <p:ph type="sldNum" sz="quarter" idx="12"/>
          </p:nvPr>
        </p:nvSpPr>
        <p:spPr/>
        <p:txBody>
          <a:bodyPr/>
          <a:lstStyle/>
          <a:p>
            <a:fld id="{DBDBA070-BF11-4ECF-A255-AE5E34372AE1}" type="slidenum">
              <a:rPr lang="pt-BR" smtClean="0"/>
              <a:t>16</a:t>
            </a:fld>
            <a:endParaRPr lang="pt-BR"/>
          </a:p>
        </p:txBody>
      </p:sp>
      <p:sp>
        <p:nvSpPr>
          <p:cNvPr id="3" name="CaixaDeTexto 2">
            <a:extLst>
              <a:ext uri="{FF2B5EF4-FFF2-40B4-BE49-F238E27FC236}">
                <a16:creationId xmlns:a16="http://schemas.microsoft.com/office/drawing/2014/main" id="{E00F769C-BB51-E72D-C79C-E0C7AABCECCF}"/>
              </a:ext>
            </a:extLst>
          </p:cNvPr>
          <p:cNvSpPr txBox="1"/>
          <p:nvPr/>
        </p:nvSpPr>
        <p:spPr>
          <a:xfrm>
            <a:off x="350866" y="834214"/>
            <a:ext cx="4127500"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buSzPts val="2600"/>
            </a:pPr>
            <a:r>
              <a:rPr lang="pt-BR" b="1">
                <a:highlight>
                  <a:srgbClr val="FFFFFF"/>
                </a:highlight>
                <a:latin typeface="Nunito"/>
                <a:ea typeface="Nunito"/>
                <a:cs typeface="Nunito"/>
                <a:sym typeface="Nunito"/>
              </a:rPr>
              <a:t>Balança comercial </a:t>
            </a:r>
            <a:endParaRPr lang="pt-BR" sz="1800" b="1">
              <a:highlight>
                <a:srgbClr val="FFFFFF"/>
              </a:highlight>
              <a:latin typeface="Nunito"/>
              <a:ea typeface="Nunito"/>
              <a:cs typeface="Nunito"/>
              <a:sym typeface="Nunito"/>
            </a:endParaRPr>
          </a:p>
        </p:txBody>
      </p:sp>
      <p:sp>
        <p:nvSpPr>
          <p:cNvPr id="10" name="CaixaDeTexto 9">
            <a:extLst>
              <a:ext uri="{FF2B5EF4-FFF2-40B4-BE49-F238E27FC236}">
                <a16:creationId xmlns:a16="http://schemas.microsoft.com/office/drawing/2014/main" id="{306BAFBA-4D9A-0CD6-9112-AFDCC50D8918}"/>
              </a:ext>
            </a:extLst>
          </p:cNvPr>
          <p:cNvSpPr txBox="1"/>
          <p:nvPr/>
        </p:nvSpPr>
        <p:spPr>
          <a:xfrm>
            <a:off x="368136" y="4785195"/>
            <a:ext cx="6138595" cy="2351349"/>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r>
              <a:rPr lang="pt-BR">
                <a:ea typeface="+mn-lt"/>
                <a:cs typeface="+mn-lt"/>
              </a:rPr>
              <a:t> A balança comercial do município de Piracicaba registrou um déficit de US$ 294,60 milhões no primeiro trimestre de 2026, consolidando o maior saldo negativo da série histórica recente para o período. Em termos mensais e trimestrais, o descompasso se aprofundou 97,85% na comparação com o quarto trimestre de 2025; o fluxo exportador local esboçou uma reação e subiu 4,77%, atingindo US$ 585,82 milhões, mas acabou totalmente sufocado por um salto de 26,49% nas importações, que alcançaram US$ 880,42 milhões. Na comparação anual com o primeiro trimestre de 2025, o déficit piracicabano expandiu 23,20%, evidenciando que o avanço de 11,77% nas compras externas superou a expansão de 6,80% nas vendas do parque industrial da cidade.</a:t>
            </a:r>
          </a:p>
        </p:txBody>
      </p:sp>
      <p:sp>
        <p:nvSpPr>
          <p:cNvPr id="2" name="CaixaDeTexto 1">
            <a:extLst>
              <a:ext uri="{FF2B5EF4-FFF2-40B4-BE49-F238E27FC236}">
                <a16:creationId xmlns:a16="http://schemas.microsoft.com/office/drawing/2014/main" id="{3A72DAC8-70C5-2313-DF1F-1255D9EC1710}"/>
              </a:ext>
            </a:extLst>
          </p:cNvPr>
          <p:cNvSpPr txBox="1"/>
          <p:nvPr/>
        </p:nvSpPr>
        <p:spPr>
          <a:xfrm>
            <a:off x="5360028" y="4283698"/>
            <a:ext cx="1026485" cy="215444"/>
          </a:xfrm>
          <a:prstGeom prst="rect">
            <a:avLst/>
          </a:prstGeom>
          <a:noFill/>
        </p:spPr>
        <p:txBody>
          <a:bodyPr wrap="square" lIns="91440" tIns="45720" rIns="91440" bIns="45720" anchor="t">
            <a:spAutoFit/>
          </a:bodyPr>
          <a:lstStyle/>
          <a:p>
            <a:r>
              <a:rPr lang="pt-BR" sz="800">
                <a:ea typeface="Calibri"/>
                <a:cs typeface="Times New Roman" panose="02020603050405020304" pitchFamily="18" charset="0"/>
              </a:rPr>
              <a:t>Fonte: Comex Brasil</a:t>
            </a:r>
            <a:endParaRPr lang="pt-BR" sz="800">
              <a:cs typeface="Times New Roman" panose="02020603050405020304" pitchFamily="18" charset="0"/>
            </a:endParaRPr>
          </a:p>
        </p:txBody>
      </p:sp>
      <p:graphicFrame>
        <p:nvGraphicFramePr>
          <p:cNvPr id="7" name="Gráfico 6">
            <a:extLst>
              <a:ext uri="{FF2B5EF4-FFF2-40B4-BE49-F238E27FC236}">
                <a16:creationId xmlns:a16="http://schemas.microsoft.com/office/drawing/2014/main" id="{63DB8296-87A3-407B-944B-C39D72F73D92}"/>
              </a:ext>
            </a:extLst>
          </p:cNvPr>
          <p:cNvGraphicFramePr>
            <a:graphicFrameLocks/>
          </p:cNvGraphicFramePr>
          <p:nvPr>
            <p:extLst>
              <p:ext uri="{D42A27DB-BD31-4B8C-83A1-F6EECF244321}">
                <p14:modId xmlns:p14="http://schemas.microsoft.com/office/powerpoint/2010/main" val="4099962995"/>
              </p:ext>
            </p:extLst>
          </p:nvPr>
        </p:nvGraphicFramePr>
        <p:xfrm>
          <a:off x="350731" y="1203546"/>
          <a:ext cx="6156000" cy="3132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69955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29974-1D3C-0285-36F7-8C51CFE937D1}"/>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32C6CE68-9816-5B78-726F-B2FF9A770FF4}"/>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6552AA5-F32C-58AD-4FC5-E0B9FF885692}"/>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38AE4EE3-8429-A816-4426-E33FDCE5341D}"/>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6427CA62-0EB5-E409-3A72-D4D3BDE03CD0}"/>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2387B3E7-C0CC-E9E9-E86F-7253704AB902}"/>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AB032C89-6ED2-552A-BF09-12302FFA5827}"/>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B1684DA5-DF5A-DBF9-60BD-6080B3078F60}"/>
              </a:ext>
            </a:extLst>
          </p:cNvPr>
          <p:cNvSpPr txBox="1"/>
          <p:nvPr/>
        </p:nvSpPr>
        <p:spPr>
          <a:xfrm>
            <a:off x="346161" y="909622"/>
            <a:ext cx="4127500" cy="369332"/>
          </a:xfrm>
          <a:prstGeom prst="rect">
            <a:avLst/>
          </a:prstGeom>
          <a:noFill/>
        </p:spPr>
        <p:txBody>
          <a:bodyPr wrap="square" lIns="91440" tIns="45720" rIns="91440" bIns="45720" anchor="t">
            <a:spAutoFit/>
          </a:bodyPr>
          <a:lstStyle/>
          <a:p>
            <a:pPr>
              <a:spcBef>
                <a:spcPts val="2400"/>
              </a:spcBef>
              <a:spcAft>
                <a:spcPts val="600"/>
              </a:spcAft>
              <a:buSzPts val="2600"/>
            </a:pPr>
            <a:r>
              <a:rPr lang="pt-BR" b="1">
                <a:highlight>
                  <a:srgbClr val="FFFFFF"/>
                </a:highlight>
                <a:latin typeface="Nunito"/>
                <a:ea typeface="Nunito"/>
                <a:cs typeface="Nunito"/>
                <a:sym typeface="Nunito"/>
              </a:rPr>
              <a:t>Horas trabalhadas na produção</a:t>
            </a:r>
          </a:p>
        </p:txBody>
      </p:sp>
      <p:sp>
        <p:nvSpPr>
          <p:cNvPr id="8" name="Espaço Reservado para Número de Slide 7">
            <a:extLst>
              <a:ext uri="{FF2B5EF4-FFF2-40B4-BE49-F238E27FC236}">
                <a16:creationId xmlns:a16="http://schemas.microsoft.com/office/drawing/2014/main" id="{6BBFCA81-6304-9AF9-4BA6-AF8673C34CF2}"/>
              </a:ext>
            </a:extLst>
          </p:cNvPr>
          <p:cNvSpPr>
            <a:spLocks noGrp="1"/>
          </p:cNvSpPr>
          <p:nvPr>
            <p:ph type="sldNum" sz="quarter" idx="12"/>
          </p:nvPr>
        </p:nvSpPr>
        <p:spPr/>
        <p:txBody>
          <a:bodyPr/>
          <a:lstStyle/>
          <a:p>
            <a:fld id="{DBDBA070-BF11-4ECF-A255-AE5E34372AE1}" type="slidenum">
              <a:rPr lang="pt-BR" smtClean="0"/>
              <a:t>17</a:t>
            </a:fld>
            <a:endParaRPr lang="pt-BR"/>
          </a:p>
        </p:txBody>
      </p:sp>
      <p:sp>
        <p:nvSpPr>
          <p:cNvPr id="6" name="CaixaDeTexto 5">
            <a:extLst>
              <a:ext uri="{FF2B5EF4-FFF2-40B4-BE49-F238E27FC236}">
                <a16:creationId xmlns:a16="http://schemas.microsoft.com/office/drawing/2014/main" id="{2CA5D8C6-A64D-4ABE-A182-69DA7AB8FDDF}"/>
              </a:ext>
            </a:extLst>
          </p:cNvPr>
          <p:cNvSpPr txBox="1"/>
          <p:nvPr/>
        </p:nvSpPr>
        <p:spPr>
          <a:xfrm>
            <a:off x="5790083" y="5382487"/>
            <a:ext cx="637731" cy="215444"/>
          </a:xfrm>
          <a:prstGeom prst="rect">
            <a:avLst/>
          </a:prstGeom>
          <a:noFill/>
        </p:spPr>
        <p:txBody>
          <a:bodyPr wrap="square" lIns="91440" tIns="45720" rIns="91440" bIns="45720" rtlCol="0" anchor="t">
            <a:spAutoFit/>
          </a:bodyPr>
          <a:lstStyle/>
          <a:p>
            <a:r>
              <a:rPr lang="pt-BR" sz="800"/>
              <a:t>Fonte: CNI</a:t>
            </a:r>
          </a:p>
        </p:txBody>
      </p:sp>
      <p:sp>
        <p:nvSpPr>
          <p:cNvPr id="7" name="CaixaDeTexto 6">
            <a:extLst>
              <a:ext uri="{FF2B5EF4-FFF2-40B4-BE49-F238E27FC236}">
                <a16:creationId xmlns:a16="http://schemas.microsoft.com/office/drawing/2014/main" id="{7EEF0FA2-175F-CD04-ED92-25AABC6EF35A}"/>
              </a:ext>
            </a:extLst>
          </p:cNvPr>
          <p:cNvSpPr txBox="1">
            <a:spLocks/>
          </p:cNvSpPr>
          <p:nvPr/>
        </p:nvSpPr>
        <p:spPr>
          <a:xfrm>
            <a:off x="346161" y="5543657"/>
            <a:ext cx="6156268" cy="3874843"/>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ea typeface="+mn-lt"/>
                <a:cs typeface="+mn-lt"/>
              </a:defRPr>
            </a:lvl1pPr>
          </a:lstStyle>
          <a:p>
            <a:r>
              <a:rPr lang="pt-BR"/>
              <a:t>	O índice de horas trabalhadas na Indústria de Transformação apresentou trajetória instável ao longo do período analisado, refletindo ritmos distintos entre os setores da indústria.</a:t>
            </a:r>
          </a:p>
          <a:p>
            <a:r>
              <a:rPr lang="pt-BR"/>
              <a:t>	No 1T26, houve recuperação em relação ao trimestre imediatamente anterior, similar ao que ocorreu no 1T25. Porém, ainda apresentam resultados equivalentes ou inferiores ao mesmo período do ano passado.</a:t>
            </a:r>
          </a:p>
          <a:p>
            <a:r>
              <a:rPr lang="pt-BR"/>
              <a:t>	O setor de máquinas, aparelhos e materiais elétricos manteve o maior dinamismo, encerrando o 1T26 em patamar elevado, embora abaixo do pico observado no 3T25 e bem abaixo do 1T25.</a:t>
            </a:r>
          </a:p>
          <a:p>
            <a:r>
              <a:rPr lang="pt-BR"/>
              <a:t>	Já a os setores de metalurgia, produtos de metal e máquinas e equipamentos apresentaram recuperação no início de 2026, retornando a níveis próximos aos registrados no começo de 2025, com destaque para recuperação mais acentuada dos produtos de metal.</a:t>
            </a:r>
          </a:p>
          <a:p>
            <a:r>
              <a:rPr lang="pt-BR"/>
              <a:t>	O segmento de veículos automotores, reboques e carrocerias apresentou melhora em 1T26 frente ao 4T25, permanecendo marginalmente superior ao 1T25, porém com resultados absolutos significativamente inferiores aos outros setores ao longo de todo o período.</a:t>
            </a:r>
          </a:p>
          <a:p>
            <a:r>
              <a:rPr lang="pt-BR"/>
              <a:t>	De forma geral, a indústria segue com distribuição desigual, com alguns setores sustentando a atividade enquanto outros ainda operam abaixo da média.</a:t>
            </a:r>
          </a:p>
        </p:txBody>
      </p:sp>
      <p:graphicFrame>
        <p:nvGraphicFramePr>
          <p:cNvPr id="3" name="Gráfico 2">
            <a:extLst>
              <a:ext uri="{FF2B5EF4-FFF2-40B4-BE49-F238E27FC236}">
                <a16:creationId xmlns:a16="http://schemas.microsoft.com/office/drawing/2014/main" id="{32BCB8A9-4D63-477C-8230-10A52222F272}"/>
              </a:ext>
            </a:extLst>
          </p:cNvPr>
          <p:cNvGraphicFramePr>
            <a:graphicFrameLocks/>
          </p:cNvGraphicFramePr>
          <p:nvPr/>
        </p:nvGraphicFramePr>
        <p:xfrm>
          <a:off x="246282" y="1225561"/>
          <a:ext cx="6260853" cy="42439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74360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46161" y="909622"/>
            <a:ext cx="4127500" cy="369332"/>
          </a:xfrm>
          <a:prstGeom prst="rect">
            <a:avLst/>
          </a:prstGeom>
          <a:noFill/>
        </p:spPr>
        <p:txBody>
          <a:bodyPr wrap="square" lIns="91440" tIns="45720" rIns="91440" bIns="45720" anchor="t">
            <a:spAutoFit/>
          </a:bodyPr>
          <a:lstStyle/>
          <a:p>
            <a:pPr>
              <a:spcBef>
                <a:spcPts val="2400"/>
              </a:spcBef>
              <a:spcAft>
                <a:spcPts val="600"/>
              </a:spcAft>
              <a:buSzPts val="2600"/>
            </a:pPr>
            <a:r>
              <a:rPr lang="pt-BR" b="1">
                <a:highlight>
                  <a:srgbClr val="FFFFFF"/>
                </a:highlight>
                <a:latin typeface="Nunito"/>
                <a:ea typeface="Nunito"/>
                <a:cs typeface="Nunito"/>
                <a:sym typeface="Nunito"/>
              </a:rPr>
              <a:t>Emprego Industrial</a:t>
            </a:r>
          </a:p>
        </p:txBody>
      </p:sp>
      <p:sp>
        <p:nvSpPr>
          <p:cNvPr id="23" name="CaixaDeTexto 22">
            <a:extLst>
              <a:ext uri="{FF2B5EF4-FFF2-40B4-BE49-F238E27FC236}">
                <a16:creationId xmlns:a16="http://schemas.microsoft.com/office/drawing/2014/main" id="{3B7FEDC3-6A48-BC9F-A9F4-0EBB44FDDB14}"/>
              </a:ext>
            </a:extLst>
          </p:cNvPr>
          <p:cNvSpPr txBox="1"/>
          <p:nvPr/>
        </p:nvSpPr>
        <p:spPr>
          <a:xfrm>
            <a:off x="341456" y="5794011"/>
            <a:ext cx="6165678" cy="3620928"/>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ea typeface="+mn-lt"/>
                <a:cs typeface="+mn-lt"/>
              </a:defRPr>
            </a:lvl1pPr>
          </a:lstStyle>
          <a:p>
            <a:r>
              <a:rPr lang="pt-BR"/>
              <a:t>	O emprego na Indústria de Transformação apresentou uma evolução marginalmente positiva e estável ao longo da série.</a:t>
            </a:r>
          </a:p>
          <a:p>
            <a:r>
              <a:rPr lang="pt-BR"/>
              <a:t>	No 1T26, o indicador agregado da indústria de transformação se encontrou levemente abaixo em relação ao início de 2025, indicando um mercado de trabalho industrial mais resiliente, porém sem expansão significativa.</a:t>
            </a:r>
          </a:p>
          <a:p>
            <a:r>
              <a:rPr lang="pt-BR"/>
              <a:t>	O destaque positivo ficou com máquinas, aparelhos e materiais elétricos e máquinas e equipamentos, que mantiveram os maiores níveis de emprego da série, mas com uma redução a partir do 3T25 que foi mais acentuada no setor de máquinas, aparelhos e materiais elétricos.</a:t>
            </a:r>
          </a:p>
          <a:p>
            <a:r>
              <a:rPr lang="pt-BR"/>
              <a:t>	Em contraste, a metalurgia foi o único setor que apresentou queda no período, ressaltando evidente recuo do setor desde o começo de 2024 e com baixas seguidas desde 2T25. Em contrapartida, o setor de veículos automotores, reboques e carrocerias parte do mesmo ponto da metalurgia, mas apresenta crescimento estável ao longo do período.</a:t>
            </a:r>
          </a:p>
          <a:p>
            <a:r>
              <a:rPr lang="pt-BR"/>
              <a:t>	Já o setor de produtos de metal seguiu a mesma tendência da média da indústria, encerrando marginalmente abaixo do que 1T25.</a:t>
            </a:r>
          </a:p>
          <a:p>
            <a:endParaRPr lang="pt-B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18</a:t>
            </a:fld>
            <a:endParaRPr lang="pt-BR"/>
          </a:p>
        </p:txBody>
      </p:sp>
      <p:sp>
        <p:nvSpPr>
          <p:cNvPr id="6" name="CaixaDeTexto 5">
            <a:extLst>
              <a:ext uri="{FF2B5EF4-FFF2-40B4-BE49-F238E27FC236}">
                <a16:creationId xmlns:a16="http://schemas.microsoft.com/office/drawing/2014/main" id="{69B50466-19D1-9785-9B5E-55A8546233FF}"/>
              </a:ext>
            </a:extLst>
          </p:cNvPr>
          <p:cNvSpPr txBox="1"/>
          <p:nvPr/>
        </p:nvSpPr>
        <p:spPr>
          <a:xfrm>
            <a:off x="5915490" y="5687886"/>
            <a:ext cx="631534" cy="215444"/>
          </a:xfrm>
          <a:prstGeom prst="rect">
            <a:avLst/>
          </a:prstGeom>
          <a:noFill/>
        </p:spPr>
        <p:txBody>
          <a:bodyPr wrap="square" lIns="91440" tIns="45720" rIns="91440" bIns="45720" rtlCol="0" anchor="t">
            <a:spAutoFit/>
          </a:bodyPr>
          <a:lstStyle/>
          <a:p>
            <a:r>
              <a:rPr lang="pt-BR" sz="800"/>
              <a:t>Fonte: CNI</a:t>
            </a:r>
          </a:p>
        </p:txBody>
      </p:sp>
      <p:graphicFrame>
        <p:nvGraphicFramePr>
          <p:cNvPr id="2" name="Gráfico 1">
            <a:extLst>
              <a:ext uri="{FF2B5EF4-FFF2-40B4-BE49-F238E27FC236}">
                <a16:creationId xmlns:a16="http://schemas.microsoft.com/office/drawing/2014/main" id="{6B2D5B73-8C7D-52E9-7619-75DA63A263EC}"/>
              </a:ext>
            </a:extLst>
          </p:cNvPr>
          <p:cNvGraphicFramePr>
            <a:graphicFrameLocks/>
          </p:cNvGraphicFramePr>
          <p:nvPr/>
        </p:nvGraphicFramePr>
        <p:xfrm>
          <a:off x="346161" y="1137719"/>
          <a:ext cx="6165678" cy="48262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46623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048FF-1AA3-98A4-7774-FF211EB3038D}"/>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6CC0849E-1809-5682-2278-588021E6F923}"/>
              </a:ext>
            </a:extLst>
          </p:cNvPr>
          <p:cNvSpPr/>
          <p:nvPr/>
        </p:nvSpPr>
        <p:spPr>
          <a:xfrm>
            <a:off x="350866" y="834214"/>
            <a:ext cx="6156069" cy="8511399"/>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7F5C1B27-4C49-A6D8-29EA-58BFBA5CC4D5}"/>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D3A52329-8783-4863-0C39-0AC44DE652F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10B31B8D-AB1C-5EB6-74FC-B87DD5CB2FE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E07CCFE0-B008-5F20-45DA-C5912564DDBC}"/>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6E930EAA-D376-5A6B-3179-D7BD0EAFCCC4}"/>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15EDE74-08AF-0AF8-CBE1-C53A7B2FADC0}"/>
              </a:ext>
            </a:extLst>
          </p:cNvPr>
          <p:cNvSpPr>
            <a:spLocks noGrp="1"/>
          </p:cNvSpPr>
          <p:nvPr>
            <p:ph type="sldNum" sz="quarter" idx="12"/>
          </p:nvPr>
        </p:nvSpPr>
        <p:spPr/>
        <p:txBody>
          <a:bodyPr/>
          <a:lstStyle/>
          <a:p>
            <a:fld id="{DBDBA070-BF11-4ECF-A255-AE5E34372AE1}" type="slidenum">
              <a:rPr lang="pt-BR" smtClean="0"/>
              <a:t>19</a:t>
            </a:fld>
            <a:endParaRPr lang="pt-BR"/>
          </a:p>
        </p:txBody>
      </p:sp>
      <p:sp>
        <p:nvSpPr>
          <p:cNvPr id="3" name="CaixaDeTexto 2">
            <a:extLst>
              <a:ext uri="{FF2B5EF4-FFF2-40B4-BE49-F238E27FC236}">
                <a16:creationId xmlns:a16="http://schemas.microsoft.com/office/drawing/2014/main" id="{C0D7074C-F31F-CF78-142A-CF70BB0A2121}"/>
              </a:ext>
            </a:extLst>
          </p:cNvPr>
          <p:cNvSpPr txBox="1"/>
          <p:nvPr/>
        </p:nvSpPr>
        <p:spPr>
          <a:xfrm>
            <a:off x="350866" y="834214"/>
            <a:ext cx="4127500" cy="369332"/>
          </a:xfrm>
          <a:prstGeom prst="rect">
            <a:avLst/>
          </a:prstGeom>
          <a:noFill/>
        </p:spPr>
        <p:txBody>
          <a:bodyPr wrap="square" lIns="91440" tIns="45720" rIns="91440" bIns="45720" anchor="t">
            <a:spAutoFit/>
          </a:bodyPr>
          <a:lstStyle/>
          <a:p>
            <a:pPr>
              <a:spcBef>
                <a:spcPts val="2400"/>
              </a:spcBef>
              <a:spcAft>
                <a:spcPts val="600"/>
              </a:spcAft>
              <a:buSzPts val="2600"/>
            </a:pPr>
            <a:r>
              <a:rPr lang="pt-BR" b="1">
                <a:highlight>
                  <a:srgbClr val="FFFFFF"/>
                </a:highlight>
                <a:latin typeface="Nunito"/>
                <a:ea typeface="Nunito"/>
                <a:cs typeface="Nunito"/>
                <a:sym typeface="Nunito"/>
              </a:rPr>
              <a:t>Mercado de Trabalho Regional</a:t>
            </a:r>
            <a:endParaRPr lang="pt-BR" sz="1800" b="1">
              <a:highlight>
                <a:srgbClr val="FFFFFF"/>
              </a:highlight>
              <a:latin typeface="Nunito"/>
              <a:ea typeface="Nunito"/>
              <a:cs typeface="Nunito"/>
            </a:endParaRPr>
          </a:p>
        </p:txBody>
      </p:sp>
      <p:pic>
        <p:nvPicPr>
          <p:cNvPr id="6" name="Imagem 5" descr="Gráfico, Gráfico de linhas  O conteúdo gerado por IA pode estar incorreto.">
            <a:extLst>
              <a:ext uri="{FF2B5EF4-FFF2-40B4-BE49-F238E27FC236}">
                <a16:creationId xmlns:a16="http://schemas.microsoft.com/office/drawing/2014/main" id="{09555DDC-28CF-F595-0FDD-6CE839BE775C}"/>
              </a:ext>
            </a:extLst>
          </p:cNvPr>
          <p:cNvPicPr>
            <a:picLocks noChangeAspect="1"/>
          </p:cNvPicPr>
          <p:nvPr/>
        </p:nvPicPr>
        <p:blipFill>
          <a:blip r:embed="rId4"/>
          <a:stretch>
            <a:fillRect/>
          </a:stretch>
        </p:blipFill>
        <p:spPr>
          <a:xfrm>
            <a:off x="360103" y="1212736"/>
            <a:ext cx="6131593" cy="2620396"/>
          </a:xfrm>
          <a:prstGeom prst="rect">
            <a:avLst/>
          </a:prstGeom>
        </p:spPr>
      </p:pic>
      <p:pic>
        <p:nvPicPr>
          <p:cNvPr id="9" name="Imagem 8" descr="Gráfico, Gráfico de linhas  O conteúdo gerado por IA pode estar incorreto.">
            <a:extLst>
              <a:ext uri="{FF2B5EF4-FFF2-40B4-BE49-F238E27FC236}">
                <a16:creationId xmlns:a16="http://schemas.microsoft.com/office/drawing/2014/main" id="{EB91B70C-3CBD-3680-A7EC-7086A57B91A9}"/>
              </a:ext>
            </a:extLst>
          </p:cNvPr>
          <p:cNvPicPr>
            <a:picLocks noChangeAspect="1"/>
          </p:cNvPicPr>
          <p:nvPr/>
        </p:nvPicPr>
        <p:blipFill>
          <a:blip r:embed="rId5"/>
          <a:stretch>
            <a:fillRect/>
          </a:stretch>
        </p:blipFill>
        <p:spPr>
          <a:xfrm>
            <a:off x="356059" y="3844018"/>
            <a:ext cx="6140659" cy="2651351"/>
          </a:xfrm>
          <a:prstGeom prst="rect">
            <a:avLst/>
          </a:prstGeom>
        </p:spPr>
      </p:pic>
      <p:sp>
        <p:nvSpPr>
          <p:cNvPr id="2" name="CaixaDeTexto 1">
            <a:extLst>
              <a:ext uri="{FF2B5EF4-FFF2-40B4-BE49-F238E27FC236}">
                <a16:creationId xmlns:a16="http://schemas.microsoft.com/office/drawing/2014/main" id="{2407D25A-98AE-BAF2-7E31-6893BD7FF18F}"/>
              </a:ext>
            </a:extLst>
          </p:cNvPr>
          <p:cNvSpPr txBox="1"/>
          <p:nvPr/>
        </p:nvSpPr>
        <p:spPr>
          <a:xfrm>
            <a:off x="5390989" y="6404201"/>
            <a:ext cx="1026485" cy="215444"/>
          </a:xfrm>
          <a:prstGeom prst="rect">
            <a:avLst/>
          </a:prstGeom>
          <a:noFill/>
        </p:spPr>
        <p:txBody>
          <a:bodyPr wrap="square" lIns="91440" tIns="45720" rIns="91440" bIns="45720" anchor="t">
            <a:spAutoFit/>
          </a:bodyPr>
          <a:lstStyle/>
          <a:p>
            <a:r>
              <a:rPr lang="pt-BR" sz="800">
                <a:ea typeface="Calibri"/>
                <a:cs typeface="Times New Roman"/>
              </a:rPr>
              <a:t>Fonte: SIMESPI</a:t>
            </a:r>
            <a:endParaRPr lang="pt-BR" sz="800">
              <a:cs typeface="Times New Roman"/>
            </a:endParaRPr>
          </a:p>
        </p:txBody>
      </p:sp>
      <p:sp>
        <p:nvSpPr>
          <p:cNvPr id="13" name="CaixaDeTexto 12">
            <a:extLst>
              <a:ext uri="{FF2B5EF4-FFF2-40B4-BE49-F238E27FC236}">
                <a16:creationId xmlns:a16="http://schemas.microsoft.com/office/drawing/2014/main" id="{314C5451-B5D6-0E00-17B2-B12A4D284730}"/>
              </a:ext>
            </a:extLst>
          </p:cNvPr>
          <p:cNvSpPr txBox="1"/>
          <p:nvPr/>
        </p:nvSpPr>
        <p:spPr>
          <a:xfrm>
            <a:off x="368136" y="6627092"/>
            <a:ext cx="6138595" cy="756000"/>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r>
              <a:rPr lang="pt-BR">
                <a:ea typeface="+mn-lt"/>
                <a:cs typeface="+mn-lt"/>
              </a:rPr>
              <a:t> </a:t>
            </a:r>
            <a:r>
              <a:rPr lang="pt-BR">
                <a:latin typeface="Calibri"/>
                <a:ea typeface="+mn-lt"/>
              </a:rPr>
              <a:t>Verifica-se que apesar do maior número de admissões, o salário real das ocupações do setor metalmecânico mantem-se estável na média.</a:t>
            </a:r>
            <a:endParaRPr lang="pt-BR"/>
          </a:p>
        </p:txBody>
      </p:sp>
    </p:spTree>
    <p:extLst>
      <p:ext uri="{BB962C8B-B14F-4D97-AF65-F5344CB8AC3E}">
        <p14:creationId xmlns:p14="http://schemas.microsoft.com/office/powerpoint/2010/main" val="2635480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A0819C80-0B42-3AC6-3797-49FED885AD5C}"/>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35869"/>
            <a:ext cx="4127500" cy="369332"/>
          </a:xfrm>
          <a:prstGeom prst="rect">
            <a:avLst/>
          </a:prstGeom>
          <a:noFill/>
          <a:ln>
            <a:noFill/>
          </a:ln>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Produção de aço</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20</a:t>
            </a:fld>
            <a:endParaRPr lang="pt-BR"/>
          </a:p>
        </p:txBody>
      </p:sp>
      <p:sp>
        <p:nvSpPr>
          <p:cNvPr id="2" name="CaixaDeTexto 1">
            <a:extLst>
              <a:ext uri="{FF2B5EF4-FFF2-40B4-BE49-F238E27FC236}">
                <a16:creationId xmlns:a16="http://schemas.microsoft.com/office/drawing/2014/main" id="{7D1F7971-7D24-01CD-DD71-BEE3B3E72F6F}"/>
              </a:ext>
            </a:extLst>
          </p:cNvPr>
          <p:cNvSpPr txBox="1"/>
          <p:nvPr/>
        </p:nvSpPr>
        <p:spPr>
          <a:xfrm>
            <a:off x="336982" y="3953685"/>
            <a:ext cx="6100740" cy="5400000"/>
          </a:xfrm>
          <a:prstGeom prst="rect">
            <a:avLst/>
          </a:prstGeom>
          <a:noFill/>
        </p:spPr>
        <p:txBody>
          <a:bodyPr wrap="square" lIns="91440" tIns="45720" rIns="91440" bIns="45720" numCol="2" spcCol="288000" rtlCol="0" anchor="t">
            <a:spAutoFit/>
          </a:bodyPr>
          <a:lstStyle/>
          <a:p>
            <a:pPr algn="just">
              <a:lnSpc>
                <a:spcPct val="150000"/>
              </a:lnSpc>
            </a:pPr>
            <a:r>
              <a:rPr lang="pt-BR" sz="1050" dirty="0">
                <a:ea typeface="+mn-lt"/>
                <a:cs typeface="+mn-lt"/>
              </a:rPr>
              <a:t>	</a:t>
            </a:r>
            <a:r>
              <a:rPr lang="pt-BR" sz="1050" dirty="0">
                <a:ea typeface="Calibri"/>
                <a:cs typeface="Calibri"/>
              </a:rPr>
              <a:t>De acordo com os dados divulgados pela "Aço Brasil", para a produção do setor siderúrgico brasileiro, pode-se observar que o aço bruto se manteve como o principal termômetro para a indústria. O primeiro trimestre de 2026 encerrou com uma produção total de aproximadamente 7,98 milhões de toneladas, consolidando um recuo de 4,2% frente ao mesmo período de 2025. O mês de março de 2026, isoladamente, registrou 2,78 milhões de toneladas produzidas. Em um cenário similar, a produção de produtos laminados somou 5,61 milhões de toneladas no 1T26, acumulando uma queda de 4,1% em relação ao observado no 1T25. Esse recuo produtivo contínuo pode ser explicado, em grande parte, pelo avanço do material estrangeiro no mercado interno, com as importações totais brasileiras registrando um aumento de 4,2% no trimestre, chegando a 1,75 milhões de toneladas, forçando as usinas nacionais a ajustarem suas linhas de laminação para evitar o superestoque e operarem abaixo de sua capacidade instalada ideal.</a:t>
            </a:r>
          </a:p>
          <a:p>
            <a:pPr algn="just">
              <a:lnSpc>
                <a:spcPct val="150000"/>
              </a:lnSpc>
            </a:pPr>
            <a:r>
              <a:rPr lang="pt-BR" sz="1050" dirty="0">
                <a:ea typeface="Calibri"/>
                <a:cs typeface="Calibri"/>
              </a:rPr>
              <a:t>   Por outro lado, a fabricação de semiacabados demonstrou uma relativa estabilidade durante o trimestre, fechando o período com 2,52 milhões de toneladas fabricadas, o que representa um leve recuo de 2% em relação ao 1T25. Já o ferro-gusa também acompanhou a tendência de retração, totalizando 6035 milhões de toneladas produzidas no 1T26 e fechando o trimestre com uma queda de 2,2% na comparação anual.</a:t>
            </a:r>
          </a:p>
          <a:p>
            <a:pPr algn="just">
              <a:lnSpc>
                <a:spcPct val="150000"/>
              </a:lnSpc>
            </a:pPr>
            <a:r>
              <a:rPr lang="pt-BR" sz="1050" dirty="0">
                <a:ea typeface="Calibri"/>
                <a:cs typeface="Calibri"/>
              </a:rPr>
              <a:t>    Deste modo, ao fim do período, foi possível verificar que o principal desafio para a indústria nacional continuou sendo a entrada de aço importado. Contudo, é importante destacar que, para escoar a produção e atenuar a retração interna, o setor encontrou fôlego no mercado externo, com as exportações totais brasileiras crescendo 13% no 1T26 frente ao 1T25, atingindo 2,78 milhões de toneladas, impulsionadas principalmente pela alta nas vendas de semiacabados (14,1%).</a:t>
            </a:r>
          </a:p>
        </p:txBody>
      </p:sp>
      <p:sp>
        <p:nvSpPr>
          <p:cNvPr id="18" name="CaixaDeTexto 17">
            <a:extLst>
              <a:ext uri="{FF2B5EF4-FFF2-40B4-BE49-F238E27FC236}">
                <a16:creationId xmlns:a16="http://schemas.microsoft.com/office/drawing/2014/main" id="{37428FEF-466D-4F88-BBDD-E469DBFB75C5}"/>
              </a:ext>
            </a:extLst>
          </p:cNvPr>
          <p:cNvSpPr txBox="1"/>
          <p:nvPr/>
        </p:nvSpPr>
        <p:spPr>
          <a:xfrm>
            <a:off x="5614988" y="3751164"/>
            <a:ext cx="2930031" cy="215444"/>
          </a:xfrm>
          <a:prstGeom prst="rect">
            <a:avLst/>
          </a:prstGeom>
          <a:noFill/>
        </p:spPr>
        <p:txBody>
          <a:bodyPr wrap="square" lIns="91440" tIns="45720" rIns="91440" bIns="45720" rtlCol="0" anchor="t">
            <a:spAutoFit/>
          </a:bodyPr>
          <a:lstStyle/>
          <a:p>
            <a:r>
              <a:rPr lang="pt-BR" sz="700">
                <a:solidFill>
                  <a:schemeClr val="tx1">
                    <a:lumMod val="75000"/>
                    <a:lumOff val="25000"/>
                  </a:schemeClr>
                </a:solidFill>
                <a:latin typeface="Arial"/>
                <a:cs typeface="Arial"/>
              </a:rPr>
              <a:t>Fonte: </a:t>
            </a:r>
            <a:r>
              <a:rPr lang="pt-BR" sz="800"/>
              <a:t>Aço Brasil </a:t>
            </a:r>
            <a:endParaRPr lang="pt-BR" sz="800" baseline="3000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6" name="Gráfico 2">
            <a:extLst>
              <a:ext uri="{FF2B5EF4-FFF2-40B4-BE49-F238E27FC236}">
                <a16:creationId xmlns:a16="http://schemas.microsoft.com/office/drawing/2014/main" id="{EFEA1FC8-A71E-4AEC-A407-743D0290895E}"/>
              </a:ext>
              <a:ext uri="{147F2762-F138-4A5C-976F-8EAC2B608ADB}">
                <a16:predDERef xmlns:a16="http://schemas.microsoft.com/office/drawing/2014/main" pred="{8CC54425-0145-4C85-894D-BC2EBD39BEE2}"/>
              </a:ext>
            </a:extLst>
          </p:cNvPr>
          <p:cNvGraphicFramePr>
            <a:graphicFrameLocks/>
          </p:cNvGraphicFramePr>
          <p:nvPr>
            <p:extLst>
              <p:ext uri="{D42A27DB-BD31-4B8C-83A1-F6EECF244321}">
                <p14:modId xmlns:p14="http://schemas.microsoft.com/office/powerpoint/2010/main" val="2044942928"/>
              </p:ext>
            </p:extLst>
          </p:nvPr>
        </p:nvGraphicFramePr>
        <p:xfrm>
          <a:off x="420279" y="1167197"/>
          <a:ext cx="6031328" cy="279941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53999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A0819C80-0B42-3AC6-3797-49FED885AD5C}"/>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47" name="CaixaDeTexto 46">
            <a:extLst>
              <a:ext uri="{FF2B5EF4-FFF2-40B4-BE49-F238E27FC236}">
                <a16:creationId xmlns:a16="http://schemas.microsoft.com/office/drawing/2014/main" id="{2047EEEE-7E17-5D53-96B0-5A23D54FA0AD}"/>
              </a:ext>
            </a:extLst>
          </p:cNvPr>
          <p:cNvSpPr txBox="1"/>
          <p:nvPr/>
        </p:nvSpPr>
        <p:spPr>
          <a:xfrm>
            <a:off x="5614988" y="4015608"/>
            <a:ext cx="5770469" cy="215444"/>
          </a:xfrm>
          <a:prstGeom prst="rect">
            <a:avLst/>
          </a:prstGeom>
          <a:noFill/>
        </p:spPr>
        <p:txBody>
          <a:bodyPr wrap="square" rtlCol="0">
            <a:spAutoFit/>
          </a:bodyPr>
          <a:lstStyle/>
          <a:p>
            <a:r>
              <a:rPr lang="pt-BR" sz="700" dirty="0">
                <a:solidFill>
                  <a:schemeClr val="tx1">
                    <a:lumMod val="75000"/>
                    <a:lumOff val="25000"/>
                  </a:schemeClr>
                </a:solidFill>
                <a:latin typeface="Arial" panose="020B0604020202020204" pitchFamily="34" charset="0"/>
                <a:cs typeface="Arial" panose="020B0604020202020204" pitchFamily="34" charset="0"/>
              </a:rPr>
              <a:t>Fonte:</a:t>
            </a:r>
            <a:r>
              <a:rPr lang="pt-BR" sz="800" dirty="0">
                <a:solidFill>
                  <a:schemeClr val="tx1">
                    <a:lumMod val="75000"/>
                    <a:lumOff val="25000"/>
                  </a:schemeClr>
                </a:solidFill>
                <a:latin typeface="Arial" panose="020B0604020202020204" pitchFamily="34" charset="0"/>
                <a:cs typeface="Arial" panose="020B0604020202020204" pitchFamily="34" charset="0"/>
              </a:rPr>
              <a:t> </a:t>
            </a:r>
            <a:r>
              <a:rPr lang="pt-BR" sz="800" dirty="0"/>
              <a:t>Aço Brasil </a:t>
            </a:r>
            <a:endParaRPr lang="pt-BR" sz="800" baseline="300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48" name="Espaço Reservado para Número de Slide 47">
            <a:extLst>
              <a:ext uri="{FF2B5EF4-FFF2-40B4-BE49-F238E27FC236}">
                <a16:creationId xmlns:a16="http://schemas.microsoft.com/office/drawing/2014/main" id="{34F90BCB-5213-6435-F330-C274F5B1BDB6}"/>
              </a:ext>
            </a:extLst>
          </p:cNvPr>
          <p:cNvSpPr>
            <a:spLocks noGrp="1"/>
          </p:cNvSpPr>
          <p:nvPr>
            <p:ph type="sldNum" sz="quarter" idx="12"/>
          </p:nvPr>
        </p:nvSpPr>
        <p:spPr/>
        <p:txBody>
          <a:bodyPr/>
          <a:lstStyle/>
          <a:p>
            <a:fld id="{DBDBA070-BF11-4ECF-A255-AE5E34372AE1}" type="slidenum">
              <a:rPr lang="pt-BR" smtClean="0"/>
              <a:t>21</a:t>
            </a:fld>
            <a:endParaRPr lang="pt-BR"/>
          </a:p>
        </p:txBody>
      </p:sp>
      <p:sp>
        <p:nvSpPr>
          <p:cNvPr id="49" name="CaixaDeTexto 48">
            <a:extLst>
              <a:ext uri="{FF2B5EF4-FFF2-40B4-BE49-F238E27FC236}">
                <a16:creationId xmlns:a16="http://schemas.microsoft.com/office/drawing/2014/main" id="{39327CEC-3B36-00C4-ABBF-4A12462DACE6}"/>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 name="CaixaDeTexto 1">
            <a:extLst>
              <a:ext uri="{FF2B5EF4-FFF2-40B4-BE49-F238E27FC236}">
                <a16:creationId xmlns:a16="http://schemas.microsoft.com/office/drawing/2014/main" id="{219E11CC-EDB8-DB66-55F1-8E770AACF30D}"/>
              </a:ext>
            </a:extLst>
          </p:cNvPr>
          <p:cNvSpPr txBox="1"/>
          <p:nvPr/>
        </p:nvSpPr>
        <p:spPr>
          <a:xfrm>
            <a:off x="372033" y="1001276"/>
            <a:ext cx="4127500" cy="369332"/>
          </a:xfrm>
          <a:prstGeom prst="rect">
            <a:avLst/>
          </a:prstGeom>
          <a:noFill/>
        </p:spPr>
        <p:txBody>
          <a:bodyPr wrap="square" lIns="91440" tIns="45720" rIns="91440" bIns="45720" anchor="t">
            <a:spAutoFit/>
          </a:bodyPr>
          <a:lstStyle/>
          <a:p>
            <a:pPr>
              <a:spcBef>
                <a:spcPts val="2400"/>
              </a:spcBef>
              <a:spcAft>
                <a:spcPts val="600"/>
              </a:spcAft>
              <a:buSzPts val="2600"/>
            </a:pPr>
            <a:r>
              <a:rPr lang="pt-BR" b="1">
                <a:highlight>
                  <a:srgbClr val="FFFFFF"/>
                </a:highlight>
                <a:latin typeface="Nunito"/>
                <a:ea typeface="Nunito"/>
                <a:cs typeface="Nunito"/>
                <a:sym typeface="Nunito"/>
              </a:rPr>
              <a:t>Indústria Siderúrgica</a:t>
            </a:r>
          </a:p>
        </p:txBody>
      </p:sp>
      <p:sp>
        <p:nvSpPr>
          <p:cNvPr id="6" name="CaixaDeTexto 5">
            <a:extLst>
              <a:ext uri="{FF2B5EF4-FFF2-40B4-BE49-F238E27FC236}">
                <a16:creationId xmlns:a16="http://schemas.microsoft.com/office/drawing/2014/main" id="{D622F885-AAB7-9DC8-0379-2C70F063A750}"/>
              </a:ext>
            </a:extLst>
          </p:cNvPr>
          <p:cNvSpPr txBox="1"/>
          <p:nvPr/>
        </p:nvSpPr>
        <p:spPr>
          <a:xfrm>
            <a:off x="363604" y="4166487"/>
            <a:ext cx="6130792" cy="5157117"/>
          </a:xfrm>
          <a:prstGeom prst="rect">
            <a:avLst/>
          </a:prstGeom>
          <a:noFill/>
        </p:spPr>
        <p:txBody>
          <a:bodyPr wrap="square" lIns="91440" tIns="45720" rIns="91440" bIns="45720" numCol="2" spcCol="288000" rtlCol="0" anchor="t">
            <a:spAutoFit/>
          </a:bodyPr>
          <a:lstStyle>
            <a:defPPr>
              <a:defRPr lang="en-US"/>
            </a:defPPr>
            <a:lvl1pPr indent="132715" algn="just">
              <a:lnSpc>
                <a:spcPct val="150000"/>
              </a:lnSpc>
              <a:defRPr sz="1100"/>
            </a:lvl1pPr>
          </a:lstStyle>
          <a:p>
            <a:pPr indent="0"/>
            <a:r>
              <a:rPr lang="pt-BR" sz="1050" dirty="0">
                <a:solidFill>
                  <a:srgbClr val="000000"/>
                </a:solidFill>
                <a:ea typeface="+mn-lt"/>
                <a:cs typeface="+mn-lt"/>
              </a:rPr>
              <a:t>	O destaque do mercado no 1T26 seguiu sendo o forte impacto do aço importado </a:t>
            </a:r>
            <a:r>
              <a:rPr lang="pt-BR" sz="1050" dirty="0">
                <a:solidFill>
                  <a:srgbClr val="FF0000"/>
                </a:solidFill>
                <a:ea typeface="+mn-lt"/>
                <a:cs typeface="+mn-lt"/>
              </a:rPr>
              <a:t>na captura </a:t>
            </a:r>
            <a:r>
              <a:rPr lang="pt-BR" sz="1050" dirty="0">
                <a:solidFill>
                  <a:srgbClr val="000000"/>
                </a:solidFill>
                <a:ea typeface="+mn-lt"/>
                <a:cs typeface="+mn-lt"/>
              </a:rPr>
              <a:t>da demanda interna. Segundo a “Aço Brasil”, o consumo aparente manteve-se acima de 2 milhões de toneladas nos três meses, com pico em março (2.403 mil toneladas). No acumulado do trimestre, o consumo somou 6,58 milhões de toneladas, leve recuo de 2,2% ante o mesmo período de 2025. Essa demanda seguiu atrelada à construção civil e ao setor automotivo, que buscaram manter o ritmo de produção no início do ano.</a:t>
            </a:r>
          </a:p>
          <a:p>
            <a:pPr indent="0"/>
            <a:r>
              <a:rPr lang="pt-BR" sz="1050" dirty="0">
                <a:solidFill>
                  <a:srgbClr val="000000"/>
                </a:solidFill>
                <a:ea typeface="+mn-lt"/>
                <a:cs typeface="+mn-lt"/>
              </a:rPr>
              <a:t>	Além disso, as importações continuaram elevadas no 1T26, com a China respondendo por cerca de 63,6% do material internalizado. Para conter essa pressão, em fev/26 o Gecex/Camex aplicou antidumping definitivo (5 anos) sobre laminados a frio (Res. 854) e galvanizados (Res. 857). Mesmo assim, as importações do trimestre atingiram 1,75 milhão de toneladas, alta de 4,2% em relação ao 1T25, consolidando a pressão sobre o market share das usinas brasileiras.</a:t>
            </a:r>
          </a:p>
          <a:p>
            <a:pPr indent="0"/>
            <a:r>
              <a:rPr lang="pt-BR" sz="1050" dirty="0">
                <a:solidFill>
                  <a:srgbClr val="000000"/>
                </a:solidFill>
                <a:ea typeface="+mn-lt"/>
                <a:cs typeface="+mn-lt"/>
              </a:rPr>
              <a:t>	As vendas internas recuaram face à concorrência acirrada com o material estrangeiro. No acumulado do 1T26, retraíram 2,9% na comparação anual, somando 5,09 milhões de toneladas. Embora março tenha apresentado recuperação isolada (1.907 mil toneladas frente a 1.565 mil em janeiro), o cenário impôs um estrangulamento operacional, gerando alerta constante para o fluxo de caixa setorial e para os estoques nas cadeias de distribuição.</a:t>
            </a:r>
          </a:p>
          <a:p>
            <a:pPr indent="0"/>
            <a:r>
              <a:rPr lang="pt-BR" sz="1050" dirty="0">
                <a:solidFill>
                  <a:srgbClr val="000000"/>
                </a:solidFill>
                <a:ea typeface="+mn-lt"/>
                <a:cs typeface="+mn-lt"/>
              </a:rPr>
              <a:t>	Por fim, as exportações mantiveram seu papel de rota de fuga para escoamento da produção nacional. No 1T26, cresceram de forma sólida, atingindo 2,78 milhões de toneladas, aumento de 13% quando comparado ao 1T25. Esse crescimento foi vital para evitar maior deterioração operacional nas usinas do país, ajudando a compensar a retração interna, mesmo que muitas vezes limitadas à venda de insumos com margens menores.</a:t>
            </a:r>
            <a:endParaRPr lang="pt-BR" sz="1000" dirty="0">
              <a:ea typeface="Calibri" panose="020F0502020204030204"/>
              <a:cs typeface="Calibri" panose="020F0502020204030204"/>
            </a:endParaRPr>
          </a:p>
        </p:txBody>
      </p:sp>
      <p:graphicFrame>
        <p:nvGraphicFramePr>
          <p:cNvPr id="7" name="Gráfico 4">
            <a:extLst>
              <a:ext uri="{FF2B5EF4-FFF2-40B4-BE49-F238E27FC236}">
                <a16:creationId xmlns:a16="http://schemas.microsoft.com/office/drawing/2014/main" id="{5615D158-AD22-4BC6-BC89-4BEB1BCBECE6}"/>
              </a:ext>
              <a:ext uri="{147F2762-F138-4A5C-976F-8EAC2B608ADB}">
                <a16:predDERef xmlns:a16="http://schemas.microsoft.com/office/drawing/2014/main" pred="{FA7B7686-0F78-41B6-803E-CEE80531F6ED}"/>
              </a:ext>
            </a:extLst>
          </p:cNvPr>
          <p:cNvGraphicFramePr>
            <a:graphicFrameLocks/>
          </p:cNvGraphicFramePr>
          <p:nvPr>
            <p:extLst>
              <p:ext uri="{D42A27DB-BD31-4B8C-83A1-F6EECF244321}">
                <p14:modId xmlns:p14="http://schemas.microsoft.com/office/powerpoint/2010/main" val="1244633340"/>
              </p:ext>
            </p:extLst>
          </p:nvPr>
        </p:nvGraphicFramePr>
        <p:xfrm>
          <a:off x="414453" y="1275943"/>
          <a:ext cx="6056621" cy="289054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85720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60852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A0819C80-0B42-3AC6-3797-49FED885AD5C}"/>
              </a:ext>
            </a:extLst>
          </p:cNvPr>
          <p:cNvSpPr txBox="1"/>
          <p:nvPr/>
        </p:nvSpPr>
        <p:spPr>
          <a:xfrm>
            <a:off x="2058670" y="4653203"/>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5"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Indicadores de Produção Nacional </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22</a:t>
            </a:fld>
            <a:endParaRPr lang="pt-BR"/>
          </a:p>
        </p:txBody>
      </p:sp>
      <p:sp>
        <p:nvSpPr>
          <p:cNvPr id="20" name="Google Shape;162;p5">
            <a:extLst>
              <a:ext uri="{FF2B5EF4-FFF2-40B4-BE49-F238E27FC236}">
                <a16:creationId xmlns:a16="http://schemas.microsoft.com/office/drawing/2014/main" id="{9C5686A3-5791-D332-263A-0BCA7044DFB9}"/>
              </a:ext>
            </a:extLst>
          </p:cNvPr>
          <p:cNvSpPr txBox="1"/>
          <p:nvPr/>
        </p:nvSpPr>
        <p:spPr>
          <a:xfrm>
            <a:off x="5473296" y="5577607"/>
            <a:ext cx="897050"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a:t>
            </a:r>
            <a:r>
              <a:rPr lang="pt-BR" sz="900">
                <a:solidFill>
                  <a:srgbClr val="092445"/>
                </a:solidFill>
                <a:ea typeface="Nunito"/>
                <a:cs typeface="Nunito"/>
                <a:sym typeface="Nunito"/>
              </a:rPr>
              <a:t>IBGE</a:t>
            </a:r>
            <a:endParaRPr sz="900" b="0" i="0" u="none" strike="noStrike" cap="none">
              <a:solidFill>
                <a:srgbClr val="092445"/>
              </a:solidFill>
              <a:ea typeface="Nunito"/>
              <a:cs typeface="Nunito"/>
              <a:sym typeface="Nunito"/>
            </a:endParaRPr>
          </a:p>
        </p:txBody>
      </p:sp>
      <p:sp>
        <p:nvSpPr>
          <p:cNvPr id="6" name="CaixaDeTexto 5">
            <a:extLst>
              <a:ext uri="{FF2B5EF4-FFF2-40B4-BE49-F238E27FC236}">
                <a16:creationId xmlns:a16="http://schemas.microsoft.com/office/drawing/2014/main" id="{466D55D4-2A70-4071-1E82-00B3C7F734C7}"/>
              </a:ext>
            </a:extLst>
          </p:cNvPr>
          <p:cNvSpPr txBox="1"/>
          <p:nvPr/>
        </p:nvSpPr>
        <p:spPr>
          <a:xfrm>
            <a:off x="350865" y="6049193"/>
            <a:ext cx="6156267" cy="3600000"/>
          </a:xfrm>
          <a:prstGeom prst="rect">
            <a:avLst/>
          </a:prstGeom>
          <a:noFill/>
        </p:spPr>
        <p:txBody>
          <a:bodyPr wrap="square" lIns="91440" tIns="45720" rIns="91440" bIns="45720" numCol="2" spcCol="288000" rtlCol="0" anchor="t">
            <a:spAutoFit/>
          </a:bodyPr>
          <a:lstStyle>
            <a:defPPr>
              <a:defRPr lang="en-US"/>
            </a:defPPr>
            <a:lvl1pPr marR="0" lvl="0" indent="0" algn="just" fontAlgn="auto">
              <a:lnSpc>
                <a:spcPct val="150000"/>
              </a:lnSpc>
              <a:spcBef>
                <a:spcPts val="0"/>
              </a:spcBef>
              <a:spcAft>
                <a:spcPts val="0"/>
              </a:spcAft>
              <a:buClrTx/>
              <a:buSzTx/>
              <a:buFontTx/>
              <a:buNone/>
              <a:tabLst/>
              <a:defRPr sz="1100">
                <a:solidFill>
                  <a:prstClr val="black"/>
                </a:solidFill>
                <a:latin typeface="Calibri" panose="020F0502020204030204"/>
                <a:ea typeface="+mn-lt"/>
                <a:cs typeface="Calibri" panose="020F0502020204030204"/>
              </a:defRPr>
            </a:lvl1pPr>
          </a:lstStyle>
          <a:p>
            <a:r>
              <a:rPr lang="pt-BR">
                <a:solidFill>
                  <a:srgbClr val="000000"/>
                </a:solidFill>
                <a:ea typeface="Calibri" panose="020F0502020204030204"/>
              </a:rPr>
              <a:t> </a:t>
            </a:r>
            <a:r>
              <a:rPr lang="pt-BR">
                <a:solidFill>
                  <a:srgbClr val="1F1F1F"/>
                </a:solidFill>
                <a:ea typeface="Calibri" panose="020F0502020204030204"/>
              </a:rPr>
              <a:t>A produção industrial de bens de capital entre 2024 e o início de 2026 registrou inversão de ciclo, com retração após o registro de altas. Os veículos automotores apresentaram a maior variação: o segmento passou de uma expansão de 48,7% no segundo trimestre de 2024 para quedas consecutivas em 2025, recuando 21,3% no quarto trimestre do ano e 20,3% no primeiro trimestre de 2026, cenário associado aos juros e à restrição de crédito. O setor de tecnologia e materiais elétricos também acompanhou essa desaceleração. Os equipamentos de informática e eletrônicos passaram de uma alta de 29,3% no quarto trimestre de 2024 para índices negativos a partir do primeiro trimestre de 2025, enquanto os materiais elétricos entraram em retração no segundo trimestre. O segmento de máquinas e equipamentos manteve crescimento no período analisado, fechando o primeiro trimestre de 2026 com alta de 3,1%. Por fim, a categoria de outros equipamentos de transporte registrou crescimento no segundo semestre de 2025. Para 2026, o cenário da indústria exige cautela, pressionado pela volatilidade e pelas incertezas no cenário internacional.</a:t>
            </a:r>
            <a:endParaRPr lang="en-US"/>
          </a:p>
        </p:txBody>
      </p:sp>
      <p:pic>
        <p:nvPicPr>
          <p:cNvPr id="2" name="Imagem 1" descr="Gráfico, Gráfico de linhas  O conteúdo gerado por IA pode estar incorreto.">
            <a:extLst>
              <a:ext uri="{FF2B5EF4-FFF2-40B4-BE49-F238E27FC236}">
                <a16:creationId xmlns:a16="http://schemas.microsoft.com/office/drawing/2014/main" id="{81F83142-BE64-F78B-935F-C592115C83D9}"/>
              </a:ext>
            </a:extLst>
          </p:cNvPr>
          <p:cNvPicPr>
            <a:picLocks noChangeAspect="1"/>
          </p:cNvPicPr>
          <p:nvPr/>
        </p:nvPicPr>
        <p:blipFill>
          <a:blip r:embed="rId4"/>
          <a:stretch>
            <a:fillRect/>
          </a:stretch>
        </p:blipFill>
        <p:spPr>
          <a:xfrm>
            <a:off x="399551" y="1337553"/>
            <a:ext cx="6058897" cy="4466612"/>
          </a:xfrm>
          <a:prstGeom prst="rect">
            <a:avLst/>
          </a:prstGeom>
        </p:spPr>
      </p:pic>
    </p:spTree>
    <p:extLst>
      <p:ext uri="{BB962C8B-B14F-4D97-AF65-F5344CB8AC3E}">
        <p14:creationId xmlns:p14="http://schemas.microsoft.com/office/powerpoint/2010/main" val="856671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Indicadores de Produção Nacional </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23</a:t>
            </a:fld>
            <a:endParaRPr lang="pt-BR"/>
          </a:p>
        </p:txBody>
      </p:sp>
      <p:sp>
        <p:nvSpPr>
          <p:cNvPr id="20" name="Google Shape;162;p5">
            <a:extLst>
              <a:ext uri="{FF2B5EF4-FFF2-40B4-BE49-F238E27FC236}">
                <a16:creationId xmlns:a16="http://schemas.microsoft.com/office/drawing/2014/main" id="{9C5686A3-5791-D332-263A-0BCA7044DFB9}"/>
              </a:ext>
            </a:extLst>
          </p:cNvPr>
          <p:cNvSpPr txBox="1"/>
          <p:nvPr/>
        </p:nvSpPr>
        <p:spPr>
          <a:xfrm>
            <a:off x="5530764" y="5239916"/>
            <a:ext cx="897050"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PIMPF</a:t>
            </a:r>
            <a:endParaRPr sz="900" b="0" i="0" u="none" strike="noStrike" cap="none">
              <a:solidFill>
                <a:srgbClr val="092445"/>
              </a:solidFill>
              <a:ea typeface="Nunito"/>
              <a:cs typeface="Nunito"/>
              <a:sym typeface="Nunito"/>
            </a:endParaRPr>
          </a:p>
        </p:txBody>
      </p:sp>
      <p:sp>
        <p:nvSpPr>
          <p:cNvPr id="7" name="CaixaDeTexto 6">
            <a:extLst>
              <a:ext uri="{FF2B5EF4-FFF2-40B4-BE49-F238E27FC236}">
                <a16:creationId xmlns:a16="http://schemas.microsoft.com/office/drawing/2014/main" id="{17A1A06A-FD24-614B-D794-4CB1568F3648}"/>
              </a:ext>
            </a:extLst>
          </p:cNvPr>
          <p:cNvSpPr txBox="1">
            <a:spLocks/>
          </p:cNvSpPr>
          <p:nvPr/>
        </p:nvSpPr>
        <p:spPr>
          <a:xfrm>
            <a:off x="350866" y="5562005"/>
            <a:ext cx="6156268" cy="3960000"/>
          </a:xfrm>
          <a:prstGeom prst="rect">
            <a:avLst/>
          </a:prstGeom>
          <a:noFill/>
        </p:spPr>
        <p:txBody>
          <a:bodyPr wrap="square" lIns="91440" tIns="45720" rIns="91440" bIns="45720" numCol="2" spcCol="288000" rtlCol="0" anchor="t">
            <a:spAutoFit/>
          </a:bodyPr>
          <a:lstStyle>
            <a:defPPr>
              <a:defRPr lang="en-US"/>
            </a:defPPr>
            <a:lvl1pPr marR="0" lvl="0" indent="0" algn="just" fontAlgn="auto">
              <a:lnSpc>
                <a:spcPct val="150000"/>
              </a:lnSpc>
              <a:spcBef>
                <a:spcPts val="0"/>
              </a:spcBef>
              <a:spcAft>
                <a:spcPts val="0"/>
              </a:spcAft>
              <a:buClrTx/>
              <a:buSzTx/>
              <a:buFontTx/>
              <a:buNone/>
              <a:tabLst/>
              <a:defRPr sz="1100">
                <a:solidFill>
                  <a:prstClr val="black"/>
                </a:solidFill>
                <a:latin typeface="Calibri" panose="020F0502020204030204"/>
                <a:ea typeface="+mn-lt"/>
                <a:cs typeface="Calibri" panose="020F0502020204030204"/>
              </a:defRPr>
            </a:lvl1pPr>
          </a:lstStyle>
          <a:p>
            <a:r>
              <a:rPr lang="pt-BR">
                <a:solidFill>
                  <a:srgbClr val="1F1F1F"/>
                </a:solidFill>
              </a:rPr>
              <a:t>	A </a:t>
            </a:r>
            <a:r>
              <a:rPr lang="pt-BR">
                <a:solidFill>
                  <a:srgbClr val="1F1F1F"/>
                </a:solidFill>
                <a:ea typeface="Calibri"/>
              </a:rPr>
              <a:t>produção industrial de bens intermediários entre 2024 e o início de 2026 registrou desaceleração gradual, com retração em diversos segmentos após o registro de altas em 2024. O segmento de produtos de metal exceto máquinas e equipamentos apresentou forte inversão: passou de uma expansão de 10,3% no terceiro trimestre de 2024 para quedas consecutivas ao longo de 2025, recuando 7,0% no terceiro trimestre do ano e 4,7% no primeiro trimestre de 2026.</a:t>
            </a:r>
            <a:endParaRPr lang="pt-BR"/>
          </a:p>
          <a:p>
            <a:r>
              <a:rPr lang="pt-BR">
                <a:solidFill>
                  <a:srgbClr val="1F1F1F"/>
                </a:solidFill>
                <a:ea typeface="Calibri"/>
              </a:rPr>
              <a:t>	O setor de embalagens de metal também acompanhou essa desaceleração. O segmento passou de uma alta de 17,3% no segundo trimestre de 2024 para índices negativos a partir do terceiro trimestre de 2025. A categoria de máquinas e equipamentos atingiu seu pico de expansão no primeiro trimestre de 2025, com 10,3%, mas perdeu força nos trimestres seguintes, entrando em leve retração no final do ano e recuando 1,8% no primeiro trimestre de 2026.</a:t>
            </a:r>
            <a:endParaRPr lang="pt-BR"/>
          </a:p>
          <a:p>
            <a:r>
              <a:rPr lang="pt-BR">
                <a:solidFill>
                  <a:srgbClr val="1F1F1F"/>
                </a:solidFill>
                <a:ea typeface="Calibri"/>
              </a:rPr>
              <a:t>	Em contrapartida, o segmento de veículos automotores manteve crescimento na maior parte do período analisado, atingindo expansão de 18,5% no quarto trimestre de 2024, fechando o primeiro trimestre de 2026 com avanço de 2,5%. Por fim, a metalurgia registrou estabilidade, encerrando o primeiro trimestre de 2026 com alta de 0,7%.</a:t>
            </a:r>
            <a:endParaRPr lang="en-US"/>
          </a:p>
        </p:txBody>
      </p:sp>
      <p:pic>
        <p:nvPicPr>
          <p:cNvPr id="2" name="Imagem 1" descr="Gráfico, Gráfico de linhas  O conteúdo gerado por IA pode estar incorreto.">
            <a:extLst>
              <a:ext uri="{FF2B5EF4-FFF2-40B4-BE49-F238E27FC236}">
                <a16:creationId xmlns:a16="http://schemas.microsoft.com/office/drawing/2014/main" id="{0E3B1515-17A9-C3EB-57B5-BF538BF436FD}"/>
              </a:ext>
            </a:extLst>
          </p:cNvPr>
          <p:cNvPicPr>
            <a:picLocks noChangeAspect="1"/>
          </p:cNvPicPr>
          <p:nvPr/>
        </p:nvPicPr>
        <p:blipFill>
          <a:blip r:embed="rId4"/>
          <a:stretch>
            <a:fillRect/>
          </a:stretch>
        </p:blipFill>
        <p:spPr>
          <a:xfrm>
            <a:off x="618758" y="1194417"/>
            <a:ext cx="5620483" cy="4282089"/>
          </a:xfrm>
          <a:prstGeom prst="rect">
            <a:avLst/>
          </a:prstGeom>
        </p:spPr>
      </p:pic>
    </p:spTree>
    <p:extLst>
      <p:ext uri="{BB962C8B-B14F-4D97-AF65-F5344CB8AC3E}">
        <p14:creationId xmlns:p14="http://schemas.microsoft.com/office/powerpoint/2010/main" val="1395450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1021456" y="3976410"/>
            <a:ext cx="5164714" cy="1158716"/>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Indicadores de Produção Nacional </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24</a:t>
            </a:fld>
            <a:endParaRPr lang="pt-BR"/>
          </a:p>
        </p:txBody>
      </p:sp>
      <p:sp>
        <p:nvSpPr>
          <p:cNvPr id="20" name="Google Shape;162;p5">
            <a:extLst>
              <a:ext uri="{FF2B5EF4-FFF2-40B4-BE49-F238E27FC236}">
                <a16:creationId xmlns:a16="http://schemas.microsoft.com/office/drawing/2014/main" id="{9C5686A3-5791-D332-263A-0BCA7044DFB9}"/>
              </a:ext>
            </a:extLst>
          </p:cNvPr>
          <p:cNvSpPr txBox="1"/>
          <p:nvPr/>
        </p:nvSpPr>
        <p:spPr>
          <a:xfrm>
            <a:off x="5595741" y="4858492"/>
            <a:ext cx="897050"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PIMPF</a:t>
            </a:r>
            <a:endParaRPr sz="900" b="0" i="0" u="none" strike="noStrike" cap="none">
              <a:solidFill>
                <a:srgbClr val="092445"/>
              </a:solidFill>
              <a:ea typeface="Nunito"/>
              <a:cs typeface="Nunito"/>
              <a:sym typeface="Nunito"/>
            </a:endParaRPr>
          </a:p>
        </p:txBody>
      </p:sp>
      <p:sp>
        <p:nvSpPr>
          <p:cNvPr id="7" name="CaixaDeTexto 6">
            <a:extLst>
              <a:ext uri="{FF2B5EF4-FFF2-40B4-BE49-F238E27FC236}">
                <a16:creationId xmlns:a16="http://schemas.microsoft.com/office/drawing/2014/main" id="{17A1A06A-FD24-614B-D794-4CB1568F3648}"/>
              </a:ext>
            </a:extLst>
          </p:cNvPr>
          <p:cNvSpPr txBox="1">
            <a:spLocks/>
          </p:cNvSpPr>
          <p:nvPr/>
        </p:nvSpPr>
        <p:spPr>
          <a:xfrm>
            <a:off x="350866" y="5264057"/>
            <a:ext cx="6156000" cy="4212000"/>
          </a:xfrm>
          <a:prstGeom prst="rect">
            <a:avLst/>
          </a:prstGeom>
          <a:noFill/>
        </p:spPr>
        <p:txBody>
          <a:bodyPr wrap="square" lIns="91440" tIns="45720" rIns="91440" bIns="45720" numCol="2" spcCol="288000" rtlCol="0" anchor="t">
            <a:spAutoFit/>
          </a:bodyPr>
          <a:lstStyle>
            <a:defPPr>
              <a:defRPr lang="en-US"/>
            </a:defPPr>
            <a:lvl1pPr marR="0" lvl="0" indent="0" algn="just" fontAlgn="auto">
              <a:lnSpc>
                <a:spcPct val="150000"/>
              </a:lnSpc>
              <a:spcBef>
                <a:spcPts val="0"/>
              </a:spcBef>
              <a:spcAft>
                <a:spcPts val="0"/>
              </a:spcAft>
              <a:buClrTx/>
              <a:buSzTx/>
              <a:buFontTx/>
              <a:buNone/>
              <a:tabLst/>
              <a:defRPr sz="1100">
                <a:solidFill>
                  <a:prstClr val="black"/>
                </a:solidFill>
                <a:latin typeface="Calibri" panose="020F0502020204030204"/>
                <a:ea typeface="+mn-lt"/>
                <a:cs typeface="Calibri" panose="020F0502020204030204"/>
              </a:defRPr>
            </a:lvl1pPr>
          </a:lstStyle>
          <a:p>
            <a:r>
              <a:rPr lang="pt-BR">
                <a:solidFill>
                  <a:srgbClr val="000000"/>
                </a:solidFill>
                <a:latin typeface="+mn-lt"/>
              </a:rPr>
              <a:t>	</a:t>
            </a:r>
            <a:r>
              <a:rPr lang="pt-BR">
                <a:solidFill>
                  <a:srgbClr val="1F1F1F"/>
                </a:solidFill>
              </a:rPr>
              <a:t>A </a:t>
            </a:r>
            <a:r>
              <a:rPr lang="pt-BR">
                <a:solidFill>
                  <a:srgbClr val="1F1F1F"/>
                </a:solidFill>
                <a:ea typeface="Calibri"/>
              </a:rPr>
              <a:t>produção industrial de bens de consumo entre 2024 e o início de 2026 apresentou um cenário de volatilidade o setor de máquinas, aparelhos e materiais elétricos,  passou de uma expansão expressiva de 30,5% no segundo trimestre de 2024 para quedas consecutivas a partir do segundo trimestre de 2025, recuando 5,0% no primeiro trimestre de 2026.</a:t>
            </a:r>
            <a:endParaRPr lang="pt-BR"/>
          </a:p>
          <a:p>
            <a:r>
              <a:rPr lang="pt-BR">
                <a:solidFill>
                  <a:srgbClr val="1F1F1F"/>
                </a:solidFill>
                <a:ea typeface="Calibri"/>
              </a:rPr>
              <a:t>	Os equipamentos de informática e produtos eletrônicos mostraram alta volatilidade no período. O segmento atingiu um pico de 17,0% no terceiro trimestre de 2024, registrou retração de 7,4% no terceiro trimestre de 2025, mas voltou a crescer no final daquele ano com 11,6%, estabilizando com uma leve alta de 0,5% no primeiro trimestre de 2026.</a:t>
            </a:r>
            <a:endParaRPr lang="pt-BR">
              <a:solidFill>
                <a:srgbClr val="1F1F1F"/>
              </a:solidFill>
            </a:endParaRPr>
          </a:p>
          <a:p>
            <a:r>
              <a:rPr lang="pt-BR">
                <a:solidFill>
                  <a:srgbClr val="1F1F1F"/>
                </a:solidFill>
                <a:ea typeface="Calibri"/>
              </a:rPr>
              <a:t>	Em um movimento de recuperação, os veículos automotores reverteram as quedas do primeiro semestre de 2024 (que chegaram a um recuo de 15,3% no segundo trimestre) e mantiveram taxas predominantemente positivas nos trimestres seguintes, fechando o primeiro trimestre de 2026 com avanço de 2,3%. Por fim, a categoria de outros equipamentos de transporte destacou-se pela resiliência, mantendo crescimento contínuo durante todo o período analisado, com pico de expansão de 16,3% no segundo trimestre de 2025 e encerrando o primeiro trimestre de 2026 com alta de 9,0%.</a:t>
            </a:r>
            <a:endParaRPr lang="en-US"/>
          </a:p>
        </p:txBody>
      </p:sp>
      <p:sp>
        <p:nvSpPr>
          <p:cNvPr id="2" name="Retângulo 1">
            <a:extLst>
              <a:ext uri="{FF2B5EF4-FFF2-40B4-BE49-F238E27FC236}">
                <a16:creationId xmlns:a16="http://schemas.microsoft.com/office/drawing/2014/main" id="{3FDC0246-7343-1D27-552B-B9390D05417A}"/>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Imagem 2" descr="Gráfico, Gráfico de linhas  O conteúdo gerado por IA pode estar incorreto.">
            <a:extLst>
              <a:ext uri="{FF2B5EF4-FFF2-40B4-BE49-F238E27FC236}">
                <a16:creationId xmlns:a16="http://schemas.microsoft.com/office/drawing/2014/main" id="{B3ABD045-DCD2-5EF0-4929-5A65373CECFA}"/>
              </a:ext>
            </a:extLst>
          </p:cNvPr>
          <p:cNvPicPr>
            <a:picLocks noChangeAspect="1"/>
          </p:cNvPicPr>
          <p:nvPr/>
        </p:nvPicPr>
        <p:blipFill>
          <a:blip r:embed="rId4"/>
          <a:stretch>
            <a:fillRect/>
          </a:stretch>
        </p:blipFill>
        <p:spPr>
          <a:xfrm>
            <a:off x="502392" y="1275358"/>
            <a:ext cx="5853216" cy="3812067"/>
          </a:xfrm>
          <a:prstGeom prst="rect">
            <a:avLst/>
          </a:prstGeom>
        </p:spPr>
      </p:pic>
    </p:spTree>
    <p:extLst>
      <p:ext uri="{BB962C8B-B14F-4D97-AF65-F5344CB8AC3E}">
        <p14:creationId xmlns:p14="http://schemas.microsoft.com/office/powerpoint/2010/main" val="1134987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60852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A0819C80-0B42-3AC6-3797-49FED885AD5C}"/>
              </a:ext>
            </a:extLst>
          </p:cNvPr>
          <p:cNvSpPr txBox="1"/>
          <p:nvPr/>
        </p:nvSpPr>
        <p:spPr>
          <a:xfrm>
            <a:off x="2058670" y="4653203"/>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5"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ICEI Setorial – Grupo 1: Alimentos, Bebidas e Têxtil-Vestuário</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25</a:t>
            </a:fld>
            <a:endParaRPr lang="pt-BR"/>
          </a:p>
        </p:txBody>
      </p:sp>
      <p:sp>
        <p:nvSpPr>
          <p:cNvPr id="20" name="Google Shape;162;p5">
            <a:extLst>
              <a:ext uri="{FF2B5EF4-FFF2-40B4-BE49-F238E27FC236}">
                <a16:creationId xmlns:a16="http://schemas.microsoft.com/office/drawing/2014/main" id="{9C5686A3-5791-D332-263A-0BCA7044DFB9}"/>
              </a:ext>
            </a:extLst>
          </p:cNvPr>
          <p:cNvSpPr txBox="1"/>
          <p:nvPr/>
        </p:nvSpPr>
        <p:spPr>
          <a:xfrm>
            <a:off x="5473296" y="5577607"/>
            <a:ext cx="897050"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a:t>
            </a:r>
            <a:r>
              <a:rPr lang="pt-BR" sz="900">
                <a:solidFill>
                  <a:srgbClr val="092445"/>
                </a:solidFill>
                <a:ea typeface="Nunito"/>
                <a:cs typeface="Nunito"/>
                <a:sym typeface="Nunito"/>
              </a:rPr>
              <a:t>CNI</a:t>
            </a:r>
            <a:endParaRPr sz="900" b="0" i="0" u="none" strike="noStrike" cap="none">
              <a:solidFill>
                <a:srgbClr val="092445"/>
              </a:solidFill>
              <a:ea typeface="Nunito"/>
              <a:cs typeface="Nunito"/>
              <a:sym typeface="Nunito"/>
            </a:endParaRPr>
          </a:p>
        </p:txBody>
      </p:sp>
      <p:sp>
        <p:nvSpPr>
          <p:cNvPr id="6" name="CaixaDeTexto 5">
            <a:extLst>
              <a:ext uri="{FF2B5EF4-FFF2-40B4-BE49-F238E27FC236}">
                <a16:creationId xmlns:a16="http://schemas.microsoft.com/office/drawing/2014/main" id="{466D55D4-2A70-4071-1E82-00B3C7F734C7}"/>
              </a:ext>
            </a:extLst>
          </p:cNvPr>
          <p:cNvSpPr txBox="1"/>
          <p:nvPr/>
        </p:nvSpPr>
        <p:spPr>
          <a:xfrm>
            <a:off x="350865" y="6049193"/>
            <a:ext cx="6156267" cy="3600000"/>
          </a:xfrm>
          <a:prstGeom prst="rect">
            <a:avLst/>
          </a:prstGeom>
          <a:noFill/>
        </p:spPr>
        <p:txBody>
          <a:bodyPr wrap="square" lIns="91440" tIns="45720" rIns="91440" bIns="45720" numCol="2" spcCol="288000" rtlCol="0" anchor="t">
            <a:spAutoFit/>
          </a:bodyPr>
          <a:lstStyle>
            <a:defPPr>
              <a:defRPr lang="en-US"/>
            </a:defPPr>
            <a:lvl1pPr marR="0" lvl="0" indent="0" algn="just" fontAlgn="auto">
              <a:lnSpc>
                <a:spcPct val="150000"/>
              </a:lnSpc>
              <a:spcBef>
                <a:spcPts val="0"/>
              </a:spcBef>
              <a:spcAft>
                <a:spcPts val="0"/>
              </a:spcAft>
              <a:buClrTx/>
              <a:buSzTx/>
              <a:buFontTx/>
              <a:buNone/>
              <a:tabLst/>
              <a:defRPr sz="1100">
                <a:solidFill>
                  <a:prstClr val="black"/>
                </a:solidFill>
                <a:latin typeface="Calibri" panose="020F0502020204030204"/>
                <a:ea typeface="+mn-lt"/>
                <a:cs typeface="Calibri" panose="020F0502020204030204"/>
              </a:defRPr>
            </a:lvl1pPr>
          </a:lstStyle>
          <a:p>
            <a:r>
              <a:rPr lang="pt-BR">
                <a:solidFill>
                  <a:srgbClr val="000000"/>
                </a:solidFill>
                <a:ea typeface="Calibri" panose="020F0502020204030204"/>
              </a:rPr>
              <a:t> </a:t>
            </a:r>
            <a:r>
              <a:rPr lang="pt-BR">
                <a:solidFill>
                  <a:srgbClr val="1F1F1F"/>
                </a:solidFill>
                <a:ea typeface="Calibri" panose="020F0502020204030204"/>
              </a:rPr>
              <a:t>Em março de 2026, o ICEI apresentou queda generalizada na confiança dos empresários industriais. No segmento de Alimentos, o índice recuou de 50,3 em fev/26 para 49,1 em mar/26, abaixo do patamar de confiança (50 pontos), contra 49,1 em mar/25. O setor de Bebidas manteve-se acima da linha divisória, registrando 50,6 pontos em mar/26 (51,1 em fev/26; 50,9 em mar/25). Já Têxteis permaneceu estável em 47,2 nos dois primeiros meses de 2026, abaixo do nível de mar/25 (47,4). Vestuário e acessórios apresentou forte recuo, de 46,9 em fev/26 para 43,9 em mar/26, o menor valor da série recente (44,3 em mar/25). Couros e artefatos de couro também registrou deterioração, saindo de 44,0 em fev/26 para 43,4 em mar/26, frente a 48,5 em mar/25. Calçados e suas partes interromperam a confiança positiva de fev/26 (51,5) e recuaram para 49,6 em mar/26, ainda acima de mar/25 (48,5). Com exceção de Bebidas, todos os setores do grupo operam abaixo do parâmetro de confiança em março de 2026, evidenciando pressões sobre a cadeia têxtil-vestuário e o complexo couro-calçados. A segmentação setorial revela trajetórias distintas: enquanto bebidas resistê e calçados apresenta recuperação parcial, vestuário e couros acumulam perda de confiança mais acentuada no trimestre.</a:t>
            </a:r>
            <a:endParaRPr lang="en-US"/>
          </a:p>
        </p:txBody>
      </p:sp>
      <p:pic>
        <p:nvPicPr>
          <p:cNvPr id="2" name="Imagem 1" descr="Gráfico, Gráfico de linhas  O conteúdo gerado por IA pode estar incorreto.">
            <a:extLst>
              <a:ext uri="{FF2B5EF4-FFF2-40B4-BE49-F238E27FC236}">
                <a16:creationId xmlns:a16="http://schemas.microsoft.com/office/drawing/2014/main" id="{81F83142-BE64-F78B-935F-C592115C83D9}"/>
              </a:ext>
            </a:extLst>
          </p:cNvPr>
          <p:cNvPicPr>
            <a:picLocks noChangeAspect="1"/>
          </p:cNvPicPr>
          <p:nvPr/>
        </p:nvPicPr>
        <p:blipFill>
          <a:blip r:embed="rId4"/>
          <a:stretch>
            <a:fillRect/>
          </a:stretch>
        </p:blipFill>
        <p:spPr>
          <a:xfrm>
            <a:off x="399551" y="1700000"/>
            <a:ext cx="6058897" cy="4100000"/>
          </a:xfrm>
          <a:prstGeom prst="rect">
            <a:avLst/>
          </a:prstGeom>
        </p:spPr>
      </p:pic>
    </p:spTree>
    <p:extLst>
      <p:ext uri="{BB962C8B-B14F-4D97-AF65-F5344CB8AC3E}">
        <p14:creationId xmlns:p14="http://schemas.microsoft.com/office/powerpoint/2010/main" val="856671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608524"/>
            <a:ext cx="4127500" cy="369332"/>
          </a:xfrm>
          <a:prstGeom prst="rect">
            <a:avLst/>
          </a:prstGeom>
          <a:noFill/>
        </p:spPr>
        <p:txBody>
          <a:bodyPr wrap="square">
            <a:spAutoFit/>
          </a:bodyPr>
          <a:lstStyle/>
          <a:p>
            <a:endParaRPr lang="pt-BR"/>
          </a:p>
        </p:txBody>
      </p:sp>
      <p:sp>
        <p:nvSpPr>
          <p:cNvPr id="24" name="CaixaDeTexto 23">
            <a:extLst>
              <a:ext uri="{FF2B5EF4-FFF2-40B4-BE49-F238E27FC236}">
                <a16:creationId xmlns:a16="http://schemas.microsoft.com/office/drawing/2014/main" id="{A0819C80-0B42-3AC6-3797-49FED885AD5C}"/>
              </a:ext>
            </a:extLst>
          </p:cNvPr>
          <p:cNvSpPr txBox="1"/>
          <p:nvPr/>
        </p:nvSpPr>
        <p:spPr>
          <a:xfrm>
            <a:off x="2058670" y="4653203"/>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5"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ICEI Setorial – Grupo 2: Bioeconomia e Higiene Pessoal</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26</a:t>
            </a:fld>
            <a:endParaRPr lang="pt-BR"/>
          </a:p>
        </p:txBody>
      </p:sp>
      <p:sp>
        <p:nvSpPr>
          <p:cNvPr id="20" name="Google Shape;162;p5">
            <a:extLst>
              <a:ext uri="{FF2B5EF4-FFF2-40B4-BE49-F238E27FC236}">
                <a16:creationId xmlns:a16="http://schemas.microsoft.com/office/drawing/2014/main" id="{9C5686A3-5791-D332-263A-0BCA7044DFB9}"/>
              </a:ext>
            </a:extLst>
          </p:cNvPr>
          <p:cNvSpPr txBox="1"/>
          <p:nvPr/>
        </p:nvSpPr>
        <p:spPr>
          <a:xfrm>
            <a:off x="5473296" y="5577607"/>
            <a:ext cx="897050"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a:t>
            </a:r>
            <a:r>
              <a:rPr lang="pt-BR" sz="900">
                <a:solidFill>
                  <a:srgbClr val="092445"/>
                </a:solidFill>
                <a:ea typeface="Nunito"/>
                <a:cs typeface="Nunito"/>
                <a:sym typeface="Nunito"/>
              </a:rPr>
              <a:t>CNI</a:t>
            </a:r>
            <a:endParaRPr sz="900" b="0" i="0" u="none" strike="noStrike" cap="none">
              <a:solidFill>
                <a:srgbClr val="092445"/>
              </a:solidFill>
              <a:ea typeface="Nunito"/>
              <a:cs typeface="Nunito"/>
              <a:sym typeface="Nunito"/>
            </a:endParaRPr>
          </a:p>
        </p:txBody>
      </p:sp>
      <p:sp>
        <p:nvSpPr>
          <p:cNvPr id="6" name="CaixaDeTexto 5">
            <a:extLst>
              <a:ext uri="{FF2B5EF4-FFF2-40B4-BE49-F238E27FC236}">
                <a16:creationId xmlns:a16="http://schemas.microsoft.com/office/drawing/2014/main" id="{466D55D4-2A70-4071-1E82-00B3C7F734C7}"/>
              </a:ext>
            </a:extLst>
          </p:cNvPr>
          <p:cNvSpPr txBox="1"/>
          <p:nvPr/>
        </p:nvSpPr>
        <p:spPr>
          <a:xfrm>
            <a:off x="350865" y="6049193"/>
            <a:ext cx="6156267" cy="3600000"/>
          </a:xfrm>
          <a:prstGeom prst="rect">
            <a:avLst/>
          </a:prstGeom>
          <a:noFill/>
        </p:spPr>
        <p:txBody>
          <a:bodyPr wrap="square" lIns="91440" tIns="45720" rIns="91440" bIns="45720" numCol="2" spcCol="288000" rtlCol="0" anchor="t">
            <a:spAutoFit/>
          </a:bodyPr>
          <a:lstStyle>
            <a:defPPr>
              <a:defRPr lang="en-US"/>
            </a:defPPr>
            <a:lvl1pPr marR="0" lvl="0" indent="0" algn="just" fontAlgn="auto">
              <a:lnSpc>
                <a:spcPct val="150000"/>
              </a:lnSpc>
              <a:spcBef>
                <a:spcPts val="0"/>
              </a:spcBef>
              <a:spcAft>
                <a:spcPts val="0"/>
              </a:spcAft>
              <a:buClrTx/>
              <a:buSzTx/>
              <a:buFontTx/>
              <a:buNone/>
              <a:tabLst/>
              <a:defRPr sz="1100">
                <a:solidFill>
                  <a:prstClr val="black"/>
                </a:solidFill>
                <a:latin typeface="Calibri" panose="020F0502020204030204"/>
                <a:ea typeface="+mn-lt"/>
                <a:cs typeface="Calibri" panose="020F0502020204030204"/>
              </a:defRPr>
            </a:lvl1pPr>
          </a:lstStyle>
          <a:p>
            <a:r>
              <a:rPr lang="pt-BR">
                <a:solidFill>
                  <a:srgbClr val="000000"/>
                </a:solidFill>
                <a:ea typeface="Calibri" panose="020F0502020204030204"/>
              </a:rPr>
              <a:t> </a:t>
            </a:r>
            <a:r>
              <a:rPr lang="pt-BR">
                <a:solidFill>
                  <a:srgbClr val="1F1F1F"/>
                </a:solidFill>
                <a:ea typeface="Calibri" panose="020F0502020204030204"/>
              </a:rPr>
              <a:t>Em março de 2026, os setores ligados à bioeconomia e à química de consumo apresentaram desempenho polarizado no ICEI. Biocombustíveis registrou o menor índice do grupo: 43,1 pontos em mar/26 (40,3 em fev/26; 47,4 em mar/25), configurando expressiva perda de confiança em relação a um ano antes, mesmo com leve recuperação frente a fevereiro. Madeira também permanece em zona de desconfiança, com 44,4 em mar/26 (43,3 em fev/26; 45,5 em mar/25), indicando relativa estabilidade em nível deprimido. Celulose e papel apresentou recuo adicional no trimestre, de 46,9 em fev/26 para 46,4 em mar/26, com queda acumulada frente a mar/25 (47,6). Em oposição, Perfumaria, limpeza e higiene pessoal foi o destaque positivo do grupo: atingiu 52,8 pontos em mar/26, superando os 49,7 de fev/26 e os 47,6 de mar/25, sendo um dos poucos setores da indústria de transformação a registrar confiança em março. O padrão divergente entre os setores reflete diferentes sensibilidades: enquanto biocombustíveis e madeira sofrem com o ciclo econômico recessivo e a incerteza sobre políticas de transição energética, perfumaria e limpeza demonstra resiliência pela natureza essencial de seus produtos e pela força do consumo das famílias, mesmo em cenários de juros elevados.</a:t>
            </a:r>
            <a:endParaRPr lang="en-US"/>
          </a:p>
        </p:txBody>
      </p:sp>
      <p:pic>
        <p:nvPicPr>
          <p:cNvPr id="2" name="Imagem 1" descr="Gráfico, Gráfico de linhas  O conteúdo gerado por IA pode estar incorreto.">
            <a:extLst>
              <a:ext uri="{FF2B5EF4-FFF2-40B4-BE49-F238E27FC236}">
                <a16:creationId xmlns:a16="http://schemas.microsoft.com/office/drawing/2014/main" id="{81F83142-BE64-F78B-935F-C592115C83D9}"/>
              </a:ext>
            </a:extLst>
          </p:cNvPr>
          <p:cNvPicPr>
            <a:picLocks noChangeAspect="1"/>
          </p:cNvPicPr>
          <p:nvPr/>
        </p:nvPicPr>
        <p:blipFill>
          <a:blip r:embed="rId4"/>
          <a:stretch>
            <a:fillRect/>
          </a:stretch>
        </p:blipFill>
        <p:spPr>
          <a:xfrm>
            <a:off x="399551" y="1700000"/>
            <a:ext cx="6058897" cy="4100000"/>
          </a:xfrm>
          <a:prstGeom prst="rect">
            <a:avLst/>
          </a:prstGeom>
        </p:spPr>
      </p:pic>
    </p:spTree>
    <p:extLst>
      <p:ext uri="{BB962C8B-B14F-4D97-AF65-F5344CB8AC3E}">
        <p14:creationId xmlns:p14="http://schemas.microsoft.com/office/powerpoint/2010/main" val="856671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Indicadores de Preço </a:t>
            </a:r>
            <a:endParaRPr lang="pt-BR" sz="1800" b="1">
              <a:highlight>
                <a:schemeClr val="lt1"/>
              </a:highlight>
              <a:latin typeface="Nunito"/>
              <a:ea typeface="Nunito"/>
              <a:cs typeface="Nunito"/>
              <a:sym typeface="Nunito"/>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27</a:t>
            </a:fld>
            <a:endParaRPr lang="pt-BR"/>
          </a:p>
        </p:txBody>
      </p:sp>
      <p:sp>
        <p:nvSpPr>
          <p:cNvPr id="9" name="CaixaDeTexto 8">
            <a:extLst>
              <a:ext uri="{FF2B5EF4-FFF2-40B4-BE49-F238E27FC236}">
                <a16:creationId xmlns:a16="http://schemas.microsoft.com/office/drawing/2014/main" id="{D0A08F1A-5121-849E-437A-3E11BCA3A808}"/>
              </a:ext>
            </a:extLst>
          </p:cNvPr>
          <p:cNvSpPr txBox="1"/>
          <p:nvPr/>
        </p:nvSpPr>
        <p:spPr>
          <a:xfrm>
            <a:off x="324077" y="6749890"/>
            <a:ext cx="6182789" cy="2716262"/>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lvl1pPr>
          </a:lstStyle>
          <a:p>
            <a:r>
              <a:rPr lang="pt-BR"/>
              <a:t>	A tabela de indicadores de preço do aço sugere, para o mercado doméstico, um início de 2026 marcado por recomposição relevante em parte dos produtos planos: em janeiro, BQ (+6,89%), BF (+6,02%) e chapa grossa/CG (+5,99%) apresentaram altas expressivas, acompanhadas por itens galvanizados (zincado +5,30% e </a:t>
            </a:r>
            <a:r>
              <a:rPr lang="pt-BR" err="1"/>
              <a:t>galvalume</a:t>
            </a:r>
            <a:r>
              <a:rPr lang="pt-BR"/>
              <a:t> +5,53%) e por perfil UDC (+5,40%). Já em março e na prévia de abril, a maior parte das variações mensais se aproxima de estabilidade (muitos itens entre 0% e 1%), indicando arrefecimento no curto prazo após o ajuste observado no começo do ano. </a:t>
            </a:r>
          </a:p>
          <a:p>
            <a:r>
              <a:rPr lang="pt-BR"/>
              <a:t>	No acumulado em 12 meses (12mAC), destacam-se as altas de </a:t>
            </a:r>
            <a:r>
              <a:rPr lang="pt-BR" err="1"/>
              <a:t>galvalume</a:t>
            </a:r>
            <a:r>
              <a:rPr lang="pt-BR"/>
              <a:t> (+15,71%) e telha (+16,70%), além de prego (+12,75%), sugerindo pressões persistentes em produtos com maior conteúdo de processamento e/ou dinâmica de demanda mais específica.</a:t>
            </a:r>
            <a:endParaRPr lang="pt-BR">
              <a:ea typeface="Calibri"/>
              <a:cs typeface="Calibri"/>
            </a:endParaRPr>
          </a:p>
        </p:txBody>
      </p:sp>
      <p:sp>
        <p:nvSpPr>
          <p:cNvPr id="2" name="Google Shape;162;p5">
            <a:extLst>
              <a:ext uri="{FF2B5EF4-FFF2-40B4-BE49-F238E27FC236}">
                <a16:creationId xmlns:a16="http://schemas.microsoft.com/office/drawing/2014/main" id="{DB070922-30CB-7243-C4F5-446F7466B8FA}"/>
              </a:ext>
            </a:extLst>
          </p:cNvPr>
          <p:cNvSpPr txBox="1"/>
          <p:nvPr/>
        </p:nvSpPr>
        <p:spPr>
          <a:xfrm>
            <a:off x="5408767" y="6402376"/>
            <a:ext cx="1098233"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INFOMET</a:t>
            </a:r>
            <a:endParaRPr sz="900" b="0" i="0" u="none" strike="noStrike" cap="none">
              <a:solidFill>
                <a:srgbClr val="092445"/>
              </a:solidFill>
              <a:ea typeface="Nunito"/>
              <a:cs typeface="Nunito"/>
              <a:sym typeface="Nunito"/>
            </a:endParaRPr>
          </a:p>
        </p:txBody>
      </p:sp>
      <p:graphicFrame>
        <p:nvGraphicFramePr>
          <p:cNvPr id="15" name="Tabela 14">
            <a:extLst>
              <a:ext uri="{FF2B5EF4-FFF2-40B4-BE49-F238E27FC236}">
                <a16:creationId xmlns:a16="http://schemas.microsoft.com/office/drawing/2014/main" id="{DC7981FE-D69A-D0EC-CAC7-D4292DF1374E}"/>
              </a:ext>
            </a:extLst>
          </p:cNvPr>
          <p:cNvGraphicFramePr>
            <a:graphicFrameLocks noGrp="1"/>
          </p:cNvGraphicFramePr>
          <p:nvPr>
            <p:extLst>
              <p:ext uri="{D42A27DB-BD31-4B8C-83A1-F6EECF244321}">
                <p14:modId xmlns:p14="http://schemas.microsoft.com/office/powerpoint/2010/main" val="2085523580"/>
              </p:ext>
            </p:extLst>
          </p:nvPr>
        </p:nvGraphicFramePr>
        <p:xfrm>
          <a:off x="584827" y="1282498"/>
          <a:ext cx="5667374" cy="5181600"/>
        </p:xfrm>
        <a:graphic>
          <a:graphicData uri="http://schemas.openxmlformats.org/drawingml/2006/table">
            <a:tbl>
              <a:tblPr firstRow="1" firstCol="1" bandRow="1">
                <a:tableStyleId>{5C22544A-7EE6-4342-B048-85BDC9FD1C3A}</a:tableStyleId>
              </a:tblPr>
              <a:tblGrid>
                <a:gridCol w="1348831">
                  <a:extLst>
                    <a:ext uri="{9D8B030D-6E8A-4147-A177-3AD203B41FA5}">
                      <a16:colId xmlns:a16="http://schemas.microsoft.com/office/drawing/2014/main" val="3533270267"/>
                    </a:ext>
                  </a:extLst>
                </a:gridCol>
                <a:gridCol w="722928">
                  <a:extLst>
                    <a:ext uri="{9D8B030D-6E8A-4147-A177-3AD203B41FA5}">
                      <a16:colId xmlns:a16="http://schemas.microsoft.com/office/drawing/2014/main" val="1666784068"/>
                    </a:ext>
                  </a:extLst>
                </a:gridCol>
                <a:gridCol w="414098">
                  <a:extLst>
                    <a:ext uri="{9D8B030D-6E8A-4147-A177-3AD203B41FA5}">
                      <a16:colId xmlns:a16="http://schemas.microsoft.com/office/drawing/2014/main" val="911923127"/>
                    </a:ext>
                  </a:extLst>
                </a:gridCol>
                <a:gridCol w="603074">
                  <a:extLst>
                    <a:ext uri="{9D8B030D-6E8A-4147-A177-3AD203B41FA5}">
                      <a16:colId xmlns:a16="http://schemas.microsoft.com/office/drawing/2014/main" val="3734348426"/>
                    </a:ext>
                  </a:extLst>
                </a:gridCol>
                <a:gridCol w="603074">
                  <a:extLst>
                    <a:ext uri="{9D8B030D-6E8A-4147-A177-3AD203B41FA5}">
                      <a16:colId xmlns:a16="http://schemas.microsoft.com/office/drawing/2014/main" val="1156988856"/>
                    </a:ext>
                  </a:extLst>
                </a:gridCol>
                <a:gridCol w="604977">
                  <a:extLst>
                    <a:ext uri="{9D8B030D-6E8A-4147-A177-3AD203B41FA5}">
                      <a16:colId xmlns:a16="http://schemas.microsoft.com/office/drawing/2014/main" val="614358616"/>
                    </a:ext>
                  </a:extLst>
                </a:gridCol>
                <a:gridCol w="603074">
                  <a:extLst>
                    <a:ext uri="{9D8B030D-6E8A-4147-A177-3AD203B41FA5}">
                      <a16:colId xmlns:a16="http://schemas.microsoft.com/office/drawing/2014/main" val="537024975"/>
                    </a:ext>
                  </a:extLst>
                </a:gridCol>
                <a:gridCol w="767318">
                  <a:extLst>
                    <a:ext uri="{9D8B030D-6E8A-4147-A177-3AD203B41FA5}">
                      <a16:colId xmlns:a16="http://schemas.microsoft.com/office/drawing/2014/main" val="2430758277"/>
                    </a:ext>
                  </a:extLst>
                </a:gridCol>
              </a:tblGrid>
              <a:tr h="161925">
                <a:tc gridSpan="8">
                  <a:txBody>
                    <a:bodyPr/>
                    <a:lstStyle/>
                    <a:p>
                      <a:pPr algn="ctr">
                        <a:buNone/>
                      </a:pPr>
                      <a:r>
                        <a:rPr lang="pt-BR" sz="1000">
                          <a:solidFill>
                            <a:srgbClr val="FFFFFF"/>
                          </a:solidFill>
                          <a:effectLst/>
                          <a:ea typeface="Times New Roman" panose="02020603050405020304" pitchFamily="18" charset="0"/>
                        </a:rPr>
                        <a:t>Aço Nacional</a:t>
                      </a:r>
                      <a:endParaRPr lang="pt-BR">
                        <a:effectLst/>
                      </a:endParaRPr>
                    </a:p>
                  </a:txBody>
                  <a:tcPr marL="44450" marR="44450" marT="0" marB="0" anchor="ctr">
                    <a:lnL>
                      <a:noFill/>
                    </a:lnL>
                    <a:lnR>
                      <a:noFill/>
                    </a:lnR>
                    <a:lnT>
                      <a:noFill/>
                    </a:lnT>
                    <a:lnB>
                      <a:noFill/>
                    </a:lnB>
                    <a:solidFill>
                      <a:srgbClr val="05263D"/>
                    </a:solid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741197035"/>
                  </a:ext>
                </a:extLst>
              </a:tr>
              <a:tr h="161925">
                <a:tc>
                  <a:txBody>
                    <a:bodyPr/>
                    <a:lstStyle/>
                    <a:p>
                      <a:pPr indent="127635">
                        <a:buNone/>
                      </a:pPr>
                      <a:r>
                        <a:rPr lang="pt-BR" sz="1000" b="1">
                          <a:solidFill>
                            <a:srgbClr val="05263D"/>
                          </a:solidFill>
                          <a:effectLst/>
                          <a:ea typeface="Times New Roman" panose="02020603050405020304" pitchFamily="18" charset="0"/>
                        </a:rPr>
                        <a:t>Indicadores (%)</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abr.prec</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mar</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fev</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jan</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dez</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nov</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12mAC</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038296753"/>
                  </a:ext>
                </a:extLst>
              </a:tr>
              <a:tr h="161925">
                <a:tc>
                  <a:txBody>
                    <a:bodyPr/>
                    <a:lstStyle/>
                    <a:p>
                      <a:pPr algn="ctr">
                        <a:buNone/>
                      </a:pPr>
                      <a:r>
                        <a:rPr lang="pt-BR" sz="1000">
                          <a:solidFill>
                            <a:srgbClr val="05263D"/>
                          </a:solidFill>
                          <a:effectLst/>
                          <a:ea typeface="Times New Roman" panose="02020603050405020304" pitchFamily="18" charset="0"/>
                        </a:rPr>
                        <a:t>BQ</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-0,28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6,89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-3,25</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3,23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1,24</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2073109763"/>
                  </a:ext>
                </a:extLst>
              </a:tr>
              <a:tr h="161925">
                <a:tc>
                  <a:txBody>
                    <a:bodyPr/>
                    <a:lstStyle/>
                    <a:p>
                      <a:pPr algn="ctr">
                        <a:buNone/>
                      </a:pPr>
                      <a:r>
                        <a:rPr lang="pt-BR" sz="1000">
                          <a:solidFill>
                            <a:srgbClr val="05263D"/>
                          </a:solidFill>
                          <a:effectLst/>
                          <a:ea typeface="Times New Roman" panose="02020603050405020304" pitchFamily="18" charset="0"/>
                        </a:rPr>
                        <a:t>BF</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0,15</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-0,09</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6,02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3,31</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0,45</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188378933"/>
                  </a:ext>
                </a:extLst>
              </a:tr>
              <a:tr h="161925">
                <a:tc>
                  <a:txBody>
                    <a:bodyPr/>
                    <a:lstStyle/>
                    <a:p>
                      <a:pPr algn="ctr">
                        <a:buNone/>
                      </a:pPr>
                      <a:r>
                        <a:rPr lang="pt-BR" sz="1000">
                          <a:solidFill>
                            <a:srgbClr val="05263D"/>
                          </a:solidFill>
                          <a:effectLst/>
                          <a:ea typeface="Times New Roman" panose="02020603050405020304" pitchFamily="18" charset="0"/>
                        </a:rPr>
                        <a:t>CG</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5,99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-2,25</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4,14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0,81</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906620125"/>
                  </a:ext>
                </a:extLst>
              </a:tr>
              <a:tr h="161925">
                <a:tc>
                  <a:txBody>
                    <a:bodyPr/>
                    <a:lstStyle/>
                    <a:p>
                      <a:pPr algn="ctr">
                        <a:buNone/>
                      </a:pPr>
                      <a:r>
                        <a:rPr lang="pt-BR" sz="1000">
                          <a:solidFill>
                            <a:srgbClr val="05263D"/>
                          </a:solidFill>
                          <a:effectLst/>
                          <a:ea typeface="Times New Roman" panose="02020603050405020304" pitchFamily="18" charset="0"/>
                        </a:rPr>
                        <a:t>Zincado</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7,14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0,16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5,3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-4,16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4,02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4,15</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1357640472"/>
                  </a:ext>
                </a:extLst>
              </a:tr>
              <a:tr h="161925">
                <a:tc>
                  <a:txBody>
                    <a:bodyPr/>
                    <a:lstStyle/>
                    <a:p>
                      <a:pPr algn="ctr">
                        <a:buNone/>
                      </a:pPr>
                      <a:r>
                        <a:rPr lang="pt-BR" sz="1000">
                          <a:solidFill>
                            <a:srgbClr val="05263D"/>
                          </a:solidFill>
                          <a:effectLst/>
                          <a:ea typeface="Times New Roman" panose="02020603050405020304" pitchFamily="18" charset="0"/>
                        </a:rPr>
                        <a:t>Galvalume</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0,27</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9,99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3,91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5,53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-0,37</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3,03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15,71</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831079644"/>
                  </a:ext>
                </a:extLst>
              </a:tr>
              <a:tr h="161925">
                <a:tc>
                  <a:txBody>
                    <a:bodyPr/>
                    <a:lstStyle/>
                    <a:p>
                      <a:pPr algn="ctr">
                        <a:buNone/>
                      </a:pPr>
                      <a:r>
                        <a:rPr lang="pt-BR" sz="1000">
                          <a:solidFill>
                            <a:srgbClr val="05263D"/>
                          </a:solidFill>
                          <a:effectLst/>
                          <a:ea typeface="Times New Roman" panose="02020603050405020304" pitchFamily="18" charset="0"/>
                        </a:rPr>
                        <a:t>Xadrez</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-0,13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6,01</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-1,68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3,01</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3,11</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452857657"/>
                  </a:ext>
                </a:extLst>
              </a:tr>
              <a:tr h="161925">
                <a:tc>
                  <a:txBody>
                    <a:bodyPr/>
                    <a:lstStyle/>
                    <a:p>
                      <a:pPr algn="ctr">
                        <a:buNone/>
                      </a:pPr>
                      <a:r>
                        <a:rPr lang="pt-BR" sz="1000">
                          <a:solidFill>
                            <a:srgbClr val="05263D"/>
                          </a:solidFill>
                          <a:effectLst/>
                          <a:ea typeface="Times New Roman" panose="02020603050405020304" pitchFamily="18" charset="0"/>
                        </a:rPr>
                        <a:t>Arame</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0,98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0,06</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2,89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5,33</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1291251951"/>
                  </a:ext>
                </a:extLst>
              </a:tr>
              <a:tr h="161925">
                <a:tc>
                  <a:txBody>
                    <a:bodyPr/>
                    <a:lstStyle/>
                    <a:p>
                      <a:pPr algn="ctr">
                        <a:buNone/>
                      </a:pPr>
                      <a:r>
                        <a:rPr lang="pt-BR" sz="1000">
                          <a:solidFill>
                            <a:srgbClr val="05263D"/>
                          </a:solidFill>
                          <a:effectLst/>
                          <a:ea typeface="Times New Roman" panose="02020603050405020304" pitchFamily="18" charset="0"/>
                        </a:rPr>
                        <a:t>Barra Chata</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0,27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-0,06</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1126168658"/>
                  </a:ext>
                </a:extLst>
              </a:tr>
              <a:tr h="161925">
                <a:tc>
                  <a:txBody>
                    <a:bodyPr/>
                    <a:lstStyle/>
                    <a:p>
                      <a:pPr algn="ctr">
                        <a:buNone/>
                      </a:pPr>
                      <a:r>
                        <a:rPr lang="pt-BR" sz="1000">
                          <a:solidFill>
                            <a:srgbClr val="05263D"/>
                          </a:solidFill>
                          <a:effectLst/>
                          <a:ea typeface="Times New Roman" panose="02020603050405020304" pitchFamily="18" charset="0"/>
                        </a:rPr>
                        <a:t>Barra Redonda</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3,01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3,01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0,16</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0,49</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1098587076"/>
                  </a:ext>
                </a:extLst>
              </a:tr>
              <a:tr h="161925">
                <a:tc>
                  <a:txBody>
                    <a:bodyPr/>
                    <a:lstStyle/>
                    <a:p>
                      <a:pPr algn="ctr">
                        <a:buNone/>
                      </a:pPr>
                      <a:r>
                        <a:rPr lang="pt-BR" sz="1000">
                          <a:solidFill>
                            <a:srgbClr val="05263D"/>
                          </a:solidFill>
                          <a:effectLst/>
                          <a:ea typeface="Times New Roman" panose="02020603050405020304" pitchFamily="18" charset="0"/>
                        </a:rPr>
                        <a:t>Cantoneira</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3,34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3,45</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0,83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3,26</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3237090612"/>
                  </a:ext>
                </a:extLst>
              </a:tr>
              <a:tr h="161925">
                <a:tc>
                  <a:txBody>
                    <a:bodyPr/>
                    <a:lstStyle/>
                    <a:p>
                      <a:pPr algn="ctr">
                        <a:buNone/>
                      </a:pPr>
                      <a:r>
                        <a:rPr lang="pt-BR" sz="1000">
                          <a:solidFill>
                            <a:srgbClr val="05263D"/>
                          </a:solidFill>
                          <a:effectLst/>
                          <a:ea typeface="Times New Roman" panose="02020603050405020304" pitchFamily="18" charset="0"/>
                        </a:rPr>
                        <a:t>Perfil I</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-0,05</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3,96</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3,59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6,37</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3043824070"/>
                  </a:ext>
                </a:extLst>
              </a:tr>
              <a:tr h="161925">
                <a:tc>
                  <a:txBody>
                    <a:bodyPr/>
                    <a:lstStyle/>
                    <a:p>
                      <a:pPr algn="ctr">
                        <a:buNone/>
                      </a:pPr>
                      <a:r>
                        <a:rPr lang="pt-BR" sz="1000">
                          <a:solidFill>
                            <a:srgbClr val="05263D"/>
                          </a:solidFill>
                          <a:effectLst/>
                          <a:ea typeface="Times New Roman" panose="02020603050405020304" pitchFamily="18" charset="0"/>
                        </a:rPr>
                        <a:t>Perfil UDC</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0,29</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5,4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4,28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1,79</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478128422"/>
                  </a:ext>
                </a:extLst>
              </a:tr>
              <a:tr h="161925">
                <a:tc>
                  <a:txBody>
                    <a:bodyPr/>
                    <a:lstStyle/>
                    <a:p>
                      <a:pPr algn="ctr">
                        <a:buNone/>
                      </a:pPr>
                      <a:r>
                        <a:rPr lang="pt-BR" sz="1000">
                          <a:solidFill>
                            <a:srgbClr val="05263D"/>
                          </a:solidFill>
                          <a:effectLst/>
                          <a:ea typeface="Times New Roman" panose="02020603050405020304" pitchFamily="18" charset="0"/>
                        </a:rPr>
                        <a:t>Prego</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6,99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12,75</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4252652360"/>
                  </a:ext>
                </a:extLst>
              </a:tr>
              <a:tr h="161925">
                <a:tc>
                  <a:txBody>
                    <a:bodyPr/>
                    <a:lstStyle/>
                    <a:p>
                      <a:pPr algn="ctr">
                        <a:buNone/>
                      </a:pPr>
                      <a:r>
                        <a:rPr lang="pt-BR" sz="1000">
                          <a:solidFill>
                            <a:srgbClr val="05263D"/>
                          </a:solidFill>
                          <a:effectLst/>
                          <a:ea typeface="Times New Roman" panose="02020603050405020304" pitchFamily="18" charset="0"/>
                        </a:rPr>
                        <a:t>Tela</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8,77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-0,96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-2,08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-2,02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-2,32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7,36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-4,34</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564611552"/>
                  </a:ext>
                </a:extLst>
              </a:tr>
              <a:tr h="161925">
                <a:tc>
                  <a:txBody>
                    <a:bodyPr/>
                    <a:lstStyle/>
                    <a:p>
                      <a:pPr algn="ctr">
                        <a:buNone/>
                      </a:pPr>
                      <a:r>
                        <a:rPr lang="pt-BR" sz="1000">
                          <a:solidFill>
                            <a:srgbClr val="05263D"/>
                          </a:solidFill>
                          <a:effectLst/>
                          <a:ea typeface="Times New Roman" panose="02020603050405020304" pitchFamily="18" charset="0"/>
                        </a:rPr>
                        <a:t>Telha</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10,07</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2,93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7,27</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16,7</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3421764466"/>
                  </a:ext>
                </a:extLst>
              </a:tr>
              <a:tr h="161925">
                <a:tc>
                  <a:txBody>
                    <a:bodyPr/>
                    <a:lstStyle/>
                    <a:p>
                      <a:pPr algn="ctr">
                        <a:buNone/>
                      </a:pPr>
                      <a:r>
                        <a:rPr lang="pt-BR" sz="1000">
                          <a:solidFill>
                            <a:srgbClr val="05263D"/>
                          </a:solidFill>
                          <a:effectLst/>
                          <a:ea typeface="Times New Roman" panose="02020603050405020304" pitchFamily="18" charset="0"/>
                        </a:rPr>
                        <a:t>Tubo</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-0,31</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3,34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-0,05</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0,55</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-0,64</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802848556"/>
                  </a:ext>
                </a:extLst>
              </a:tr>
              <a:tr h="161925">
                <a:tc>
                  <a:txBody>
                    <a:bodyPr/>
                    <a:lstStyle/>
                    <a:p>
                      <a:pPr algn="ctr">
                        <a:buNone/>
                      </a:pPr>
                      <a:r>
                        <a:rPr lang="pt-BR" sz="1000">
                          <a:solidFill>
                            <a:srgbClr val="05263D"/>
                          </a:solidFill>
                          <a:effectLst/>
                          <a:ea typeface="Times New Roman" panose="02020603050405020304" pitchFamily="18" charset="0"/>
                        </a:rPr>
                        <a:t>Vergalhão</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-2,18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3,01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3,29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0,37</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0,27</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963578570"/>
                  </a:ext>
                </a:extLst>
              </a:tr>
              <a:tr h="161925">
                <a:tc>
                  <a:txBody>
                    <a:bodyPr/>
                    <a:lstStyle/>
                    <a:p>
                      <a:pPr algn="ctr">
                        <a:buNone/>
                      </a:pPr>
                      <a:r>
                        <a:rPr lang="pt-BR" sz="1000">
                          <a:solidFill>
                            <a:srgbClr val="05263D"/>
                          </a:solidFill>
                          <a:effectLst/>
                          <a:ea typeface="Times New Roman" panose="02020603050405020304" pitchFamily="18" charset="0"/>
                        </a:rPr>
                        <a:t>Chapa Inox</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-1,32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3,97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1,72</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976731963"/>
                  </a:ext>
                </a:extLst>
              </a:tr>
              <a:tr h="161925">
                <a:tc>
                  <a:txBody>
                    <a:bodyPr/>
                    <a:lstStyle/>
                    <a:p>
                      <a:pPr algn="ctr">
                        <a:buNone/>
                      </a:pPr>
                      <a:r>
                        <a:rPr lang="pt-BR" sz="1000">
                          <a:solidFill>
                            <a:srgbClr val="05263D"/>
                          </a:solidFill>
                          <a:effectLst/>
                          <a:ea typeface="Times New Roman" panose="02020603050405020304" pitchFamily="18" charset="0"/>
                        </a:rPr>
                        <a:t>Barra Inox</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1,04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1,73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-2,9</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736759203"/>
                  </a:ext>
                </a:extLst>
              </a:tr>
              <a:tr h="161925">
                <a:tc>
                  <a:txBody>
                    <a:bodyPr/>
                    <a:lstStyle/>
                    <a:p>
                      <a:pPr algn="ctr">
                        <a:buNone/>
                      </a:pPr>
                      <a:r>
                        <a:rPr lang="pt-BR" sz="1000">
                          <a:solidFill>
                            <a:srgbClr val="05263D"/>
                          </a:solidFill>
                          <a:effectLst/>
                          <a:ea typeface="Times New Roman" panose="02020603050405020304" pitchFamily="18" charset="0"/>
                        </a:rPr>
                        <a:t>Cantoneira Inox</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-1,56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0,98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-4,87</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376601253"/>
                  </a:ext>
                </a:extLst>
              </a:tr>
              <a:tr h="161925">
                <a:tc>
                  <a:txBody>
                    <a:bodyPr/>
                    <a:lstStyle/>
                    <a:p>
                      <a:pPr algn="ctr">
                        <a:buNone/>
                      </a:pPr>
                      <a:r>
                        <a:rPr lang="pt-BR" sz="1000">
                          <a:solidFill>
                            <a:srgbClr val="05263D"/>
                          </a:solidFill>
                          <a:effectLst/>
                          <a:ea typeface="Times New Roman" panose="02020603050405020304" pitchFamily="18" charset="0"/>
                        </a:rPr>
                        <a:t>Tubo Inox</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-0,18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-0,09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1,52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-2,66</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1741054716"/>
                  </a:ext>
                </a:extLst>
              </a:tr>
              <a:tr h="161925">
                <a:tc>
                  <a:txBody>
                    <a:bodyPr/>
                    <a:lstStyle/>
                    <a:p>
                      <a:pPr algn="ctr">
                        <a:buNone/>
                      </a:pPr>
                      <a:r>
                        <a:rPr lang="pt-BR" sz="1000">
                          <a:solidFill>
                            <a:srgbClr val="05263D"/>
                          </a:solidFill>
                          <a:effectLst/>
                          <a:ea typeface="Times New Roman" panose="02020603050405020304" pitchFamily="18" charset="0"/>
                        </a:rPr>
                        <a:t>Sucata</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4,99</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0,16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-1,92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-6,34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-10,98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-5,26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-47,64</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189818128"/>
                  </a:ext>
                </a:extLst>
              </a:tr>
              <a:tr h="161925">
                <a:tc gridSpan="8">
                  <a:txBody>
                    <a:bodyPr/>
                    <a:lstStyle/>
                    <a:p>
                      <a:pPr algn="ctr">
                        <a:buNone/>
                      </a:pPr>
                      <a:r>
                        <a:rPr lang="pt-BR" sz="1000">
                          <a:solidFill>
                            <a:srgbClr val="FFFFFF"/>
                          </a:solidFill>
                          <a:effectLst/>
                          <a:ea typeface="Times New Roman" panose="02020603050405020304" pitchFamily="18" charset="0"/>
                        </a:rPr>
                        <a:t>Aço Importado</a:t>
                      </a:r>
                      <a:endParaRPr lang="pt-BR">
                        <a:effectLst/>
                      </a:endParaRPr>
                    </a:p>
                  </a:txBody>
                  <a:tcPr marL="44450" marR="44450" marT="0" marB="0" anchor="ctr">
                    <a:lnL>
                      <a:noFill/>
                    </a:lnL>
                    <a:lnR>
                      <a:noFill/>
                    </a:lnR>
                    <a:lnT>
                      <a:noFill/>
                    </a:lnT>
                    <a:lnB>
                      <a:noFill/>
                    </a:lnB>
                    <a:solidFill>
                      <a:srgbClr val="05263D"/>
                    </a:solid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3863600331"/>
                  </a:ext>
                </a:extLst>
              </a:tr>
              <a:tr h="161925">
                <a:tc>
                  <a:txBody>
                    <a:bodyPr/>
                    <a:lstStyle/>
                    <a:p>
                      <a:pPr indent="127635">
                        <a:buNone/>
                      </a:pPr>
                      <a:r>
                        <a:rPr lang="pt-BR" sz="1000" b="1">
                          <a:solidFill>
                            <a:srgbClr val="05263D"/>
                          </a:solidFill>
                          <a:effectLst/>
                          <a:ea typeface="Times New Roman" panose="02020603050405020304" pitchFamily="18" charset="0"/>
                        </a:rPr>
                        <a:t>Indicadores (%)</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abr.prec</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mar</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fev</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jan</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dez</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nov</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b="1">
                          <a:solidFill>
                            <a:srgbClr val="05263D"/>
                          </a:solidFill>
                          <a:effectLst/>
                          <a:ea typeface="Times New Roman" panose="02020603050405020304" pitchFamily="18" charset="0"/>
                        </a:rPr>
                        <a:t>12mAC</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2893844321"/>
                  </a:ext>
                </a:extLst>
              </a:tr>
              <a:tr h="161925">
                <a:tc>
                  <a:txBody>
                    <a:bodyPr/>
                    <a:lstStyle/>
                    <a:p>
                      <a:pPr algn="ctr">
                        <a:buNone/>
                      </a:pPr>
                      <a:r>
                        <a:rPr lang="pt-BR" sz="1000">
                          <a:solidFill>
                            <a:srgbClr val="05263D"/>
                          </a:solidFill>
                          <a:effectLst/>
                          <a:ea typeface="Times New Roman" panose="02020603050405020304" pitchFamily="18" charset="0"/>
                        </a:rPr>
                        <a:t>HRC</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1,93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0,35</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0,43</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0,61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-0,11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4,88</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1743931940"/>
                  </a:ext>
                </a:extLst>
              </a:tr>
              <a:tr h="161925">
                <a:tc>
                  <a:txBody>
                    <a:bodyPr/>
                    <a:lstStyle/>
                    <a:p>
                      <a:pPr algn="ctr">
                        <a:buNone/>
                      </a:pPr>
                      <a:r>
                        <a:rPr lang="pt-BR" sz="1000">
                          <a:solidFill>
                            <a:srgbClr val="05263D"/>
                          </a:solidFill>
                          <a:effectLst/>
                          <a:ea typeface="Times New Roman" panose="02020603050405020304" pitchFamily="18" charset="0"/>
                        </a:rPr>
                        <a:t>CRC</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1,37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0,63</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-1,19</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0,62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-0,22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-0,49</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1330782361"/>
                  </a:ext>
                </a:extLst>
              </a:tr>
              <a:tr h="161925">
                <a:tc>
                  <a:txBody>
                    <a:bodyPr/>
                    <a:lstStyle/>
                    <a:p>
                      <a:pPr algn="ctr">
                        <a:buNone/>
                      </a:pPr>
                      <a:r>
                        <a:rPr lang="pt-BR" sz="1000">
                          <a:solidFill>
                            <a:srgbClr val="05263D"/>
                          </a:solidFill>
                          <a:effectLst/>
                          <a:ea typeface="Times New Roman" panose="02020603050405020304" pitchFamily="18" charset="0"/>
                        </a:rPr>
                        <a:t>HDG</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1,62</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1,61</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1,56</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0,45</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3</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850544955"/>
                  </a:ext>
                </a:extLst>
              </a:tr>
              <a:tr h="161925">
                <a:tc>
                  <a:txBody>
                    <a:bodyPr/>
                    <a:lstStyle/>
                    <a:p>
                      <a:pPr algn="ctr">
                        <a:buNone/>
                      </a:pPr>
                      <a:r>
                        <a:rPr lang="pt-BR" sz="1000">
                          <a:solidFill>
                            <a:srgbClr val="05263D"/>
                          </a:solidFill>
                          <a:effectLst/>
                          <a:ea typeface="Times New Roman" panose="02020603050405020304" pitchFamily="18" charset="0"/>
                        </a:rPr>
                        <a:t>Plate</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1,87</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0,56</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0,88</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0,95</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-2,02</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0,02</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1701271432"/>
                  </a:ext>
                </a:extLst>
              </a:tr>
              <a:tr h="161925">
                <a:tc>
                  <a:txBody>
                    <a:bodyPr/>
                    <a:lstStyle/>
                    <a:p>
                      <a:pPr algn="ctr">
                        <a:buNone/>
                      </a:pPr>
                      <a:r>
                        <a:rPr lang="pt-BR" sz="1000">
                          <a:solidFill>
                            <a:srgbClr val="05263D"/>
                          </a:solidFill>
                          <a:effectLst/>
                          <a:ea typeface="Times New Roman" panose="02020603050405020304" pitchFamily="18" charset="0"/>
                        </a:rPr>
                        <a:t>Rebar</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1,39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0,59</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-0,48</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1,24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0,94</a:t>
                      </a:r>
                      <a:endParaRPr lang="pt-BR">
                        <a:effectLst/>
                      </a:endParaRPr>
                    </a:p>
                  </a:txBody>
                  <a:tcPr marL="44450" marR="44450" marT="0" marB="0" anchor="ctr">
                    <a:lnL>
                      <a:noFill/>
                    </a:lnL>
                    <a:lnR>
                      <a:noFill/>
                    </a:lnR>
                    <a:lnT>
                      <a:noFill/>
                    </a:lnT>
                    <a:lnB>
                      <a:noFill/>
                    </a:lnB>
                    <a:solidFill>
                      <a:srgbClr val="DCDCDF"/>
                    </a:solidFill>
                  </a:tcPr>
                </a:tc>
                <a:tc>
                  <a:txBody>
                    <a:bodyPr/>
                    <a:lstStyle/>
                    <a:p>
                      <a:pPr algn="ctr">
                        <a:buNone/>
                      </a:pPr>
                      <a:r>
                        <a:rPr lang="pt-BR" sz="1000">
                          <a:solidFill>
                            <a:srgbClr val="05263D"/>
                          </a:solidFill>
                          <a:effectLst/>
                          <a:ea typeface="Times New Roman" panose="02020603050405020304" pitchFamily="18" charset="0"/>
                        </a:rPr>
                        <a:t>4,86</a:t>
                      </a:r>
                      <a:endParaRPr lang="pt-BR">
                        <a:effectLst/>
                      </a:endParaRPr>
                    </a:p>
                  </a:txBody>
                  <a:tcPr marL="44450" marR="44450" marT="0" marB="0" anchor="ctr">
                    <a:lnL>
                      <a:noFill/>
                    </a:lnL>
                    <a:lnR>
                      <a:noFill/>
                    </a:lnR>
                    <a:lnT>
                      <a:noFill/>
                    </a:lnT>
                    <a:lnB>
                      <a:noFill/>
                    </a:lnB>
                    <a:solidFill>
                      <a:srgbClr val="DCDCDF"/>
                    </a:solidFill>
                  </a:tcPr>
                </a:tc>
                <a:extLst>
                  <a:ext uri="{0D108BD9-81ED-4DB2-BD59-A6C34878D82A}">
                    <a16:rowId xmlns:a16="http://schemas.microsoft.com/office/drawing/2014/main" val="4056305311"/>
                  </a:ext>
                </a:extLst>
              </a:tr>
              <a:tr h="161925">
                <a:tc>
                  <a:txBody>
                    <a:bodyPr/>
                    <a:lstStyle/>
                    <a:p>
                      <a:pPr algn="ctr">
                        <a:buNone/>
                      </a:pPr>
                      <a:r>
                        <a:rPr lang="pt-BR" sz="1000">
                          <a:solidFill>
                            <a:srgbClr val="05263D"/>
                          </a:solidFill>
                          <a:effectLst/>
                          <a:ea typeface="Times New Roman" panose="02020603050405020304" pitchFamily="18" charset="0"/>
                        </a:rPr>
                        <a:t>Wire rod</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1,44</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0,59</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-0,45</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1,21</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0,91</a:t>
                      </a:r>
                      <a:endParaRPr lang="pt-BR">
                        <a:effectLst/>
                      </a:endParaRPr>
                    </a:p>
                  </a:txBody>
                  <a:tcPr marL="44450" marR="44450" marT="0" marB="0" anchor="ctr">
                    <a:lnL>
                      <a:noFill/>
                    </a:lnL>
                    <a:lnR>
                      <a:noFill/>
                    </a:lnR>
                    <a:lnT>
                      <a:noFill/>
                    </a:lnT>
                    <a:lnB>
                      <a:noFill/>
                    </a:lnB>
                    <a:solidFill>
                      <a:srgbClr val="F3F3F9"/>
                    </a:solidFill>
                  </a:tcPr>
                </a:tc>
                <a:tc>
                  <a:txBody>
                    <a:bodyPr/>
                    <a:lstStyle/>
                    <a:p>
                      <a:pPr algn="ctr">
                        <a:buNone/>
                      </a:pPr>
                      <a:r>
                        <a:rPr lang="pt-BR" sz="1000">
                          <a:solidFill>
                            <a:srgbClr val="05263D"/>
                          </a:solidFill>
                          <a:effectLst/>
                          <a:ea typeface="Times New Roman" panose="02020603050405020304" pitchFamily="18" charset="0"/>
                        </a:rPr>
                        <a:t>4,95</a:t>
                      </a:r>
                      <a:endParaRPr lang="pt-BR">
                        <a:effectLst/>
                      </a:endParaRPr>
                    </a:p>
                  </a:txBody>
                  <a:tcPr marL="44450" marR="44450" marT="0" marB="0" anchor="ctr">
                    <a:lnL>
                      <a:noFill/>
                    </a:lnL>
                    <a:lnR>
                      <a:noFill/>
                    </a:lnR>
                    <a:lnT>
                      <a:noFill/>
                    </a:lnT>
                    <a:lnB>
                      <a:noFill/>
                    </a:lnB>
                    <a:solidFill>
                      <a:srgbClr val="F3F3F9"/>
                    </a:solidFill>
                  </a:tcPr>
                </a:tc>
                <a:extLst>
                  <a:ext uri="{0D108BD9-81ED-4DB2-BD59-A6C34878D82A}">
                    <a16:rowId xmlns:a16="http://schemas.microsoft.com/office/drawing/2014/main" val="3900328889"/>
                  </a:ext>
                </a:extLst>
              </a:tr>
            </a:tbl>
          </a:graphicData>
        </a:graphic>
      </p:graphicFrame>
    </p:spTree>
    <p:extLst>
      <p:ext uri="{BB962C8B-B14F-4D97-AF65-F5344CB8AC3E}">
        <p14:creationId xmlns:p14="http://schemas.microsoft.com/office/powerpoint/2010/main" val="1350259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E232-7570-7CFA-BF1E-98C6D3E0176C}"/>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99A49DC7-9588-0DB8-29CB-D76D0BB8CFA1}"/>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FA30B375-9190-7D68-D8CA-B2D83F19B9E4}"/>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1D77D8F5-EB57-91D7-DF6C-E248508F03B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C9ABAC06-0673-F4D3-1F57-05A9869BEF64}"/>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3330A9CB-759B-7CE2-C04D-2080D6E73F1F}"/>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93EAA526-5387-B190-9CD5-765055A4DAE1}"/>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5DF94EC5-A4A2-0024-D350-E1E5FA1F776E}"/>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67593D62-694F-ED33-1150-41F735F7DE78}"/>
              </a:ext>
            </a:extLst>
          </p:cNvPr>
          <p:cNvSpPr txBox="1"/>
          <p:nvPr/>
        </p:nvSpPr>
        <p:spPr>
          <a:xfrm>
            <a:off x="350865" y="906026"/>
            <a:ext cx="6035647" cy="369332"/>
          </a:xfrm>
          <a:prstGeom prst="rect">
            <a:avLst/>
          </a:prstGeom>
          <a:noFill/>
        </p:spPr>
        <p:txBody>
          <a:bodyPr wrap="square">
            <a:spAutoFit/>
          </a:bodyPr>
          <a:lstStyle/>
          <a:p>
            <a:pPr algn="l">
              <a:lnSpc>
                <a:spcPct val="100000"/>
              </a:lnSpc>
              <a:spcBef>
                <a:spcPts val="2400"/>
              </a:spcBef>
              <a:spcAft>
                <a:spcPts val="600"/>
              </a:spcAft>
              <a:buSzPts val="2600"/>
            </a:pPr>
            <a:r>
              <a:rPr lang="pt-BR" sz="1800" b="1">
                <a:highlight>
                  <a:schemeClr val="lt1"/>
                </a:highlight>
                <a:latin typeface="Nunito"/>
                <a:ea typeface="Nunito"/>
                <a:cs typeface="Nunito"/>
                <a:sym typeface="Nunito"/>
              </a:rPr>
              <a:t>Indicadores de Preço</a:t>
            </a:r>
          </a:p>
        </p:txBody>
      </p:sp>
      <p:sp>
        <p:nvSpPr>
          <p:cNvPr id="8" name="Espaço Reservado para Número de Slide 7">
            <a:extLst>
              <a:ext uri="{FF2B5EF4-FFF2-40B4-BE49-F238E27FC236}">
                <a16:creationId xmlns:a16="http://schemas.microsoft.com/office/drawing/2014/main" id="{33619137-B34A-AF9A-B70F-DB3679BC71C0}"/>
              </a:ext>
            </a:extLst>
          </p:cNvPr>
          <p:cNvSpPr>
            <a:spLocks noGrp="1"/>
          </p:cNvSpPr>
          <p:nvPr>
            <p:ph type="sldNum" sz="quarter" idx="12"/>
          </p:nvPr>
        </p:nvSpPr>
        <p:spPr/>
        <p:txBody>
          <a:bodyPr/>
          <a:lstStyle/>
          <a:p>
            <a:fld id="{DBDBA070-BF11-4ECF-A255-AE5E34372AE1}" type="slidenum">
              <a:rPr lang="pt-BR" smtClean="0"/>
              <a:t>28</a:t>
            </a:fld>
            <a:endParaRPr lang="pt-BR"/>
          </a:p>
        </p:txBody>
      </p:sp>
      <p:sp>
        <p:nvSpPr>
          <p:cNvPr id="2" name="CaixaDeTexto 22">
            <a:extLst>
              <a:ext uri="{FF2B5EF4-FFF2-40B4-BE49-F238E27FC236}">
                <a16:creationId xmlns:a16="http://schemas.microsoft.com/office/drawing/2014/main" id="{FC99FDED-353E-2912-FC17-4B4D1BB12BB2}"/>
              </a:ext>
            </a:extLst>
          </p:cNvPr>
          <p:cNvSpPr txBox="1"/>
          <p:nvPr/>
        </p:nvSpPr>
        <p:spPr>
          <a:xfrm>
            <a:off x="355600" y="1259878"/>
            <a:ext cx="6140788" cy="2484000"/>
          </a:xfrm>
          <a:prstGeom prst="rect">
            <a:avLst/>
          </a:prstGeom>
          <a:noFill/>
        </p:spPr>
        <p:txBody>
          <a:bodyPr wrap="square" lIns="91440" tIns="45720" rIns="91440" bIns="45720" numCol="2" spcCol="28800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150000"/>
              </a:lnSpc>
            </a:pPr>
            <a:r>
              <a:rPr lang="pt-BR" sz="1100" dirty="0"/>
              <a:t>	Em contraste, a sucata registra forte queda no acumulado em 12 meses (-47,64%) e recuos relevantes no fim de 2025 e janeiro (-10,98% em dez e -6,34% em </a:t>
            </a:r>
            <a:r>
              <a:rPr lang="pt-BR" sz="1100" dirty="0" err="1"/>
              <a:t>jan</a:t>
            </a:r>
            <a:r>
              <a:rPr lang="pt-BR" sz="1100" dirty="0"/>
              <a:t>), o que pode sinalizar enfraquecimento de demanda por insumo ou ajuste de oferta, funcionando como fator de alívio de custos na cadeia. Para o aço importado, as variações mensais entre novembro e março são moderadas (em geral próximas de 0% a 2%), com 12mAC positivo para HRC (+4,88%), rebar (+4,86%) e </a:t>
            </a:r>
            <a:r>
              <a:rPr lang="pt-BR" sz="1100" dirty="0" err="1"/>
              <a:t>wire</a:t>
            </a:r>
            <a:r>
              <a:rPr lang="pt-BR" sz="1100" dirty="0"/>
              <a:t> </a:t>
            </a:r>
            <a:r>
              <a:rPr lang="pt-BR" sz="1100" dirty="0" err="1"/>
              <a:t>rod</a:t>
            </a:r>
            <a:r>
              <a:rPr lang="pt-BR" sz="1100" dirty="0"/>
              <a:t> (+4,95%) e negativo para CRC (-0,49%), sugerindo que, embora haja pressão altista externa em alguns produtos, a transmissão para o mercado interno depende do câmbio, de fretes, da competição com o aço nacional e do nível de atividade dos setores demandantes (construção, automotivo e bens de capital.</a:t>
            </a:r>
            <a:endParaRPr lang="pt-BR" dirty="0"/>
          </a:p>
        </p:txBody>
      </p:sp>
    </p:spTree>
    <p:extLst>
      <p:ext uri="{BB962C8B-B14F-4D97-AF65-F5344CB8AC3E}">
        <p14:creationId xmlns:p14="http://schemas.microsoft.com/office/powerpoint/2010/main" val="3610291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sp>
        <p:nvSpPr>
          <p:cNvPr id="22" name="CaixaDeTexto 21">
            <a:extLst>
              <a:ext uri="{FF2B5EF4-FFF2-40B4-BE49-F238E27FC236}">
                <a16:creationId xmlns:a16="http://schemas.microsoft.com/office/drawing/2014/main" id="{155095F0-AF85-627E-9549-2D5FF319941E}"/>
              </a:ext>
            </a:extLst>
          </p:cNvPr>
          <p:cNvSpPr txBox="1"/>
          <p:nvPr/>
        </p:nvSpPr>
        <p:spPr>
          <a:xfrm>
            <a:off x="2058670" y="4765794"/>
            <a:ext cx="4127500" cy="369332"/>
          </a:xfrm>
          <a:prstGeom prst="rect">
            <a:avLst/>
          </a:prstGeom>
          <a:noFill/>
        </p:spPr>
        <p:txBody>
          <a:bodyPr wrap="square">
            <a:spAutoFit/>
          </a:bodyPr>
          <a:lstStyle/>
          <a:p>
            <a:endParaRPr lang="pt-B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29</a:t>
            </a:fld>
            <a:endParaRPr lang="pt-BR"/>
          </a:p>
        </p:txBody>
      </p:sp>
      <p:sp>
        <p:nvSpPr>
          <p:cNvPr id="18" name="CaixaDeTexto 17">
            <a:extLst>
              <a:ext uri="{FF2B5EF4-FFF2-40B4-BE49-F238E27FC236}">
                <a16:creationId xmlns:a16="http://schemas.microsoft.com/office/drawing/2014/main" id="{2EC29571-0872-A046-A667-E215A238F35E}"/>
              </a:ext>
            </a:extLst>
          </p:cNvPr>
          <p:cNvSpPr txBox="1"/>
          <p:nvPr/>
        </p:nvSpPr>
        <p:spPr>
          <a:xfrm>
            <a:off x="350866" y="906026"/>
            <a:ext cx="4127500" cy="369332"/>
          </a:xfrm>
          <a:prstGeom prst="rect">
            <a:avLst/>
          </a:prstGeom>
          <a:noFill/>
        </p:spPr>
        <p:txBody>
          <a:bodyPr wrap="square">
            <a:spAutoFit/>
          </a:bodyPr>
          <a:lstStyle/>
          <a:p>
            <a:pPr algn="l">
              <a:lnSpc>
                <a:spcPct val="100000"/>
              </a:lnSpc>
              <a:spcBef>
                <a:spcPts val="2400"/>
              </a:spcBef>
              <a:spcAft>
                <a:spcPts val="600"/>
              </a:spcAft>
              <a:buSzPts val="2600"/>
            </a:pPr>
            <a:r>
              <a:rPr lang="pt-BR" b="1">
                <a:highlight>
                  <a:schemeClr val="lt1"/>
                </a:highlight>
                <a:latin typeface="Nunito"/>
                <a:ea typeface="Nunito"/>
                <a:cs typeface="Nunito"/>
                <a:sym typeface="Nunito"/>
              </a:rPr>
              <a:t>Previsão de Preços do Aço</a:t>
            </a:r>
            <a:endParaRPr lang="pt-BR" sz="1800" b="1">
              <a:highlight>
                <a:schemeClr val="lt1"/>
              </a:highlight>
              <a:latin typeface="Nunito"/>
              <a:ea typeface="Nunito"/>
              <a:cs typeface="Nunito"/>
              <a:sym typeface="Nunito"/>
            </a:endParaRPr>
          </a:p>
        </p:txBody>
      </p:sp>
      <p:sp>
        <p:nvSpPr>
          <p:cNvPr id="2" name="CaixaDeTexto 1">
            <a:extLst>
              <a:ext uri="{FF2B5EF4-FFF2-40B4-BE49-F238E27FC236}">
                <a16:creationId xmlns:a16="http://schemas.microsoft.com/office/drawing/2014/main" id="{A9130058-F0C0-2D81-EB80-779CBCED3673}"/>
              </a:ext>
            </a:extLst>
          </p:cNvPr>
          <p:cNvSpPr txBox="1"/>
          <p:nvPr/>
        </p:nvSpPr>
        <p:spPr>
          <a:xfrm>
            <a:off x="3453492" y="6098721"/>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pt-BR"/>
          </a:p>
        </p:txBody>
      </p:sp>
      <p:sp>
        <p:nvSpPr>
          <p:cNvPr id="3" name="CaixaDeTexto 2">
            <a:extLst>
              <a:ext uri="{FF2B5EF4-FFF2-40B4-BE49-F238E27FC236}">
                <a16:creationId xmlns:a16="http://schemas.microsoft.com/office/drawing/2014/main" id="{AD627A4A-4AA3-CEA7-DFBC-27FE958DFA1B}"/>
              </a:ext>
            </a:extLst>
          </p:cNvPr>
          <p:cNvSpPr txBox="1"/>
          <p:nvPr/>
        </p:nvSpPr>
        <p:spPr>
          <a:xfrm>
            <a:off x="9748157" y="3784146"/>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pt-BR"/>
          </a:p>
        </p:txBody>
      </p:sp>
      <p:sp>
        <p:nvSpPr>
          <p:cNvPr id="6" name="CaixaDeTexto 5">
            <a:extLst>
              <a:ext uri="{FF2B5EF4-FFF2-40B4-BE49-F238E27FC236}">
                <a16:creationId xmlns:a16="http://schemas.microsoft.com/office/drawing/2014/main" id="{405B9274-47CB-3A74-9EE9-CCBFB846B4C8}"/>
              </a:ext>
            </a:extLst>
          </p:cNvPr>
          <p:cNvSpPr txBox="1"/>
          <p:nvPr/>
        </p:nvSpPr>
        <p:spPr>
          <a:xfrm>
            <a:off x="350867" y="4421654"/>
            <a:ext cx="6156268" cy="875825"/>
          </a:xfrm>
          <a:prstGeom prst="rect">
            <a:avLst/>
          </a:prstGeom>
          <a:noFill/>
        </p:spPr>
        <p:txBody>
          <a:bodyPr wrap="square" lIns="91440" tIns="45720" rIns="91440" bIns="45720" numCol="2" spcCol="288000" rtlCol="0" anchor="t">
            <a:spAutoFit/>
          </a:bodyPr>
          <a:lstStyle>
            <a:defPPr>
              <a:defRPr lang="en-US"/>
            </a:defPPr>
            <a:lvl1pPr algn="just">
              <a:lnSpc>
                <a:spcPct val="150000"/>
              </a:lnSpc>
              <a:defRPr sz="1100"/>
            </a:lvl1pPr>
          </a:lstStyle>
          <a:p>
            <a:r>
              <a:rPr lang="pt-BR"/>
              <a:t>  As estimativas do Boletim continuam mostrando um cenário estável, porém já há valorização nos preços de “Vergalhão” e “Barra Chata”. As cotações da “Sucata” apresentam recuo.</a:t>
            </a:r>
          </a:p>
        </p:txBody>
      </p:sp>
      <p:sp>
        <p:nvSpPr>
          <p:cNvPr id="9" name="CaixaDeTexto 8">
            <a:extLst>
              <a:ext uri="{FF2B5EF4-FFF2-40B4-BE49-F238E27FC236}">
                <a16:creationId xmlns:a16="http://schemas.microsoft.com/office/drawing/2014/main" id="{49234E89-ED20-29CA-42FC-FAE1F1BFBE51}"/>
              </a:ext>
            </a:extLst>
          </p:cNvPr>
          <p:cNvSpPr txBox="1"/>
          <p:nvPr/>
        </p:nvSpPr>
        <p:spPr>
          <a:xfrm>
            <a:off x="2171825" y="7242671"/>
            <a:ext cx="4127500" cy="369332"/>
          </a:xfrm>
          <a:prstGeom prst="rect">
            <a:avLst/>
          </a:prstGeom>
          <a:noFill/>
        </p:spPr>
        <p:txBody>
          <a:bodyPr wrap="square">
            <a:spAutoFit/>
          </a:bodyPr>
          <a:lstStyle/>
          <a:p>
            <a:endParaRPr lang="pt-BR"/>
          </a:p>
        </p:txBody>
      </p:sp>
      <p:sp>
        <p:nvSpPr>
          <p:cNvPr id="12" name="CaixaDeTexto 11">
            <a:extLst>
              <a:ext uri="{FF2B5EF4-FFF2-40B4-BE49-F238E27FC236}">
                <a16:creationId xmlns:a16="http://schemas.microsoft.com/office/drawing/2014/main" id="{B3F1DD2B-B2BF-735C-8188-3C56341818F7}"/>
              </a:ext>
            </a:extLst>
          </p:cNvPr>
          <p:cNvSpPr txBox="1"/>
          <p:nvPr/>
        </p:nvSpPr>
        <p:spPr>
          <a:xfrm>
            <a:off x="2324225" y="7395071"/>
            <a:ext cx="4127500" cy="369332"/>
          </a:xfrm>
          <a:prstGeom prst="rect">
            <a:avLst/>
          </a:prstGeom>
          <a:noFill/>
        </p:spPr>
        <p:txBody>
          <a:bodyPr wrap="square">
            <a:spAutoFit/>
          </a:bodyPr>
          <a:lstStyle/>
          <a:p>
            <a:endParaRPr lang="pt-BR"/>
          </a:p>
        </p:txBody>
      </p:sp>
      <p:pic>
        <p:nvPicPr>
          <p:cNvPr id="7" name="Imagem 6">
            <a:extLst>
              <a:ext uri="{FF2B5EF4-FFF2-40B4-BE49-F238E27FC236}">
                <a16:creationId xmlns:a16="http://schemas.microsoft.com/office/drawing/2014/main" id="{2A244EB3-79F2-17E2-D442-63CA6B4384C7}"/>
              </a:ext>
            </a:extLst>
          </p:cNvPr>
          <p:cNvPicPr>
            <a:picLocks noChangeAspect="1"/>
          </p:cNvPicPr>
          <p:nvPr/>
        </p:nvPicPr>
        <p:blipFill>
          <a:blip r:embed="rId4"/>
          <a:stretch>
            <a:fillRect/>
          </a:stretch>
        </p:blipFill>
        <p:spPr>
          <a:xfrm>
            <a:off x="356059" y="1281028"/>
            <a:ext cx="6147074" cy="3149371"/>
          </a:xfrm>
          <a:prstGeom prst="rect">
            <a:avLst/>
          </a:prstGeom>
        </p:spPr>
      </p:pic>
    </p:spTree>
    <p:extLst>
      <p:ext uri="{BB962C8B-B14F-4D97-AF65-F5344CB8AC3E}">
        <p14:creationId xmlns:p14="http://schemas.microsoft.com/office/powerpoint/2010/main" val="3401273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4"/>
            <a:ext cx="6156268" cy="84600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4">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17" name="CaixaDeTexto 16">
            <a:extLst>
              <a:ext uri="{FF2B5EF4-FFF2-40B4-BE49-F238E27FC236}">
                <a16:creationId xmlns:a16="http://schemas.microsoft.com/office/drawing/2014/main" id="{A4C52C9D-3704-FF45-E667-3920CB65FB91}"/>
              </a:ext>
            </a:extLst>
          </p:cNvPr>
          <p:cNvSpPr txBox="1"/>
          <p:nvPr/>
        </p:nvSpPr>
        <p:spPr>
          <a:xfrm>
            <a:off x="350866" y="906026"/>
            <a:ext cx="4127500" cy="369332"/>
          </a:xfrm>
          <a:prstGeom prst="rect">
            <a:avLst/>
          </a:prstGeom>
          <a:noFill/>
        </p:spPr>
        <p:txBody>
          <a:bodyPr wrap="square" lIns="91440" tIns="45720" rIns="91440" bIns="45720" anchor="t">
            <a:spAutoFit/>
          </a:bodyPr>
          <a:lstStyle/>
          <a:p>
            <a:pPr>
              <a:spcBef>
                <a:spcPts val="2400"/>
              </a:spcBef>
              <a:spcAft>
                <a:spcPts val="600"/>
              </a:spcAft>
              <a:buSzPts val="2600"/>
            </a:pPr>
            <a:r>
              <a:rPr lang="pt-BR" b="1">
                <a:highlight>
                  <a:srgbClr val="FFFFFF"/>
                </a:highlight>
                <a:latin typeface="Nunito"/>
                <a:ea typeface="Nunito"/>
                <a:cs typeface="Nunito"/>
                <a:sym typeface="Nunito"/>
              </a:rPr>
              <a:t>Preço dos metais</a:t>
            </a:r>
            <a:endParaRPr lang="pt-BR" sz="1800" b="1">
              <a:highlight>
                <a:schemeClr val="lt1"/>
              </a:highlight>
              <a:latin typeface="Nunito"/>
              <a:ea typeface="Nunito"/>
              <a:cs typeface="Nunito"/>
              <a:sym typeface="Nunito"/>
            </a:endParaRPr>
          </a:p>
        </p:txBody>
      </p:sp>
      <p:sp>
        <p:nvSpPr>
          <p:cNvPr id="23" name="CaixaDeTexto 22">
            <a:extLst>
              <a:ext uri="{FF2B5EF4-FFF2-40B4-BE49-F238E27FC236}">
                <a16:creationId xmlns:a16="http://schemas.microsoft.com/office/drawing/2014/main" id="{3B7FEDC3-6A48-BC9F-A9F4-0EBB44FDDB14}"/>
              </a:ext>
            </a:extLst>
          </p:cNvPr>
          <p:cNvSpPr txBox="1"/>
          <p:nvPr/>
        </p:nvSpPr>
        <p:spPr>
          <a:xfrm>
            <a:off x="392862" y="4163343"/>
            <a:ext cx="6169338" cy="276999"/>
          </a:xfrm>
          <a:prstGeom prst="rect">
            <a:avLst/>
          </a:prstGeom>
          <a:noFill/>
        </p:spPr>
        <p:txBody>
          <a:bodyPr wrap="square" lIns="91440" tIns="45720" rIns="91440" bIns="45720" numCol="2" spcCol="288000" rtlCol="0" anchor="t">
            <a:spAutoFit/>
          </a:bodyPr>
          <a:lstStyle/>
          <a:p>
            <a:pPr algn="just"/>
            <a:endParaRPr lang="pt-BR" sz="1200">
              <a:latin typeface="Times New Roman"/>
              <a:cs typeface="Times New Roman"/>
            </a:endParaRPr>
          </a:p>
        </p:txBody>
      </p:sp>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30</a:t>
            </a:fld>
            <a:endParaRPr lang="pt-BR"/>
          </a:p>
        </p:txBody>
      </p:sp>
      <p:sp>
        <p:nvSpPr>
          <p:cNvPr id="3" name="CaixaDeTexto 2">
            <a:extLst>
              <a:ext uri="{FF2B5EF4-FFF2-40B4-BE49-F238E27FC236}">
                <a16:creationId xmlns:a16="http://schemas.microsoft.com/office/drawing/2014/main" id="{C1CA992C-C5B7-6D66-A2D3-EE51D8C092A4}"/>
              </a:ext>
            </a:extLst>
          </p:cNvPr>
          <p:cNvSpPr txBox="1"/>
          <p:nvPr/>
        </p:nvSpPr>
        <p:spPr>
          <a:xfrm>
            <a:off x="350866" y="4432507"/>
            <a:ext cx="6156000" cy="4890506"/>
          </a:xfrm>
          <a:prstGeom prst="rect">
            <a:avLst/>
          </a:prstGeom>
          <a:noFill/>
        </p:spPr>
        <p:txBody>
          <a:bodyPr wrap="square" lIns="91440" tIns="45720" rIns="91440" bIns="45720" numCol="2" spcCol="288000" rtlCol="0" anchor="t">
            <a:spAutoFit/>
          </a:bodyPr>
          <a:lstStyle>
            <a:defPPr>
              <a:defRPr lang="en-US"/>
            </a:defPPr>
            <a:lvl1pPr indent="540385" algn="just">
              <a:lnSpc>
                <a:spcPct val="150000"/>
              </a:lnSpc>
              <a:defRPr sz="1100">
                <a:effectLst/>
                <a:ea typeface="Arial" panose="020B0604020202020204" pitchFamily="34" charset="0"/>
              </a:defRPr>
            </a:lvl1pPr>
          </a:lstStyle>
          <a:p>
            <a:r>
              <a:rPr lang="pt-BR">
                <a:solidFill>
                  <a:srgbClr val="1F1F1F"/>
                </a:solidFill>
                <a:ea typeface="+mn-lt"/>
                <a:cs typeface="+mn-lt"/>
              </a:rPr>
              <a:t>O complexo de metais industriais na LME vivenciou uma expressiva disparada na transição para o início de 2026. Impulsionado por gargalos de oferta, o estanho foi o destaque do primeiro trimestre de 2026 (1T26), registrando alta de 11,52% em relação à média do semestre anterior, atingindo US$ 45.610 por tonelada. Portais como Reuters e Trading </a:t>
            </a:r>
            <a:r>
              <a:rPr lang="pt-BR" err="1">
                <a:solidFill>
                  <a:srgbClr val="1F1F1F"/>
                </a:solidFill>
                <a:ea typeface="+mn-lt"/>
                <a:cs typeface="+mn-lt"/>
              </a:rPr>
              <a:t>Economics</a:t>
            </a:r>
            <a:r>
              <a:rPr lang="pt-BR">
                <a:solidFill>
                  <a:srgbClr val="1F1F1F"/>
                </a:solidFill>
                <a:ea typeface="+mn-lt"/>
                <a:cs typeface="+mn-lt"/>
              </a:rPr>
              <a:t> destacaram que o metal testou máximas históricas no período, impulsionado pela corrida de fundos associada à demanda por semicondutores na cadeia de inteligência artificial, que encontrou um mercado físico estrangulado por restrições de mineração na Indonésia.</a:t>
            </a:r>
            <a:endParaRPr lang="pt-BR">
              <a:cs typeface="Calibri"/>
            </a:endParaRPr>
          </a:p>
          <a:p>
            <a:r>
              <a:rPr lang="pt-BR">
                <a:solidFill>
                  <a:srgbClr val="1F1F1F"/>
                </a:solidFill>
                <a:ea typeface="+mn-lt"/>
                <a:cs typeface="+mn-lt"/>
              </a:rPr>
              <a:t>O alumínio protagonizou a maior reviravolta do trimestre ao atingir a média de US$ 3.585 por tonelada, um salto de 20,79% frente ao segundo semestre de 2025. Conforme agências como a </a:t>
            </a:r>
            <a:r>
              <a:rPr lang="pt-BR" err="1">
                <a:solidFill>
                  <a:srgbClr val="1F1F1F"/>
                </a:solidFill>
                <a:ea typeface="+mn-lt"/>
                <a:cs typeface="+mn-lt"/>
              </a:rPr>
              <a:t>Westmetall</a:t>
            </a:r>
            <a:r>
              <a:rPr lang="pt-BR">
                <a:solidFill>
                  <a:srgbClr val="1F1F1F"/>
                </a:solidFill>
                <a:ea typeface="+mn-lt"/>
                <a:cs typeface="+mn-lt"/>
              </a:rPr>
              <a:t>, o mercado rompeu a barreira dos US$ 3.000 após a estabilização do final do ano anterior. O movimento refletiu o aperto estrutural de estoques globais, custos elevados de energia e a recomposição de inventários por compradores industriais.</a:t>
            </a:r>
            <a:endParaRPr lang="pt-BR">
              <a:cs typeface="Calibri"/>
            </a:endParaRPr>
          </a:p>
          <a:p>
            <a:r>
              <a:rPr lang="pt-BR">
                <a:solidFill>
                  <a:srgbClr val="1F1F1F"/>
                </a:solidFill>
                <a:ea typeface="+mn-lt"/>
                <a:cs typeface="+mn-lt"/>
              </a:rPr>
              <a:t>Em contrapartida, o cobre registrou uma correção técnica de 2,75% em relação à média do semestre anterior, estabelecendo-se em US$ 12.160 por tonelada no 1T26, com investidores realizando lucros diante de discussões sobre tarifas nos EUA. Já o níquel avançou 2,28% no mesmo comparativo, cotado a US$ 16.860 por tonelada. Agentes de mercado apontaram que o suporte veio do anúncio da SHFE de abrir seus contratos a investidores estrangeiros, contrabalançando os fundamentos macroeconômicos do período.</a:t>
            </a:r>
            <a:endParaRPr lang="pt-BR"/>
          </a:p>
          <a:p>
            <a:endParaRPr lang="pt-BR">
              <a:solidFill>
                <a:srgbClr val="1F1F1F"/>
              </a:solidFill>
              <a:ea typeface="Calibri"/>
              <a:cs typeface="Calibri"/>
            </a:endParaRPr>
          </a:p>
        </p:txBody>
      </p:sp>
      <p:sp>
        <p:nvSpPr>
          <p:cNvPr id="2" name="Google Shape;162;p5">
            <a:extLst>
              <a:ext uri="{FF2B5EF4-FFF2-40B4-BE49-F238E27FC236}">
                <a16:creationId xmlns:a16="http://schemas.microsoft.com/office/drawing/2014/main" id="{24D9BA4C-6AAC-94EF-0A0B-2BC38850F09A}"/>
              </a:ext>
            </a:extLst>
          </p:cNvPr>
          <p:cNvSpPr txBox="1"/>
          <p:nvPr/>
        </p:nvSpPr>
        <p:spPr>
          <a:xfrm>
            <a:off x="5420237" y="4157895"/>
            <a:ext cx="1083402"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a:t>
            </a:r>
            <a:r>
              <a:rPr lang="pt-BR" sz="900" b="0" i="0" u="none" strike="noStrike" cap="none" err="1">
                <a:solidFill>
                  <a:srgbClr val="092445"/>
                </a:solidFill>
                <a:ea typeface="Nunito"/>
                <a:cs typeface="Nunito"/>
                <a:sym typeface="Nunito"/>
              </a:rPr>
              <a:t>Westmetall</a:t>
            </a:r>
            <a:endParaRPr sz="900" b="0" i="0" u="none" strike="noStrike" cap="none">
              <a:solidFill>
                <a:srgbClr val="092445"/>
              </a:solidFill>
              <a:ea typeface="Nunito"/>
              <a:cs typeface="Nunito"/>
              <a:sym typeface="Nunito"/>
            </a:endParaRPr>
          </a:p>
        </p:txBody>
      </p:sp>
      <p:graphicFrame>
        <p:nvGraphicFramePr>
          <p:cNvPr id="7" name="Gráfico 6">
            <a:extLst>
              <a:ext uri="{FF2B5EF4-FFF2-40B4-BE49-F238E27FC236}">
                <a16:creationId xmlns:a16="http://schemas.microsoft.com/office/drawing/2014/main" id="{3CA0781B-C8F1-42A9-951E-0BD970ED8833}"/>
              </a:ext>
              <a:ext uri="{147F2762-F138-4A5C-976F-8EAC2B608ADB}">
                <a16:predDERef xmlns:a16="http://schemas.microsoft.com/office/drawing/2014/main" pred="{CE3E4081-2AD4-4C98-8042-30E404E46F0D}"/>
              </a:ext>
            </a:extLst>
          </p:cNvPr>
          <p:cNvGraphicFramePr>
            <a:graphicFrameLocks/>
          </p:cNvGraphicFramePr>
          <p:nvPr>
            <p:extLst>
              <p:ext uri="{D42A27DB-BD31-4B8C-83A1-F6EECF244321}">
                <p14:modId xmlns:p14="http://schemas.microsoft.com/office/powerpoint/2010/main" val="2892894447"/>
              </p:ext>
            </p:extLst>
          </p:nvPr>
        </p:nvGraphicFramePr>
        <p:xfrm>
          <a:off x="354977" y="1268769"/>
          <a:ext cx="6160674" cy="3212668"/>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564655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4">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31</a:t>
            </a:fld>
            <a:endParaRPr lang="pt-BR"/>
          </a:p>
        </p:txBody>
      </p:sp>
      <p:sp>
        <p:nvSpPr>
          <p:cNvPr id="19" name="CaixaDeTexto 18">
            <a:extLst>
              <a:ext uri="{FF2B5EF4-FFF2-40B4-BE49-F238E27FC236}">
                <a16:creationId xmlns:a16="http://schemas.microsoft.com/office/drawing/2014/main" id="{D0F0C7CF-BFA1-A566-5A8A-D707B22B1361}"/>
              </a:ext>
            </a:extLst>
          </p:cNvPr>
          <p:cNvSpPr txBox="1"/>
          <p:nvPr/>
        </p:nvSpPr>
        <p:spPr>
          <a:xfrm>
            <a:off x="355175" y="905188"/>
            <a:ext cx="5705928"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Indicadores de inflação</a:t>
            </a:r>
            <a:endParaRPr lang="pt-BR" b="1">
              <a:highlight>
                <a:srgbClr val="FFFFFF"/>
              </a:highlight>
              <a:latin typeface="Nunito"/>
            </a:endParaRPr>
          </a:p>
        </p:txBody>
      </p:sp>
      <p:sp>
        <p:nvSpPr>
          <p:cNvPr id="3" name="CaixaDeTexto 2">
            <a:extLst>
              <a:ext uri="{FF2B5EF4-FFF2-40B4-BE49-F238E27FC236}">
                <a16:creationId xmlns:a16="http://schemas.microsoft.com/office/drawing/2014/main" id="{99A6981E-E0CB-8739-55FE-7499B597E179}"/>
              </a:ext>
            </a:extLst>
          </p:cNvPr>
          <p:cNvSpPr txBox="1"/>
          <p:nvPr/>
        </p:nvSpPr>
        <p:spPr>
          <a:xfrm>
            <a:off x="953929" y="1267391"/>
            <a:ext cx="495014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1400" b="1">
                <a:latin typeface="Nunito"/>
                <a:ea typeface="Calibri"/>
                <a:cs typeface="Calibri"/>
              </a:rPr>
              <a:t>Taxas de IPCA, INPC e IGP-DI – 2025 (out/25 – mar/26)</a:t>
            </a:r>
          </a:p>
        </p:txBody>
      </p:sp>
      <p:sp>
        <p:nvSpPr>
          <p:cNvPr id="6" name="CaixaDeTexto 5">
            <a:extLst>
              <a:ext uri="{FF2B5EF4-FFF2-40B4-BE49-F238E27FC236}">
                <a16:creationId xmlns:a16="http://schemas.microsoft.com/office/drawing/2014/main" id="{A3F7F4CA-83D1-5A27-0EF3-5E377C8F3E94}"/>
              </a:ext>
            </a:extLst>
          </p:cNvPr>
          <p:cNvSpPr txBox="1"/>
          <p:nvPr/>
        </p:nvSpPr>
        <p:spPr>
          <a:xfrm>
            <a:off x="5014163" y="5089965"/>
            <a:ext cx="1779814"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800">
                <a:ea typeface="Calibri"/>
                <a:cs typeface="Times New Roman" panose="02020603050405020304" pitchFamily="18" charset="0"/>
              </a:rPr>
              <a:t>Fonte: IBGE e FGV</a:t>
            </a:r>
            <a:endParaRPr lang="pt-BR" sz="1050">
              <a:cs typeface="Times New Roman" panose="02020603050405020304" pitchFamily="18" charset="0"/>
            </a:endParaRPr>
          </a:p>
        </p:txBody>
      </p:sp>
      <p:sp>
        <p:nvSpPr>
          <p:cNvPr id="9" name="CaixaDeTexto 8">
            <a:extLst>
              <a:ext uri="{FF2B5EF4-FFF2-40B4-BE49-F238E27FC236}">
                <a16:creationId xmlns:a16="http://schemas.microsoft.com/office/drawing/2014/main" id="{A5A65F4D-3989-EAD4-65D7-540677A297D6}"/>
              </a:ext>
            </a:extLst>
          </p:cNvPr>
          <p:cNvSpPr txBox="1"/>
          <p:nvPr/>
        </p:nvSpPr>
        <p:spPr>
          <a:xfrm>
            <a:off x="351134" y="5294477"/>
            <a:ext cx="6156000" cy="4140000"/>
          </a:xfrm>
          <a:prstGeom prst="rect">
            <a:avLst/>
          </a:prstGeom>
          <a:noFill/>
        </p:spPr>
        <p:txBody>
          <a:bodyPr wrap="square" lIns="91440" tIns="45720" rIns="91440" bIns="45720" numCol="2" spcCol="288000" rtlCol="0" anchor="t">
            <a:spAutoFit/>
          </a:bodyPr>
          <a:lstStyle>
            <a:defPPr>
              <a:defRPr lang="en-US"/>
            </a:defPPr>
            <a:lvl1pPr indent="132715" algn="just">
              <a:lnSpc>
                <a:spcPct val="150000"/>
              </a:lnSpc>
              <a:defRPr sz="1200">
                <a:ea typeface="Calibri"/>
                <a:cs typeface="Calibri"/>
              </a:defRPr>
            </a:lvl1pPr>
          </a:lstStyle>
          <a:p>
            <a:pPr indent="0"/>
            <a:r>
              <a:rPr lang="pt-BR" sz="1100"/>
              <a:t>  O Índice Nacional de Preços ao Consumidor Amplo (IPCA) de março foi de 0,88%, ficando 0,18 ponto percentual (</a:t>
            </a:r>
            <a:r>
              <a:rPr lang="pt-BR" sz="1100" err="1"/>
              <a:t>p.p</a:t>
            </a:r>
            <a:r>
              <a:rPr lang="pt-BR" sz="1100"/>
              <a:t>.) acima da taxa registrada em fevereiro (0,70%). No ano, o IPCA acumula alta de 1,92% e, nos últimos 12 meses, de 4,14%, acima dos 3,81% observados nos 12 meses imediatamente anteriores. Em março de 2025, a variação havia sido de 0,56%.</a:t>
            </a:r>
          </a:p>
          <a:p>
            <a:pPr indent="0"/>
            <a:r>
              <a:rPr lang="pt-BR" sz="1100">
                <a:ea typeface="+mn-lt"/>
                <a:cs typeface="+mn-lt"/>
              </a:rPr>
              <a:t>  O Índice Nacional de Preços ao Consumidor - INPC teve alta de 0,91% em março, 0,35 </a:t>
            </a:r>
            <a:r>
              <a:rPr lang="pt-BR" sz="1100" err="1">
                <a:ea typeface="+mn-lt"/>
                <a:cs typeface="+mn-lt"/>
              </a:rPr>
              <a:t>p.p</a:t>
            </a:r>
            <a:r>
              <a:rPr lang="pt-BR" sz="1100">
                <a:ea typeface="+mn-lt"/>
                <a:cs typeface="+mn-lt"/>
              </a:rPr>
              <a:t>. acima do resultado observado em fevereiro (0,56%). No ano, o INPC acumula alta de 1,87% e, na ótica dos últimos 12 meses, o índice ficou em 3,77%, </a:t>
            </a:r>
            <a:r>
              <a:rPr lang="pt-BR" sz="1100"/>
              <a:t>acima dos 3,36% dos 12 meses imediatamente anteriores.</a:t>
            </a:r>
            <a:r>
              <a:rPr lang="pt-BR" sz="1100">
                <a:ea typeface="+mn-lt"/>
                <a:cs typeface="+mn-lt"/>
              </a:rPr>
              <a:t> </a:t>
            </a:r>
            <a:r>
              <a:rPr lang="pt-BR" sz="1100"/>
              <a:t>Em março de 2025, a taxa foi de 0,51%.</a:t>
            </a:r>
          </a:p>
          <a:p>
            <a:pPr indent="0"/>
            <a:r>
              <a:rPr lang="pt-BR" sz="1100">
                <a:ea typeface="+mn-lt"/>
                <a:cs typeface="+mn-lt"/>
              </a:rPr>
              <a:t>	</a:t>
            </a:r>
            <a:r>
              <a:rPr lang="pt-BR" sz="1100">
                <a:solidFill>
                  <a:srgbClr val="000000"/>
                </a:solidFill>
                <a:ea typeface="+mn-lt"/>
                <a:cs typeface="+mn-lt"/>
              </a:rPr>
              <a:t>O Índice Geral de Preços – Disponibilidade Interna (IGP-DI) subiu 0,87% em maio. No mês de abril, a taxa havia sido de 2,41%. Com este resultado, o índice acumula alta de 3,82% no ano e de 2,53% em 12 meses. Em maio de 2025, o IGP-DI havia caído 0,85% e acumulava alta de 6,27% em 12 meses.</a:t>
            </a:r>
          </a:p>
        </p:txBody>
      </p:sp>
      <p:graphicFrame>
        <p:nvGraphicFramePr>
          <p:cNvPr id="7" name="Tabela 6">
            <a:extLst>
              <a:ext uri="{FF2B5EF4-FFF2-40B4-BE49-F238E27FC236}">
                <a16:creationId xmlns:a16="http://schemas.microsoft.com/office/drawing/2014/main" id="{694A36E1-5144-541F-A5E8-A6E56D2AAB81}"/>
              </a:ext>
            </a:extLst>
          </p:cNvPr>
          <p:cNvGraphicFramePr>
            <a:graphicFrameLocks noGrp="1"/>
          </p:cNvGraphicFramePr>
          <p:nvPr>
            <p:extLst>
              <p:ext uri="{D42A27DB-BD31-4B8C-83A1-F6EECF244321}">
                <p14:modId xmlns:p14="http://schemas.microsoft.com/office/powerpoint/2010/main" val="2863585717"/>
              </p:ext>
            </p:extLst>
          </p:nvPr>
        </p:nvGraphicFramePr>
        <p:xfrm>
          <a:off x="875411" y="1613579"/>
          <a:ext cx="5107176" cy="3410234"/>
        </p:xfrm>
        <a:graphic>
          <a:graphicData uri="http://schemas.openxmlformats.org/drawingml/2006/table">
            <a:tbl>
              <a:tblPr bandRow="1">
                <a:tableStyleId>{BDBED569-4797-4DF1-A0F4-6AAB3CD982D8}</a:tableStyleId>
              </a:tblPr>
              <a:tblGrid>
                <a:gridCol w="1366748">
                  <a:extLst>
                    <a:ext uri="{9D8B030D-6E8A-4147-A177-3AD203B41FA5}">
                      <a16:colId xmlns:a16="http://schemas.microsoft.com/office/drawing/2014/main" val="2857906536"/>
                    </a:ext>
                  </a:extLst>
                </a:gridCol>
                <a:gridCol w="1186840">
                  <a:extLst>
                    <a:ext uri="{9D8B030D-6E8A-4147-A177-3AD203B41FA5}">
                      <a16:colId xmlns:a16="http://schemas.microsoft.com/office/drawing/2014/main" val="1061301470"/>
                    </a:ext>
                  </a:extLst>
                </a:gridCol>
                <a:gridCol w="1276794">
                  <a:extLst>
                    <a:ext uri="{9D8B030D-6E8A-4147-A177-3AD203B41FA5}">
                      <a16:colId xmlns:a16="http://schemas.microsoft.com/office/drawing/2014/main" val="3910589462"/>
                    </a:ext>
                  </a:extLst>
                </a:gridCol>
                <a:gridCol w="1276794">
                  <a:extLst>
                    <a:ext uri="{9D8B030D-6E8A-4147-A177-3AD203B41FA5}">
                      <a16:colId xmlns:a16="http://schemas.microsoft.com/office/drawing/2014/main" val="1900892564"/>
                    </a:ext>
                  </a:extLst>
                </a:gridCol>
              </a:tblGrid>
              <a:tr h="426280">
                <a:tc>
                  <a:txBody>
                    <a:bodyPr/>
                    <a:lstStyle/>
                    <a:p>
                      <a:pPr algn="ctr" rtl="0" fontAlgn="ctr"/>
                      <a:r>
                        <a:rPr lang="pt-BR" sz="1400" u="none" strike="noStrike">
                          <a:solidFill>
                            <a:srgbClr val="000000"/>
                          </a:solidFill>
                          <a:effectLst/>
                        </a:rPr>
                        <a:t>Mês/ano</a:t>
                      </a:r>
                    </a:p>
                  </a:txBody>
                  <a:tcPr marL="9525" marR="9525" marT="9525" marB="0" anchor="ctr"/>
                </a:tc>
                <a:tc>
                  <a:txBody>
                    <a:bodyPr/>
                    <a:lstStyle/>
                    <a:p>
                      <a:pPr algn="ctr" rtl="0" fontAlgn="ctr"/>
                      <a:r>
                        <a:rPr lang="pt-BR" sz="1400" u="none" strike="noStrike">
                          <a:solidFill>
                            <a:srgbClr val="000000"/>
                          </a:solidFill>
                          <a:effectLst/>
                        </a:rPr>
                        <a:t>IPCA (%)</a:t>
                      </a:r>
                    </a:p>
                  </a:txBody>
                  <a:tcPr marL="9525" marR="9525" marT="9525" marB="0" anchor="ctr"/>
                </a:tc>
                <a:tc>
                  <a:txBody>
                    <a:bodyPr/>
                    <a:lstStyle/>
                    <a:p>
                      <a:pPr algn="ctr" rtl="0" fontAlgn="ctr"/>
                      <a:r>
                        <a:rPr lang="pt-BR" sz="1400" u="none" strike="noStrike">
                          <a:solidFill>
                            <a:srgbClr val="000000"/>
                          </a:solidFill>
                          <a:effectLst/>
                        </a:rPr>
                        <a:t>INPC (%)</a:t>
                      </a:r>
                    </a:p>
                  </a:txBody>
                  <a:tcPr marL="9525" marR="9525" marT="9525" marB="0" anchor="ctr"/>
                </a:tc>
                <a:tc>
                  <a:txBody>
                    <a:bodyPr/>
                    <a:lstStyle/>
                    <a:p>
                      <a:pPr algn="ctr" rtl="0" fontAlgn="ctr"/>
                      <a:r>
                        <a:rPr lang="pt-BR" sz="1400" u="none" strike="noStrike">
                          <a:solidFill>
                            <a:srgbClr val="000000"/>
                          </a:solidFill>
                          <a:effectLst/>
                        </a:rPr>
                        <a:t>IGP-DI (%)</a:t>
                      </a:r>
                    </a:p>
                  </a:txBody>
                  <a:tcPr marL="9525" marR="9525" marT="9525" marB="0" anchor="ctr"/>
                </a:tc>
                <a:extLst>
                  <a:ext uri="{0D108BD9-81ED-4DB2-BD59-A6C34878D82A}">
                    <a16:rowId xmlns:a16="http://schemas.microsoft.com/office/drawing/2014/main" val="4076247919"/>
                  </a:ext>
                </a:extLst>
              </a:tr>
              <a:tr h="426280">
                <a:tc>
                  <a:txBody>
                    <a:bodyPr/>
                    <a:lstStyle/>
                    <a:p>
                      <a:pPr lvl="0" algn="ctr" rtl="0">
                        <a:buNone/>
                      </a:pPr>
                      <a:r>
                        <a:rPr lang="pt-BR" sz="1400" u="none" strike="noStrike">
                          <a:solidFill>
                            <a:srgbClr val="000000"/>
                          </a:solidFill>
                          <a:effectLst/>
                        </a:rPr>
                        <a:t>out/25</a:t>
                      </a:r>
                    </a:p>
                  </a:txBody>
                  <a:tcPr marL="9524" marR="9524" marT="9524" marB="0" anchor="ctr"/>
                </a:tc>
                <a:tc>
                  <a:txBody>
                    <a:bodyPr/>
                    <a:lstStyle/>
                    <a:p>
                      <a:pPr lvl="0" algn="ctr" rtl="0">
                        <a:buNone/>
                      </a:pPr>
                      <a:r>
                        <a:rPr lang="pt-BR" sz="1400" u="none" strike="noStrike">
                          <a:solidFill>
                            <a:srgbClr val="000000"/>
                          </a:solidFill>
                          <a:effectLst/>
                        </a:rPr>
                        <a:t>0,09</a:t>
                      </a:r>
                      <a:endParaRPr lang="pt-BR"/>
                    </a:p>
                  </a:txBody>
                  <a:tcPr marL="9524" marR="9524" marT="9524" marB="0" anchor="ctr"/>
                </a:tc>
                <a:tc>
                  <a:txBody>
                    <a:bodyPr/>
                    <a:lstStyle/>
                    <a:p>
                      <a:pPr lvl="0" algn="ctr" rtl="0">
                        <a:buNone/>
                      </a:pPr>
                      <a:r>
                        <a:rPr lang="pt-BR" sz="1400" u="none" strike="noStrike">
                          <a:solidFill>
                            <a:srgbClr val="000000"/>
                          </a:solidFill>
                          <a:effectLst/>
                        </a:rPr>
                        <a:t>0,03</a:t>
                      </a:r>
                      <a:endParaRPr lang="pt-BR"/>
                    </a:p>
                  </a:txBody>
                  <a:tcPr marL="9524" marR="9524" marT="9524" marB="0" anchor="ctr"/>
                </a:tc>
                <a:tc>
                  <a:txBody>
                    <a:bodyPr/>
                    <a:lstStyle/>
                    <a:p>
                      <a:pPr lvl="0" algn="ctr" rtl="0">
                        <a:buNone/>
                      </a:pPr>
                      <a:r>
                        <a:rPr lang="pt-BR" sz="1400" u="none" strike="noStrike">
                          <a:solidFill>
                            <a:srgbClr val="000000"/>
                          </a:solidFill>
                          <a:effectLst/>
                        </a:rPr>
                        <a:t>0,03</a:t>
                      </a:r>
                    </a:p>
                  </a:txBody>
                  <a:tcPr marL="9524" marR="9524" marT="9524" marB="0" anchor="ctr"/>
                </a:tc>
                <a:extLst>
                  <a:ext uri="{0D108BD9-81ED-4DB2-BD59-A6C34878D82A}">
                    <a16:rowId xmlns:a16="http://schemas.microsoft.com/office/drawing/2014/main" val="3169321436"/>
                  </a:ext>
                </a:extLst>
              </a:tr>
              <a:tr h="426279">
                <a:tc>
                  <a:txBody>
                    <a:bodyPr/>
                    <a:lstStyle/>
                    <a:p>
                      <a:pPr lvl="0" algn="ctr" rtl="0">
                        <a:buNone/>
                      </a:pPr>
                      <a:r>
                        <a:rPr lang="pt-BR" sz="1400" u="none" strike="noStrike" err="1">
                          <a:solidFill>
                            <a:srgbClr val="000000"/>
                          </a:solidFill>
                          <a:effectLst/>
                        </a:rPr>
                        <a:t>nov</a:t>
                      </a:r>
                      <a:r>
                        <a:rPr lang="pt-BR" sz="1400" u="none" strike="noStrike">
                          <a:solidFill>
                            <a:srgbClr val="000000"/>
                          </a:solidFill>
                          <a:effectLst/>
                        </a:rPr>
                        <a:t>/25</a:t>
                      </a:r>
                    </a:p>
                  </a:txBody>
                  <a:tcPr marL="9524" marR="9524" marT="9524" marB="0" anchor="ctr"/>
                </a:tc>
                <a:tc>
                  <a:txBody>
                    <a:bodyPr/>
                    <a:lstStyle/>
                    <a:p>
                      <a:pPr lvl="0" algn="ctr" rtl="0">
                        <a:buNone/>
                      </a:pPr>
                      <a:r>
                        <a:rPr lang="pt-BR" sz="1400" u="none" strike="noStrike">
                          <a:solidFill>
                            <a:srgbClr val="000000"/>
                          </a:solidFill>
                          <a:effectLst/>
                        </a:rPr>
                        <a:t>0,18</a:t>
                      </a:r>
                      <a:endParaRPr lang="pt-BR"/>
                    </a:p>
                  </a:txBody>
                  <a:tcPr marL="9524" marR="9524" marT="9524" marB="0" anchor="ctr"/>
                </a:tc>
                <a:tc>
                  <a:txBody>
                    <a:bodyPr/>
                    <a:lstStyle/>
                    <a:p>
                      <a:pPr lvl="0" algn="ctr" rtl="0">
                        <a:buNone/>
                      </a:pPr>
                      <a:r>
                        <a:rPr lang="pt-BR" sz="1400" u="none" strike="noStrike">
                          <a:solidFill>
                            <a:srgbClr val="000000"/>
                          </a:solidFill>
                          <a:effectLst/>
                        </a:rPr>
                        <a:t>0,03</a:t>
                      </a:r>
                      <a:endParaRPr lang="pt-BR"/>
                    </a:p>
                  </a:txBody>
                  <a:tcPr marL="9524" marR="9524" marT="9524" marB="0" anchor="ctr"/>
                </a:tc>
                <a:tc>
                  <a:txBody>
                    <a:bodyPr/>
                    <a:lstStyle/>
                    <a:p>
                      <a:pPr lvl="0" algn="ctr" rtl="0">
                        <a:buNone/>
                      </a:pPr>
                      <a:r>
                        <a:rPr lang="pt-BR" sz="1400" u="none" strike="noStrike">
                          <a:solidFill>
                            <a:srgbClr val="000000"/>
                          </a:solidFill>
                          <a:effectLst/>
                        </a:rPr>
                        <a:t>0,01</a:t>
                      </a:r>
                    </a:p>
                  </a:txBody>
                  <a:tcPr marL="9524" marR="9524" marT="9524" marB="0" anchor="ctr"/>
                </a:tc>
                <a:extLst>
                  <a:ext uri="{0D108BD9-81ED-4DB2-BD59-A6C34878D82A}">
                    <a16:rowId xmlns:a16="http://schemas.microsoft.com/office/drawing/2014/main" val="1481688561"/>
                  </a:ext>
                </a:extLst>
              </a:tr>
              <a:tr h="426279">
                <a:tc>
                  <a:txBody>
                    <a:bodyPr/>
                    <a:lstStyle/>
                    <a:p>
                      <a:pPr lvl="0" algn="ctr" rtl="0">
                        <a:buNone/>
                      </a:pPr>
                      <a:r>
                        <a:rPr lang="pt-BR" sz="1400" u="none" strike="noStrike">
                          <a:solidFill>
                            <a:srgbClr val="000000"/>
                          </a:solidFill>
                          <a:effectLst/>
                        </a:rPr>
                        <a:t>dez/25</a:t>
                      </a:r>
                    </a:p>
                  </a:txBody>
                  <a:tcPr marL="9524" marR="9524" marT="9524" marB="0" anchor="ctr"/>
                </a:tc>
                <a:tc>
                  <a:txBody>
                    <a:bodyPr/>
                    <a:lstStyle/>
                    <a:p>
                      <a:pPr lvl="0" algn="ctr" rtl="0">
                        <a:buNone/>
                      </a:pPr>
                      <a:r>
                        <a:rPr lang="pt-BR" sz="1400" u="none" strike="noStrike">
                          <a:solidFill>
                            <a:srgbClr val="000000"/>
                          </a:solidFill>
                          <a:effectLst/>
                        </a:rPr>
                        <a:t>0,33</a:t>
                      </a:r>
                      <a:endParaRPr lang="pt-BR"/>
                    </a:p>
                  </a:txBody>
                  <a:tcPr marL="9524" marR="9524" marT="9524" marB="0" anchor="ctr"/>
                </a:tc>
                <a:tc>
                  <a:txBody>
                    <a:bodyPr/>
                    <a:lstStyle/>
                    <a:p>
                      <a:pPr lvl="0" algn="ctr" rtl="0">
                        <a:buNone/>
                      </a:pPr>
                      <a:r>
                        <a:rPr lang="pt-BR" sz="1400" u="none" strike="noStrike">
                          <a:solidFill>
                            <a:srgbClr val="000000"/>
                          </a:solidFill>
                          <a:effectLst/>
                        </a:rPr>
                        <a:t>0,21</a:t>
                      </a:r>
                      <a:endParaRPr lang="pt-BR"/>
                    </a:p>
                  </a:txBody>
                  <a:tcPr marL="9524" marR="9524" marT="9524" marB="0" anchor="ctr"/>
                </a:tc>
                <a:tc>
                  <a:txBody>
                    <a:bodyPr/>
                    <a:lstStyle/>
                    <a:p>
                      <a:pPr lvl="0" algn="ctr" rtl="0">
                        <a:buNone/>
                      </a:pPr>
                      <a:r>
                        <a:rPr lang="pt-BR" sz="1400" u="none" strike="noStrike">
                          <a:solidFill>
                            <a:srgbClr val="000000"/>
                          </a:solidFill>
                          <a:effectLst/>
                        </a:rPr>
                        <a:t>0,10</a:t>
                      </a:r>
                    </a:p>
                  </a:txBody>
                  <a:tcPr marL="9524" marR="9524" marT="9524" marB="0" anchor="ctr"/>
                </a:tc>
                <a:extLst>
                  <a:ext uri="{0D108BD9-81ED-4DB2-BD59-A6C34878D82A}">
                    <a16:rowId xmlns:a16="http://schemas.microsoft.com/office/drawing/2014/main" val="1922388246"/>
                  </a:ext>
                </a:extLst>
              </a:tr>
              <a:tr h="426279">
                <a:tc>
                  <a:txBody>
                    <a:bodyPr/>
                    <a:lstStyle/>
                    <a:p>
                      <a:pPr lvl="0" algn="ctr" rtl="0">
                        <a:buNone/>
                      </a:pPr>
                      <a:r>
                        <a:rPr lang="pt-BR" sz="1400" u="none" strike="noStrike" err="1">
                          <a:solidFill>
                            <a:srgbClr val="000000"/>
                          </a:solidFill>
                          <a:effectLst/>
                        </a:rPr>
                        <a:t>jan</a:t>
                      </a:r>
                      <a:r>
                        <a:rPr lang="pt-BR" sz="1400" u="none" strike="noStrike">
                          <a:solidFill>
                            <a:srgbClr val="000000"/>
                          </a:solidFill>
                          <a:effectLst/>
                        </a:rPr>
                        <a:t>/26</a:t>
                      </a:r>
                    </a:p>
                  </a:txBody>
                  <a:tcPr marL="9524" marR="9524" marT="9524" marB="0" anchor="ctr"/>
                </a:tc>
                <a:tc>
                  <a:txBody>
                    <a:bodyPr/>
                    <a:lstStyle/>
                    <a:p>
                      <a:pPr lvl="0" algn="ctr" rtl="0">
                        <a:buNone/>
                      </a:pPr>
                      <a:r>
                        <a:rPr lang="pt-BR" sz="1400" u="none" strike="noStrike">
                          <a:solidFill>
                            <a:srgbClr val="000000"/>
                          </a:solidFill>
                          <a:effectLst/>
                        </a:rPr>
                        <a:t>0,33</a:t>
                      </a:r>
                      <a:endParaRPr lang="pt-BR"/>
                    </a:p>
                  </a:txBody>
                  <a:tcPr marL="9524" marR="9524" marT="9524" marB="0" anchor="ctr"/>
                </a:tc>
                <a:tc>
                  <a:txBody>
                    <a:bodyPr/>
                    <a:lstStyle/>
                    <a:p>
                      <a:pPr lvl="0" algn="ctr" rtl="0">
                        <a:buNone/>
                      </a:pPr>
                      <a:r>
                        <a:rPr lang="pt-BR" sz="1400" u="none" strike="noStrike">
                          <a:solidFill>
                            <a:srgbClr val="000000"/>
                          </a:solidFill>
                          <a:effectLst/>
                        </a:rPr>
                        <a:t>0,39</a:t>
                      </a:r>
                      <a:endParaRPr lang="pt-BR"/>
                    </a:p>
                  </a:txBody>
                  <a:tcPr marL="9524" marR="9524" marT="9524" marB="0" anchor="ctr"/>
                </a:tc>
                <a:tc>
                  <a:txBody>
                    <a:bodyPr/>
                    <a:lstStyle/>
                    <a:p>
                      <a:pPr lvl="0" algn="ctr" rtl="0">
                        <a:buNone/>
                      </a:pPr>
                      <a:r>
                        <a:rPr lang="pt-BR" sz="1400" u="none" strike="noStrike">
                          <a:solidFill>
                            <a:srgbClr val="000000"/>
                          </a:solidFill>
                          <a:effectLst/>
                        </a:rPr>
                        <a:t>0,20</a:t>
                      </a:r>
                    </a:p>
                  </a:txBody>
                  <a:tcPr marL="9524" marR="9524" marT="9524" marB="0" anchor="ctr"/>
                </a:tc>
                <a:extLst>
                  <a:ext uri="{0D108BD9-81ED-4DB2-BD59-A6C34878D82A}">
                    <a16:rowId xmlns:a16="http://schemas.microsoft.com/office/drawing/2014/main" val="1247180033"/>
                  </a:ext>
                </a:extLst>
              </a:tr>
              <a:tr h="426279">
                <a:tc>
                  <a:txBody>
                    <a:bodyPr/>
                    <a:lstStyle/>
                    <a:p>
                      <a:pPr lvl="0" algn="ctr" rtl="0">
                        <a:buNone/>
                      </a:pPr>
                      <a:r>
                        <a:rPr lang="pt-BR" sz="1400" u="none" strike="noStrike" err="1">
                          <a:solidFill>
                            <a:srgbClr val="000000"/>
                          </a:solidFill>
                          <a:effectLst/>
                        </a:rPr>
                        <a:t>fev</a:t>
                      </a:r>
                      <a:r>
                        <a:rPr lang="pt-BR" sz="1400" u="none" strike="noStrike">
                          <a:solidFill>
                            <a:srgbClr val="000000"/>
                          </a:solidFill>
                          <a:effectLst/>
                        </a:rPr>
                        <a:t>/26</a:t>
                      </a:r>
                    </a:p>
                  </a:txBody>
                  <a:tcPr marL="9524" marR="9524" marT="9524" marB="0" anchor="ctr"/>
                </a:tc>
                <a:tc>
                  <a:txBody>
                    <a:bodyPr/>
                    <a:lstStyle/>
                    <a:p>
                      <a:pPr lvl="0" algn="ctr" rtl="0">
                        <a:buNone/>
                      </a:pPr>
                      <a:r>
                        <a:rPr lang="pt-BR" sz="1400" u="none" strike="noStrike">
                          <a:solidFill>
                            <a:srgbClr val="000000"/>
                          </a:solidFill>
                          <a:effectLst/>
                        </a:rPr>
                        <a:t>0,70</a:t>
                      </a:r>
                      <a:endParaRPr lang="pt-BR"/>
                    </a:p>
                  </a:txBody>
                  <a:tcPr marL="9524" marR="9524" marT="9524" marB="0" anchor="ctr"/>
                </a:tc>
                <a:tc>
                  <a:txBody>
                    <a:bodyPr/>
                    <a:lstStyle/>
                    <a:p>
                      <a:pPr lvl="0" algn="ctr" rtl="0">
                        <a:buNone/>
                      </a:pPr>
                      <a:r>
                        <a:rPr lang="pt-BR" sz="1400" u="none" strike="noStrike">
                          <a:solidFill>
                            <a:srgbClr val="000000"/>
                          </a:solidFill>
                          <a:effectLst/>
                        </a:rPr>
                        <a:t>0,56</a:t>
                      </a:r>
                      <a:endParaRPr lang="pt-BR"/>
                    </a:p>
                  </a:txBody>
                  <a:tcPr marL="9524" marR="9524" marT="9524" marB="0" anchor="ctr"/>
                </a:tc>
                <a:tc>
                  <a:txBody>
                    <a:bodyPr/>
                    <a:lstStyle/>
                    <a:p>
                      <a:pPr lvl="0" algn="ctr" rtl="0">
                        <a:buNone/>
                      </a:pPr>
                      <a:r>
                        <a:rPr lang="pt-BR" sz="1400" u="none" strike="noStrike">
                          <a:solidFill>
                            <a:srgbClr val="000000"/>
                          </a:solidFill>
                          <a:effectLst/>
                        </a:rPr>
                        <a:t>-0,84</a:t>
                      </a:r>
                    </a:p>
                  </a:txBody>
                  <a:tcPr marL="9524" marR="9524" marT="9524" marB="0" anchor="ctr"/>
                </a:tc>
                <a:extLst>
                  <a:ext uri="{0D108BD9-81ED-4DB2-BD59-A6C34878D82A}">
                    <a16:rowId xmlns:a16="http://schemas.microsoft.com/office/drawing/2014/main" val="3703557396"/>
                  </a:ext>
                </a:extLst>
              </a:tr>
              <a:tr h="426278">
                <a:tc>
                  <a:txBody>
                    <a:bodyPr/>
                    <a:lstStyle/>
                    <a:p>
                      <a:pPr lvl="0" algn="ctr" rtl="0">
                        <a:buNone/>
                      </a:pPr>
                      <a:r>
                        <a:rPr lang="pt-BR" sz="1400" u="none" strike="noStrike">
                          <a:solidFill>
                            <a:srgbClr val="000000"/>
                          </a:solidFill>
                          <a:effectLst/>
                        </a:rPr>
                        <a:t>mar/26</a:t>
                      </a:r>
                    </a:p>
                  </a:txBody>
                  <a:tcPr marL="9524" marR="9524" marT="9524" marB="0" anchor="ctr"/>
                </a:tc>
                <a:tc>
                  <a:txBody>
                    <a:bodyPr/>
                    <a:lstStyle/>
                    <a:p>
                      <a:pPr lvl="0" algn="ctr" rtl="0">
                        <a:buNone/>
                      </a:pPr>
                      <a:r>
                        <a:rPr lang="pt-BR" sz="1400" u="none" strike="noStrike">
                          <a:solidFill>
                            <a:srgbClr val="000000"/>
                          </a:solidFill>
                          <a:effectLst/>
                        </a:rPr>
                        <a:t>0,88</a:t>
                      </a:r>
                    </a:p>
                  </a:txBody>
                  <a:tcPr marL="9524" marR="9524" marT="9524" marB="0" anchor="ctr"/>
                </a:tc>
                <a:tc>
                  <a:txBody>
                    <a:bodyPr/>
                    <a:lstStyle/>
                    <a:p>
                      <a:pPr lvl="0" algn="ctr" rtl="0">
                        <a:buNone/>
                      </a:pPr>
                      <a:r>
                        <a:rPr lang="pt-BR" sz="1400" u="none" strike="noStrike">
                          <a:solidFill>
                            <a:srgbClr val="000000"/>
                          </a:solidFill>
                          <a:effectLst/>
                        </a:rPr>
                        <a:t>0,91</a:t>
                      </a:r>
                      <a:endParaRPr lang="pt-BR"/>
                    </a:p>
                  </a:txBody>
                  <a:tcPr marL="9524" marR="9524" marT="9524" marB="0" anchor="ctr"/>
                </a:tc>
                <a:tc>
                  <a:txBody>
                    <a:bodyPr/>
                    <a:lstStyle/>
                    <a:p>
                      <a:pPr lvl="0" algn="ctr" rtl="0">
                        <a:buNone/>
                      </a:pPr>
                      <a:r>
                        <a:rPr lang="pt-BR" sz="1400" u="none" strike="noStrike">
                          <a:solidFill>
                            <a:srgbClr val="000000"/>
                          </a:solidFill>
                          <a:effectLst/>
                        </a:rPr>
                        <a:t>1,14</a:t>
                      </a:r>
                    </a:p>
                  </a:txBody>
                  <a:tcPr marL="9524" marR="9524" marT="9524" marB="0" anchor="ctr"/>
                </a:tc>
                <a:extLst>
                  <a:ext uri="{0D108BD9-81ED-4DB2-BD59-A6C34878D82A}">
                    <a16:rowId xmlns:a16="http://schemas.microsoft.com/office/drawing/2014/main" val="4146574059"/>
                  </a:ext>
                </a:extLst>
              </a:tr>
              <a:tr h="426280">
                <a:tc>
                  <a:txBody>
                    <a:bodyPr/>
                    <a:lstStyle/>
                    <a:p>
                      <a:pPr lvl="0" algn="ctr" rtl="0">
                        <a:buNone/>
                      </a:pPr>
                      <a:r>
                        <a:rPr lang="pt-BR" sz="1400" u="none" strike="noStrike">
                          <a:solidFill>
                            <a:srgbClr val="000000"/>
                          </a:solidFill>
                          <a:effectLst/>
                        </a:rPr>
                        <a:t> </a:t>
                      </a:r>
                      <a:r>
                        <a:rPr lang="pt-BR" sz="1400" u="none" strike="noStrike" err="1">
                          <a:solidFill>
                            <a:srgbClr val="000000"/>
                          </a:solidFill>
                          <a:effectLst/>
                        </a:rPr>
                        <a:t>Acum</a:t>
                      </a:r>
                      <a:r>
                        <a:rPr lang="pt-BR" sz="1400" u="none" strike="noStrike">
                          <a:solidFill>
                            <a:srgbClr val="000000"/>
                          </a:solidFill>
                          <a:effectLst/>
                        </a:rPr>
                        <a:t>. 12 Meses</a:t>
                      </a:r>
                      <a:endParaRPr lang="pt-BR"/>
                    </a:p>
                  </a:txBody>
                  <a:tcPr marL="9525" marR="9525" marT="9525" marB="0" anchor="ctr"/>
                </a:tc>
                <a:tc>
                  <a:txBody>
                    <a:bodyPr/>
                    <a:lstStyle/>
                    <a:p>
                      <a:pPr lvl="0" algn="ctr">
                        <a:buNone/>
                      </a:pPr>
                      <a:r>
                        <a:rPr lang="pt-BR" sz="1400" u="none" strike="noStrike">
                          <a:solidFill>
                            <a:srgbClr val="000000"/>
                          </a:solidFill>
                          <a:effectLst/>
                        </a:rPr>
                        <a:t>4,26</a:t>
                      </a:r>
                      <a:endParaRPr lang="pt-BR"/>
                    </a:p>
                  </a:txBody>
                  <a:tcPr marL="9525" marR="9525" marT="9525" marB="0" anchor="ctr"/>
                </a:tc>
                <a:tc>
                  <a:txBody>
                    <a:bodyPr/>
                    <a:lstStyle/>
                    <a:p>
                      <a:pPr lvl="0" algn="ctr">
                        <a:buNone/>
                      </a:pPr>
                      <a:r>
                        <a:rPr lang="pt-BR" sz="1400" u="none" strike="noStrike">
                          <a:solidFill>
                            <a:srgbClr val="000000"/>
                          </a:solidFill>
                          <a:effectLst/>
                        </a:rPr>
                        <a:t>3,90</a:t>
                      </a:r>
                      <a:endParaRPr lang="pt-BR"/>
                    </a:p>
                  </a:txBody>
                  <a:tcPr marL="9525" marR="9525" marT="9525" marB="0" anchor="ctr"/>
                </a:tc>
                <a:tc>
                  <a:txBody>
                    <a:bodyPr/>
                    <a:lstStyle/>
                    <a:p>
                      <a:pPr lvl="0" algn="ctr">
                        <a:buNone/>
                      </a:pPr>
                      <a:r>
                        <a:rPr lang="pt-BR" sz="1400" u="none" strike="noStrike">
                          <a:solidFill>
                            <a:srgbClr val="000000"/>
                          </a:solidFill>
                          <a:effectLst/>
                        </a:rPr>
                        <a:t>2,53</a:t>
                      </a:r>
                    </a:p>
                  </a:txBody>
                  <a:tcPr marL="9525" marR="9525" marT="9525" marB="0" anchor="ctr"/>
                </a:tc>
                <a:extLst>
                  <a:ext uri="{0D108BD9-81ED-4DB2-BD59-A6C34878D82A}">
                    <a16:rowId xmlns:a16="http://schemas.microsoft.com/office/drawing/2014/main" val="1009431865"/>
                  </a:ext>
                </a:extLst>
              </a:tr>
            </a:tbl>
          </a:graphicData>
        </a:graphic>
      </p:graphicFrame>
    </p:spTree>
    <p:extLst>
      <p:ext uri="{BB962C8B-B14F-4D97-AF65-F5344CB8AC3E}">
        <p14:creationId xmlns:p14="http://schemas.microsoft.com/office/powerpoint/2010/main" val="2100456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B2CBE-1114-9103-8FFC-7B9EA24A6192}"/>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572F7A87-253B-9D88-387B-B43EE908F853}"/>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0D33DDDE-B897-FED9-8C04-B647C8AE978C}"/>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2AC21C3F-A7F6-B503-9AC9-954BEE1499B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CAA7313-6568-8063-4311-5E38D6735F5E}"/>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E4C48756-2859-0627-C241-DB1A90CAEAED}"/>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0466CD13-6456-9001-1381-E745CED0A3CC}"/>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2400F6FE-0715-3288-24C3-ABDAEC849D61}"/>
              </a:ext>
            </a:extLst>
          </p:cNvPr>
          <p:cNvSpPr>
            <a:spLocks noGrp="1"/>
          </p:cNvSpPr>
          <p:nvPr>
            <p:ph type="sldNum" sz="quarter" idx="12"/>
          </p:nvPr>
        </p:nvSpPr>
        <p:spPr/>
        <p:txBody>
          <a:bodyPr/>
          <a:lstStyle/>
          <a:p>
            <a:fld id="{DBDBA070-BF11-4ECF-A255-AE5E34372AE1}" type="slidenum">
              <a:rPr lang="pt-BR" smtClean="0"/>
              <a:t>32</a:t>
            </a:fld>
            <a:endParaRPr lang="pt-BR"/>
          </a:p>
        </p:txBody>
      </p:sp>
      <p:sp>
        <p:nvSpPr>
          <p:cNvPr id="19" name="CaixaDeTexto 18">
            <a:extLst>
              <a:ext uri="{FF2B5EF4-FFF2-40B4-BE49-F238E27FC236}">
                <a16:creationId xmlns:a16="http://schemas.microsoft.com/office/drawing/2014/main" id="{CAE99650-9BBD-96FA-A8E0-297F89B6E522}"/>
              </a:ext>
            </a:extLst>
          </p:cNvPr>
          <p:cNvSpPr txBox="1"/>
          <p:nvPr/>
        </p:nvSpPr>
        <p:spPr>
          <a:xfrm>
            <a:off x="355175" y="905188"/>
            <a:ext cx="5705928"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Indicadores de inflação</a:t>
            </a:r>
            <a:endParaRPr lang="pt-BR" b="1">
              <a:highlight>
                <a:srgbClr val="FFFFFF"/>
              </a:highlight>
              <a:latin typeface="Nunito"/>
            </a:endParaRPr>
          </a:p>
        </p:txBody>
      </p:sp>
      <p:sp>
        <p:nvSpPr>
          <p:cNvPr id="9" name="CaixaDeTexto 8">
            <a:extLst>
              <a:ext uri="{FF2B5EF4-FFF2-40B4-BE49-F238E27FC236}">
                <a16:creationId xmlns:a16="http://schemas.microsoft.com/office/drawing/2014/main" id="{699F547E-23A5-8683-C041-36175108C30F}"/>
              </a:ext>
            </a:extLst>
          </p:cNvPr>
          <p:cNvSpPr txBox="1"/>
          <p:nvPr/>
        </p:nvSpPr>
        <p:spPr>
          <a:xfrm>
            <a:off x="351000" y="4099887"/>
            <a:ext cx="6156000" cy="5112000"/>
          </a:xfrm>
          <a:prstGeom prst="rect">
            <a:avLst/>
          </a:prstGeom>
          <a:noFill/>
        </p:spPr>
        <p:txBody>
          <a:bodyPr wrap="square" lIns="91440" tIns="45720" rIns="91440" bIns="45720" numCol="2" spcCol="288000" rtlCol="0" anchor="t">
            <a:spAutoFit/>
          </a:bodyPr>
          <a:lstStyle>
            <a:defPPr>
              <a:defRPr lang="en-US"/>
            </a:defPPr>
            <a:lvl1pPr indent="540385" algn="just">
              <a:lnSpc>
                <a:spcPct val="150000"/>
              </a:lnSpc>
              <a:defRPr sz="1100">
                <a:effectLst/>
                <a:ea typeface="Arial" panose="020B0604020202020204" pitchFamily="34" charset="0"/>
              </a:defRPr>
            </a:lvl1pPr>
          </a:lstStyle>
          <a:p>
            <a:r>
              <a:rPr lang="pt-BR" dirty="0">
                <a:ea typeface="Calibri"/>
                <a:cs typeface="Calibri"/>
              </a:rPr>
              <a:t>Em 2026, o INPC (Índice Nacional de Preços ao Consumidor) — indicador de inflação para famílias com renda de até cinco salários mínimos — tem projeção próxima de 5%, com amplitude estimada entre 2,25% e 11,07%. Por ser uma referência recorrente em negociações coletivas, o índice também é utilizado em reajustes salariais e em benefícios previdenciários, razão pela qual é acompanhado de perto por trabalhadores e entidades sindicais. No caso do IPP (Índice de Preços ao Produtor), os números projetados apontam alta acumulada de 9,02% para a Indústria de Transformação, com intervalo que vai de -2,45% a 22,49%. Considerando a Indústria Geral, a projeção é de 10,84%, podendo variar de -5,57% a 22,82%. Esses indicadores capturam os preços na saída das fábricas e respondem a elementos como a taxa de câmbio, o custo de insumos e a demanda externa. Cabe notar que, ao longo de 2025, o IPP apresentou deflação em diversos meses, o que sugere variações no repasse de aumentos de custos ao consumidor final e, consequentemente, pressões sobre as margens de rentabilidade industrial. Já o INCC (Índice Nacional da Construção Civil), usado para correção de contratos de obras e financiamentos imobiliários, indica avanço projetado de 6,25% em 2026, com variação entre 1,33% e 11,29%, refletindo pressões em materiais e mão de obra, mesmo após a desaceleração observada no ano anterior. Em síntese, o monitoramento dessas projeções de inflação e de preços ao produtor é relevante para o Banco Central, pois afeta a condução da política monetária — inclusive as decisões sobre a taxa Selic — e, por essa via, o comportamento do crédito, do investimento e do crescimento econômico.</a:t>
            </a:r>
            <a:endParaRPr lang="pt-BR" dirty="0"/>
          </a:p>
        </p:txBody>
      </p:sp>
      <p:sp>
        <p:nvSpPr>
          <p:cNvPr id="2" name="Google Shape;162;p5">
            <a:extLst>
              <a:ext uri="{FF2B5EF4-FFF2-40B4-BE49-F238E27FC236}">
                <a16:creationId xmlns:a16="http://schemas.microsoft.com/office/drawing/2014/main" id="{2727BD92-FBAD-42D7-55CD-4D3EB0FA1F32}"/>
              </a:ext>
            </a:extLst>
          </p:cNvPr>
          <p:cNvSpPr txBox="1"/>
          <p:nvPr/>
        </p:nvSpPr>
        <p:spPr>
          <a:xfrm>
            <a:off x="4702256" y="3663189"/>
            <a:ext cx="1760930" cy="651687"/>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1200"/>
              </a:spcBef>
              <a:spcAft>
                <a:spcPts val="1200"/>
              </a:spcAft>
              <a:buClr>
                <a:srgbClr val="000000"/>
              </a:buClr>
              <a:buSzPts val="900"/>
              <a:buFont typeface="Arial"/>
              <a:buNone/>
            </a:pPr>
            <a:r>
              <a:rPr lang="pt-BR" sz="900" b="0" i="0" u="none" strike="noStrike" cap="none">
                <a:solidFill>
                  <a:srgbClr val="092445"/>
                </a:solidFill>
                <a:ea typeface="Nunito"/>
                <a:cs typeface="Nunito"/>
                <a:sym typeface="Nunito"/>
              </a:rPr>
              <a:t>Fonte: Elaborado pelos autores;</a:t>
            </a:r>
            <a:endParaRPr sz="900" b="0" i="0" u="none" strike="noStrike" cap="none">
              <a:solidFill>
                <a:srgbClr val="092445"/>
              </a:solidFill>
              <a:ea typeface="Nunito"/>
              <a:cs typeface="Nunito"/>
              <a:sym typeface="Nunito"/>
            </a:endParaRPr>
          </a:p>
        </p:txBody>
      </p:sp>
      <p:pic>
        <p:nvPicPr>
          <p:cNvPr id="3" name="Imagem 2" descr="Interface gráfica do usuário, Histograma  O conteúdo gerado por IA pode estar incorreto.">
            <a:extLst>
              <a:ext uri="{FF2B5EF4-FFF2-40B4-BE49-F238E27FC236}">
                <a16:creationId xmlns:a16="http://schemas.microsoft.com/office/drawing/2014/main" id="{1E51FFE2-20F8-87B1-90A8-D172AABC202B}"/>
              </a:ext>
            </a:extLst>
          </p:cNvPr>
          <p:cNvPicPr>
            <a:picLocks noChangeAspect="1"/>
          </p:cNvPicPr>
          <p:nvPr/>
        </p:nvPicPr>
        <p:blipFill>
          <a:blip r:embed="rId4"/>
          <a:stretch>
            <a:fillRect/>
          </a:stretch>
        </p:blipFill>
        <p:spPr>
          <a:xfrm>
            <a:off x="356059" y="1275829"/>
            <a:ext cx="6131593" cy="2556124"/>
          </a:xfrm>
          <a:prstGeom prst="rect">
            <a:avLst/>
          </a:prstGeom>
        </p:spPr>
      </p:pic>
    </p:spTree>
    <p:extLst>
      <p:ext uri="{BB962C8B-B14F-4D97-AF65-F5344CB8AC3E}">
        <p14:creationId xmlns:p14="http://schemas.microsoft.com/office/powerpoint/2010/main" val="2107393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41FB7C87-3101-CE51-1F53-15E0A5F78BF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4ACA5528-F5D6-AF91-3C5E-1B15AE746153}"/>
              </a:ext>
            </a:extLst>
          </p:cNvPr>
          <p:cNvSpPr/>
          <p:nvPr/>
        </p:nvSpPr>
        <p:spPr>
          <a:xfrm>
            <a:off x="0" y="0"/>
            <a:ext cx="6858000" cy="628650"/>
          </a:xfrm>
          <a:prstGeom prst="rect">
            <a:avLst/>
          </a:prstGeom>
          <a:solidFill>
            <a:srgbClr val="2F68D3"/>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553D8482-816B-E861-B407-58A73634475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8E97A87-000A-0C7E-272D-AD78007303D9}"/>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805400B0-2482-AEA4-55C5-69C40E20D10E}"/>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D1EEBDD-2E06-D063-45AA-6035C234B7E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81A8286-C8BA-5E36-C399-294E5B6619DE}"/>
              </a:ext>
            </a:extLst>
          </p:cNvPr>
          <p:cNvSpPr>
            <a:spLocks noGrp="1"/>
          </p:cNvSpPr>
          <p:nvPr>
            <p:ph type="sldNum" sz="quarter" idx="12"/>
          </p:nvPr>
        </p:nvSpPr>
        <p:spPr/>
        <p:txBody>
          <a:bodyPr/>
          <a:lstStyle/>
          <a:p>
            <a:fld id="{DBDBA070-BF11-4ECF-A255-AE5E34372AE1}" type="slidenum">
              <a:rPr lang="pt-BR" smtClean="0"/>
              <a:t>33</a:t>
            </a:fld>
            <a:endParaRPr lang="pt-BR"/>
          </a:p>
        </p:txBody>
      </p:sp>
      <p:sp>
        <p:nvSpPr>
          <p:cNvPr id="9" name="CaixaDeTexto 8">
            <a:extLst>
              <a:ext uri="{FF2B5EF4-FFF2-40B4-BE49-F238E27FC236}">
                <a16:creationId xmlns:a16="http://schemas.microsoft.com/office/drawing/2014/main" id="{83E9AEF4-0418-BFE0-E6A9-063E78A9B508}"/>
              </a:ext>
            </a:extLst>
          </p:cNvPr>
          <p:cNvSpPr txBox="1"/>
          <p:nvPr/>
        </p:nvSpPr>
        <p:spPr>
          <a:xfrm>
            <a:off x="350866" y="904259"/>
            <a:ext cx="6035639" cy="369332"/>
          </a:xfrm>
          <a:prstGeom prst="rect">
            <a:avLst/>
          </a:prstGeom>
          <a:noFill/>
        </p:spPr>
        <p:txBody>
          <a:bodyPr wrap="square" lIns="91440" tIns="45720" rIns="91440" bIns="45720" anchor="t">
            <a:spAutoFit/>
          </a:bodyPr>
          <a:lstStyle/>
          <a:p>
            <a:pPr>
              <a:spcBef>
                <a:spcPts val="2400"/>
              </a:spcBef>
              <a:spcAft>
                <a:spcPts val="600"/>
              </a:spcAft>
            </a:pPr>
            <a:r>
              <a:rPr lang="pt-BR" b="1">
                <a:highlight>
                  <a:srgbClr val="FFFFFF"/>
                </a:highlight>
                <a:latin typeface="Nunito"/>
                <a:sym typeface="Nunito"/>
              </a:rPr>
              <a:t>(IPEA) Inflação por faixa de renda – Análise Trimestral</a:t>
            </a:r>
            <a:endParaRPr lang="pt-BR" b="1">
              <a:highlight>
                <a:srgbClr val="FFFFFF"/>
              </a:highlight>
              <a:latin typeface="Nunito"/>
            </a:endParaRPr>
          </a:p>
        </p:txBody>
      </p:sp>
      <p:sp>
        <p:nvSpPr>
          <p:cNvPr id="10" name="CaixaDeTexto 9">
            <a:extLst>
              <a:ext uri="{FF2B5EF4-FFF2-40B4-BE49-F238E27FC236}">
                <a16:creationId xmlns:a16="http://schemas.microsoft.com/office/drawing/2014/main" id="{FE1D4FC9-9B45-090A-F8BF-797A9963E7AF}"/>
              </a:ext>
            </a:extLst>
          </p:cNvPr>
          <p:cNvSpPr txBox="1"/>
          <p:nvPr/>
        </p:nvSpPr>
        <p:spPr>
          <a:xfrm>
            <a:off x="3763866" y="5027985"/>
            <a:ext cx="2740525" cy="338554"/>
          </a:xfrm>
          <a:prstGeom prst="rect">
            <a:avLst/>
          </a:prstGeom>
          <a:noFill/>
        </p:spPr>
        <p:txBody>
          <a:bodyPr wrap="square" lIns="91440" tIns="45720" rIns="91440" bIns="45720" anchor="t">
            <a:spAutoFit/>
          </a:bodyPr>
          <a:lstStyle/>
          <a:p>
            <a:r>
              <a:rPr lang="pt-BR" sz="800">
                <a:ea typeface="Calibri"/>
                <a:cs typeface="Times New Roman"/>
              </a:rPr>
              <a:t>Fonte: Carta de Conjuntura IBGE/IPEA. Elaboração própria.</a:t>
            </a:r>
          </a:p>
          <a:p>
            <a:endParaRPr lang="pt-BR" sz="800">
              <a:ea typeface="Calibri"/>
              <a:cs typeface="Times New Roman"/>
            </a:endParaRPr>
          </a:p>
        </p:txBody>
      </p:sp>
      <p:sp>
        <p:nvSpPr>
          <p:cNvPr id="2" name="CaixaDeTexto 1">
            <a:extLst>
              <a:ext uri="{FF2B5EF4-FFF2-40B4-BE49-F238E27FC236}">
                <a16:creationId xmlns:a16="http://schemas.microsoft.com/office/drawing/2014/main" id="{E378C46B-64E2-04DD-B067-8F99158DC0FB}"/>
              </a:ext>
            </a:extLst>
          </p:cNvPr>
          <p:cNvSpPr txBox="1"/>
          <p:nvPr/>
        </p:nvSpPr>
        <p:spPr>
          <a:xfrm>
            <a:off x="337902" y="5360346"/>
            <a:ext cx="6149405" cy="4104000"/>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cs typeface="Calibri"/>
              </a:defRPr>
            </a:lvl1pPr>
          </a:lstStyle>
          <a:p>
            <a:pPr>
              <a:defRPr/>
            </a:pPr>
            <a:r>
              <a:rPr lang="pt-BR" sz="1000">
                <a:solidFill>
                  <a:prstClr val="black"/>
                </a:solidFill>
                <a:ea typeface="Calibri"/>
              </a:rPr>
              <a:t>	Os dados de média trimestral do indicador de Inflação por faixa de renda do IPEA mostram um nível de inflação geral maior nos primeiros 3 trimestres de 2025 e uma posterior desaceleração no 4 trimestre de 2025, essa tendência se manteve no 1</a:t>
            </a:r>
            <a:r>
              <a:rPr lang="pt-BR" sz="1000">
                <a:solidFill>
                  <a:prstClr val="black"/>
                </a:solidFill>
                <a:ea typeface="+mn-lt"/>
                <a:cs typeface="+mn-lt"/>
              </a:rPr>
              <a:t>º</a:t>
            </a:r>
            <a:r>
              <a:rPr lang="pt-BR" sz="1000">
                <a:solidFill>
                  <a:prstClr val="black"/>
                </a:solidFill>
                <a:ea typeface="Calibri"/>
              </a:rPr>
              <a:t> trimestre de 2026. Enquanto a inflação das famílias de classe baixa e muito baixa apresentou aceleração durante os trimestres iniciais de 2025 e posterior desaceleração, as taxas de renda alta não apresentaram diminuição na mesma magnitude nos trimestres finais de 2025 e no primeiro de 2026.</a:t>
            </a:r>
          </a:p>
          <a:p>
            <a:pPr>
              <a:defRPr/>
            </a:pPr>
            <a:r>
              <a:rPr lang="pt-BR" sz="1000">
                <a:solidFill>
                  <a:prstClr val="black"/>
                </a:solidFill>
                <a:ea typeface="+mn-lt"/>
                <a:cs typeface="+mn-lt"/>
              </a:rPr>
              <a:t>	Nos períodos em que a inflação é pressionada por serviços, transportes (como combustíveis e passagens aéreas) e despesas relacionadas à habitação, os grupos de maior renda tendem a ser mais impactados, pois destinam parcela maior de seus gastos a esses itens. Por outro lado, as famílias de menor renda são mais sensíveis aos preços de alimentação no domicílio e energia elétrica. Como o gráfico indica uma aceleração mais intensa da inflação nas rendas mais altas durante os trimestres mais recentes, isso pode sugerir uma pressão inflacionária muito maior nos setores de transporte. Em março de 2026, o componente mais significativo da inflação do mês foi o grupo de transportes, impulsionado por custos maiores nos combustíveis devido ao conflito no Oriente Médio.</a:t>
            </a:r>
            <a:endParaRPr lang="pt-BR">
              <a:solidFill>
                <a:prstClr val="black"/>
              </a:solidFill>
              <a:ea typeface="Calibri"/>
            </a:endParaRPr>
          </a:p>
        </p:txBody>
      </p:sp>
      <p:graphicFrame>
        <p:nvGraphicFramePr>
          <p:cNvPr id="6" name="Chart 1">
            <a:extLst>
              <a:ext uri="{FF2B5EF4-FFF2-40B4-BE49-F238E27FC236}">
                <a16:creationId xmlns:a16="http://schemas.microsoft.com/office/drawing/2014/main" id="{5700BC58-FB20-1392-F706-68A3E8B5557D}"/>
              </a:ext>
            </a:extLst>
          </p:cNvPr>
          <p:cNvGraphicFramePr>
            <a:graphicFrameLocks/>
          </p:cNvGraphicFramePr>
          <p:nvPr>
            <p:extLst>
              <p:ext uri="{D42A27DB-BD31-4B8C-83A1-F6EECF244321}">
                <p14:modId xmlns:p14="http://schemas.microsoft.com/office/powerpoint/2010/main" val="3260252364"/>
              </p:ext>
            </p:extLst>
          </p:nvPr>
        </p:nvGraphicFramePr>
        <p:xfrm>
          <a:off x="405605" y="1227205"/>
          <a:ext cx="6105525" cy="371951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08536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66FB0-85F7-94F2-12EB-A6CAEC743E01}"/>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2D3D8C36-7247-B49D-66A2-3D8FD3319ED1}"/>
              </a:ext>
            </a:extLst>
          </p:cNvPr>
          <p:cNvSpPr/>
          <p:nvPr/>
        </p:nvSpPr>
        <p:spPr>
          <a:xfrm>
            <a:off x="350866" y="834214"/>
            <a:ext cx="6156069" cy="8511399"/>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177BD0B3-92AF-F90F-DE07-CDC8BCC8BB98}"/>
              </a:ext>
            </a:extLst>
          </p:cNvPr>
          <p:cNvSpPr/>
          <p:nvPr/>
        </p:nvSpPr>
        <p:spPr>
          <a:xfrm>
            <a:off x="0" y="0"/>
            <a:ext cx="6858000" cy="628650"/>
          </a:xfrm>
          <a:prstGeom prst="rect">
            <a:avLst/>
          </a:prstGeom>
          <a:solidFill>
            <a:srgbClr val="537DC9"/>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2979B7E3-E2EC-6FEC-CCB5-6F980361557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F2375E99-A450-4955-DA9B-0965F9C7EF0D}"/>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AE5C2CAA-AD7C-FD1A-ECDA-D20451A30918}"/>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88F1D4B9-BD56-0213-248E-7EE7BC69CDFB}"/>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64504EB7-2B6D-F262-9C56-F158CA020BAD}"/>
              </a:ext>
            </a:extLst>
          </p:cNvPr>
          <p:cNvSpPr>
            <a:spLocks noGrp="1"/>
          </p:cNvSpPr>
          <p:nvPr>
            <p:ph type="sldNum" sz="quarter" idx="12"/>
          </p:nvPr>
        </p:nvSpPr>
        <p:spPr/>
        <p:txBody>
          <a:bodyPr/>
          <a:lstStyle/>
          <a:p>
            <a:fld id="{DBDBA070-BF11-4ECF-A255-AE5E34372AE1}" type="slidenum">
              <a:rPr lang="pt-BR" smtClean="0"/>
              <a:t>34</a:t>
            </a:fld>
            <a:endParaRPr lang="pt-BR"/>
          </a:p>
        </p:txBody>
      </p:sp>
      <p:sp>
        <p:nvSpPr>
          <p:cNvPr id="3" name="CaixaDeTexto 2">
            <a:extLst>
              <a:ext uri="{FF2B5EF4-FFF2-40B4-BE49-F238E27FC236}">
                <a16:creationId xmlns:a16="http://schemas.microsoft.com/office/drawing/2014/main" id="{821B180E-3628-0F0F-436B-BB17C73CCEC9}"/>
              </a:ext>
            </a:extLst>
          </p:cNvPr>
          <p:cNvSpPr txBox="1"/>
          <p:nvPr/>
        </p:nvSpPr>
        <p:spPr>
          <a:xfrm>
            <a:off x="350866" y="834214"/>
            <a:ext cx="4127500"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buSzPts val="2600"/>
            </a:pPr>
            <a:r>
              <a:rPr lang="pt-BR" b="1">
                <a:highlight>
                  <a:srgbClr val="FFFFFF"/>
                </a:highlight>
                <a:latin typeface="Nunito"/>
                <a:ea typeface="Nunito"/>
                <a:cs typeface="Nunito"/>
                <a:sym typeface="Nunito"/>
              </a:rPr>
              <a:t>Glossário</a:t>
            </a:r>
            <a:endParaRPr lang="pt-BR" sz="1800" b="1">
              <a:highlight>
                <a:schemeClr val="lt1"/>
              </a:highlight>
              <a:latin typeface="Nunito"/>
              <a:ea typeface="Nunito"/>
              <a:cs typeface="Nunito"/>
              <a:sym typeface="Nunito"/>
            </a:endParaRPr>
          </a:p>
        </p:txBody>
      </p:sp>
      <p:sp>
        <p:nvSpPr>
          <p:cNvPr id="2" name="CaixaDeTexto 1">
            <a:extLst>
              <a:ext uri="{FF2B5EF4-FFF2-40B4-BE49-F238E27FC236}">
                <a16:creationId xmlns:a16="http://schemas.microsoft.com/office/drawing/2014/main" id="{1B88A1B5-4765-9669-70E1-634D0EC40717}"/>
              </a:ext>
            </a:extLst>
          </p:cNvPr>
          <p:cNvSpPr txBox="1"/>
          <p:nvPr/>
        </p:nvSpPr>
        <p:spPr>
          <a:xfrm>
            <a:off x="683141" y="2531129"/>
            <a:ext cx="5384758" cy="646331"/>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just"/>
            <a:br>
              <a:rPr lang="en-US"/>
            </a:br>
            <a:endParaRPr lang="en-US">
              <a:ea typeface="Calibri" panose="020F0502020204030204"/>
              <a:cs typeface="Calibri" panose="020F0502020204030204"/>
            </a:endParaRPr>
          </a:p>
        </p:txBody>
      </p:sp>
      <p:sp>
        <p:nvSpPr>
          <p:cNvPr id="7" name="CaixaDeTexto 6">
            <a:extLst>
              <a:ext uri="{FF2B5EF4-FFF2-40B4-BE49-F238E27FC236}">
                <a16:creationId xmlns:a16="http://schemas.microsoft.com/office/drawing/2014/main" id="{021BD8C1-E416-99D4-571A-EA05A5AC24AF}"/>
              </a:ext>
            </a:extLst>
          </p:cNvPr>
          <p:cNvSpPr txBox="1"/>
          <p:nvPr/>
        </p:nvSpPr>
        <p:spPr>
          <a:xfrm>
            <a:off x="298435" y="1197779"/>
            <a:ext cx="6166556" cy="8141332"/>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solidFill>
                  <a:srgbClr val="111111"/>
                </a:solidFill>
                <a:ea typeface="+mn-lt"/>
                <a:cs typeface="+mn-lt"/>
              </a:defRPr>
            </a:lvl1pPr>
          </a:lstStyle>
          <a:p>
            <a:pPr indent="0"/>
            <a:r>
              <a:rPr lang="pt-BR" dirty="0">
                <a:cs typeface="Arial"/>
              </a:rPr>
              <a:t>	Nas análises realizadas no Boletim de Conjuntura Industrial do Painel Econômico ESALQ-USP, a equipe usualmente utiliza indicadores, índices e estatísticas econômicas para embasar o quadro da economia no momento. Entretanto, a intenção do Boletim é proporcionar informações de fácil acesso e interpretação para nossos leitores, mesmo que eles não sejam da área mais técnica da ciência econômica. Portanto, este glossário tem como objetivo explicar alguns termos e os indicadores utilizados nesse Boletim. </a:t>
            </a:r>
            <a:endParaRPr lang="en-US" dirty="0">
              <a:cs typeface="Arial"/>
            </a:endParaRPr>
          </a:p>
          <a:p>
            <a:pPr indent="0"/>
            <a:r>
              <a:rPr lang="pt-BR" dirty="0">
                <a:cs typeface="Arial"/>
              </a:rPr>
              <a:t>	Os </a:t>
            </a:r>
            <a:r>
              <a:rPr lang="pt-BR" b="1" dirty="0">
                <a:cs typeface="Arial"/>
              </a:rPr>
              <a:t>indicadores econômicos</a:t>
            </a:r>
            <a:r>
              <a:rPr lang="pt-BR" dirty="0">
                <a:cs typeface="Arial"/>
              </a:rPr>
              <a:t> representam essencialmente dados e/ou informações "sinalizadoras" ou "apontadoras" do comportamento (individual ou integrado) das diferentes variáveis e fenômenos componentes de um sistema econômico de um país, região ou estado (LOURENÇO</a:t>
            </a:r>
            <a:r>
              <a:rPr lang="pt-BR" i="1" dirty="0">
                <a:cs typeface="Arial"/>
              </a:rPr>
              <a:t> et al.</a:t>
            </a:r>
            <a:r>
              <a:rPr lang="pt-BR" dirty="0">
                <a:cs typeface="Arial"/>
              </a:rPr>
              <a:t>, 2002). Ou seja, os indicadores econômicos são medidas de como a economia está em determinado escopo temporal. Dentre os indicadores utilizados no Boletim, destacam-se:</a:t>
            </a:r>
          </a:p>
          <a:p>
            <a:pPr indent="0"/>
            <a:r>
              <a:rPr lang="pt-BR" b="1" dirty="0">
                <a:cs typeface="Arial"/>
              </a:rPr>
              <a:t>-ICEI: </a:t>
            </a:r>
            <a:r>
              <a:rPr lang="pt-BR" dirty="0">
                <a:cs typeface="Arial"/>
              </a:rPr>
              <a:t>Pesquisa com índice de difusão (varia entre 0 e 100) que metrifica a confiança dos empresários industriais. Por meio desta, é possível identificar tendências da indústria e a propensão do empresariado à reter ou realizar novos investimentos.</a:t>
            </a:r>
          </a:p>
          <a:p>
            <a:pPr indent="0"/>
            <a:r>
              <a:rPr lang="pt-BR" b="1" dirty="0">
                <a:cs typeface="Arial"/>
              </a:rPr>
              <a:t>-Horas trabalhadas na produção: </a:t>
            </a:r>
            <a:r>
              <a:rPr lang="pt-BR" dirty="0">
                <a:cs typeface="Arial"/>
              </a:rPr>
              <a:t>Índice de base fixa (Ano 2006 = 100), mede o total de horas efetivamente trabalhadas pelo pessoal empregado na produção.</a:t>
            </a:r>
            <a:endParaRPr lang="pt-BR" b="1" dirty="0">
              <a:cs typeface="Arial"/>
            </a:endParaRPr>
          </a:p>
          <a:p>
            <a:pPr indent="0"/>
            <a:r>
              <a:rPr lang="pt-BR" b="1" dirty="0">
                <a:cs typeface="Arial"/>
              </a:rPr>
              <a:t>-Emprego industrial: </a:t>
            </a:r>
            <a:r>
              <a:rPr lang="pt-BR" dirty="0">
                <a:cs typeface="Arial"/>
              </a:rPr>
              <a:t>Índice de base fixa (Ano 2006 = 100), que mede o total de pessoas empregadas em atividade industrial, diretamente ou indiretamente ligadas ao processo produtivo.</a:t>
            </a:r>
            <a:endParaRPr lang="pt-BR" b="1" dirty="0">
              <a:cs typeface="Arial"/>
            </a:endParaRPr>
          </a:p>
          <a:p>
            <a:pPr indent="0"/>
            <a:r>
              <a:rPr lang="pt-BR" b="1" dirty="0">
                <a:cs typeface="Arial"/>
              </a:rPr>
              <a:t>-Produção de aço no Brasil: </a:t>
            </a:r>
            <a:r>
              <a:rPr lang="pt-BR" dirty="0"/>
              <a:t>Analisa o volume total de aço fabricado em determinado período, avaliando a atividade da indústria siderúrgica, a demanda por aço e o nível de produção industrial, no Brasil. O indicador utiliza dados das estatísticas mensais, publicados pelo Instituto Aço Brasil.</a:t>
            </a:r>
          </a:p>
          <a:p>
            <a:pPr indent="0"/>
            <a:r>
              <a:rPr lang="pt-BR" b="1" dirty="0">
                <a:cs typeface="Arial"/>
              </a:rPr>
              <a:t>-Comercialização de aço no Brasil: </a:t>
            </a:r>
            <a:r>
              <a:rPr lang="pt-BR" dirty="0"/>
              <a:t>Analisa a comercialização total de aço no Brasil, envolvendo principalmente o consumo aparente, vendas internas, exportações e importações de produtos siderúrgicos, possibilitando entender as dinâmicas de consumo no setor siderúrgico brasileiro e tendências futuras. O indicador utiliza dados das estíticas mensais, publicados pelo Instituto Aço Brasil.</a:t>
            </a:r>
          </a:p>
          <a:p>
            <a:pPr indent="0"/>
            <a:r>
              <a:rPr lang="pt-BR" b="1" dirty="0">
                <a:cs typeface="Arial"/>
              </a:rPr>
              <a:t>-Indicadores de inflação: </a:t>
            </a:r>
            <a:r>
              <a:rPr lang="pt-BR" dirty="0">
                <a:cs typeface="Arial"/>
              </a:rPr>
              <a:t>Indicadores como o Índice de Preços ao Consumidor Amplo (IPCA), Índice Nacional de Preços ao Consumidor e índice Geral de Preços – Disponibilidade Interna (IGP-DI), permitem acompanhar a flutuação de preços em diversos cenários.</a:t>
            </a:r>
            <a:endParaRPr lang="pt-BR" b="1" dirty="0">
              <a:cs typeface="Arial"/>
            </a:endParaRPr>
          </a:p>
          <a:p>
            <a:pPr indent="0"/>
            <a:r>
              <a:rPr lang="pt-BR" b="1" dirty="0">
                <a:cs typeface="Arial"/>
              </a:rPr>
              <a:t>-Previsão dos preços de aço: </a:t>
            </a:r>
            <a:r>
              <a:rPr lang="pt-BR" dirty="0">
                <a:cs typeface="Arial"/>
              </a:rPr>
              <a:t>Previsão do preço de nove tipos de aço, elaboradas em software estatístico pelos autores.</a:t>
            </a:r>
            <a:endParaRPr lang="en-US" dirty="0"/>
          </a:p>
        </p:txBody>
      </p:sp>
    </p:spTree>
    <p:extLst>
      <p:ext uri="{BB962C8B-B14F-4D97-AF65-F5344CB8AC3E}">
        <p14:creationId xmlns:p14="http://schemas.microsoft.com/office/powerpoint/2010/main" val="14380163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FAC1-F331-94C7-07B6-A662B4474BE3}"/>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E4923957-0923-5431-E8FE-D812EFCA298A}"/>
              </a:ext>
            </a:extLst>
          </p:cNvPr>
          <p:cNvSpPr/>
          <p:nvPr/>
        </p:nvSpPr>
        <p:spPr>
          <a:xfrm>
            <a:off x="350866" y="834214"/>
            <a:ext cx="6156069" cy="8511399"/>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292F1C59-6B88-E45B-9530-1B485F7C8523}"/>
              </a:ext>
            </a:extLst>
          </p:cNvPr>
          <p:cNvSpPr/>
          <p:nvPr/>
        </p:nvSpPr>
        <p:spPr>
          <a:xfrm>
            <a:off x="0" y="0"/>
            <a:ext cx="6858000" cy="628650"/>
          </a:xfrm>
          <a:prstGeom prst="rect">
            <a:avLst/>
          </a:prstGeom>
          <a:solidFill>
            <a:srgbClr val="537DC9"/>
          </a:solidFill>
          <a:ln>
            <a:solidFill>
              <a:srgbClr val="537D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1" name="Imagem 10">
            <a:extLst>
              <a:ext uri="{FF2B5EF4-FFF2-40B4-BE49-F238E27FC236}">
                <a16:creationId xmlns:a16="http://schemas.microsoft.com/office/drawing/2014/main" id="{1A859D7B-EC68-08B0-3E59-EF85E559FFB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46282" y="318616"/>
            <a:ext cx="801353" cy="243890"/>
          </a:xfrm>
          <a:prstGeom prst="rect">
            <a:avLst/>
          </a:prstGeom>
        </p:spPr>
      </p:pic>
      <p:sp>
        <p:nvSpPr>
          <p:cNvPr id="14" name="CaixaDeTexto 13">
            <a:extLst>
              <a:ext uri="{FF2B5EF4-FFF2-40B4-BE49-F238E27FC236}">
                <a16:creationId xmlns:a16="http://schemas.microsoft.com/office/drawing/2014/main" id="{43869DFA-7085-53AD-7EC5-4BD6ED42D6D2}"/>
              </a:ext>
            </a:extLst>
          </p:cNvPr>
          <p:cNvSpPr txBox="1"/>
          <p:nvPr/>
        </p:nvSpPr>
        <p:spPr>
          <a:xfrm>
            <a:off x="1001539" y="259318"/>
            <a:ext cx="152515" cy="369332"/>
          </a:xfrm>
          <a:prstGeom prst="rect">
            <a:avLst/>
          </a:prstGeom>
          <a:noFill/>
        </p:spPr>
        <p:txBody>
          <a:bodyPr wrap="square">
            <a:spAutoFit/>
          </a:bodyPr>
          <a:lstStyle/>
          <a:p>
            <a:r>
              <a:rPr lang="pt-BR"/>
              <a:t>|</a:t>
            </a:r>
          </a:p>
        </p:txBody>
      </p:sp>
      <p:sp>
        <p:nvSpPr>
          <p:cNvPr id="16" name="CaixaDeTexto 15">
            <a:extLst>
              <a:ext uri="{FF2B5EF4-FFF2-40B4-BE49-F238E27FC236}">
                <a16:creationId xmlns:a16="http://schemas.microsoft.com/office/drawing/2014/main" id="{EDA83B61-C076-3324-E9B7-CF6C23AFDD0A}"/>
              </a:ext>
            </a:extLst>
          </p:cNvPr>
          <p:cNvSpPr txBox="1"/>
          <p:nvPr/>
        </p:nvSpPr>
        <p:spPr>
          <a:xfrm>
            <a:off x="4603369" y="401830"/>
            <a:ext cx="3648891" cy="215444"/>
          </a:xfrm>
          <a:prstGeom prst="rect">
            <a:avLst/>
          </a:prstGeom>
          <a:noFill/>
        </p:spPr>
        <p:txBody>
          <a:bodyPr wrap="square" rtlCol="0">
            <a:spAutoFit/>
          </a:bodyPr>
          <a:lstStyle/>
          <a:p>
            <a:r>
              <a:rPr lang="pt-BR" sz="800">
                <a:latin typeface="Arial" panose="020B0604020202020204" pitchFamily="34" charset="0"/>
                <a:cs typeface="Arial" panose="020B0604020202020204" pitchFamily="34" charset="0"/>
              </a:rPr>
              <a:t>BOLETIM DE CONJUNTURA INDUSTRIAL  </a:t>
            </a:r>
          </a:p>
        </p:txBody>
      </p:sp>
      <p:pic>
        <p:nvPicPr>
          <p:cNvPr id="32" name="Imagem 31">
            <a:extLst>
              <a:ext uri="{FF2B5EF4-FFF2-40B4-BE49-F238E27FC236}">
                <a16:creationId xmlns:a16="http://schemas.microsoft.com/office/drawing/2014/main" id="{E73850F4-0382-97CD-76F0-02A2D044EB18}"/>
              </a:ext>
            </a:extLst>
          </p:cNvPr>
          <p:cNvPicPr>
            <a:picLocks noChangeAspect="1"/>
          </p:cNvPicPr>
          <p:nvPr/>
        </p:nvPicPr>
        <p:blipFill rotWithShape="1">
          <a:blip r:embed="rId3">
            <a:extLst>
              <a:ext uri="{28A0092B-C50C-407E-A947-70E740481C1C}">
                <a14:useLocalDpi xmlns:a14="http://schemas.microsoft.com/office/drawing/2010/main" val="0"/>
              </a:ext>
            </a:extLst>
          </a:blip>
          <a:srcRect b="28543"/>
          <a:stretch/>
        </p:blipFill>
        <p:spPr>
          <a:xfrm>
            <a:off x="1192154" y="193174"/>
            <a:ext cx="1029482" cy="369332"/>
          </a:xfrm>
          <a:prstGeom prst="rect">
            <a:avLst/>
          </a:prstGeom>
        </p:spPr>
      </p:pic>
      <p:sp>
        <p:nvSpPr>
          <p:cNvPr id="8" name="Espaço Reservado para Número de Slide 7">
            <a:extLst>
              <a:ext uri="{FF2B5EF4-FFF2-40B4-BE49-F238E27FC236}">
                <a16:creationId xmlns:a16="http://schemas.microsoft.com/office/drawing/2014/main" id="{E6F44C31-205F-ADE6-3D8C-D806D3529FDB}"/>
              </a:ext>
            </a:extLst>
          </p:cNvPr>
          <p:cNvSpPr>
            <a:spLocks noGrp="1"/>
          </p:cNvSpPr>
          <p:nvPr>
            <p:ph type="sldNum" sz="quarter" idx="12"/>
          </p:nvPr>
        </p:nvSpPr>
        <p:spPr/>
        <p:txBody>
          <a:bodyPr/>
          <a:lstStyle/>
          <a:p>
            <a:fld id="{DBDBA070-BF11-4ECF-A255-AE5E34372AE1}" type="slidenum">
              <a:rPr lang="pt-BR" smtClean="0"/>
              <a:t>35</a:t>
            </a:fld>
            <a:endParaRPr lang="pt-BR"/>
          </a:p>
        </p:txBody>
      </p:sp>
      <p:sp>
        <p:nvSpPr>
          <p:cNvPr id="3" name="CaixaDeTexto 2">
            <a:extLst>
              <a:ext uri="{FF2B5EF4-FFF2-40B4-BE49-F238E27FC236}">
                <a16:creationId xmlns:a16="http://schemas.microsoft.com/office/drawing/2014/main" id="{CEAF2245-C120-9338-832F-8369CB9945BD}"/>
              </a:ext>
            </a:extLst>
          </p:cNvPr>
          <p:cNvSpPr txBox="1"/>
          <p:nvPr/>
        </p:nvSpPr>
        <p:spPr>
          <a:xfrm>
            <a:off x="350866" y="834214"/>
            <a:ext cx="4127500" cy="369332"/>
          </a:xfrm>
          <a:prstGeom prst="rect">
            <a:avLst/>
          </a:prstGeom>
          <a:noFill/>
        </p:spPr>
        <p:txBody>
          <a:bodyPr wrap="square" lIns="91440" tIns="45720" rIns="91440" bIns="45720" anchor="t">
            <a:spAutoFit/>
          </a:bodyPr>
          <a:lstStyle/>
          <a:p>
            <a:pPr algn="l">
              <a:lnSpc>
                <a:spcPct val="100000"/>
              </a:lnSpc>
              <a:spcBef>
                <a:spcPts val="2400"/>
              </a:spcBef>
              <a:spcAft>
                <a:spcPts val="600"/>
              </a:spcAft>
              <a:buSzPts val="2600"/>
            </a:pPr>
            <a:r>
              <a:rPr lang="pt-BR" b="1">
                <a:highlight>
                  <a:srgbClr val="FFFFFF"/>
                </a:highlight>
                <a:latin typeface="Nunito"/>
                <a:ea typeface="Nunito"/>
                <a:cs typeface="Nunito"/>
                <a:sym typeface="Nunito"/>
              </a:rPr>
              <a:t>Glossário</a:t>
            </a:r>
            <a:endParaRPr lang="pt-BR" sz="1800" b="1">
              <a:highlight>
                <a:schemeClr val="lt1"/>
              </a:highlight>
              <a:latin typeface="Nunito"/>
              <a:ea typeface="Nunito"/>
              <a:cs typeface="Nunito"/>
              <a:sym typeface="Nunito"/>
            </a:endParaRPr>
          </a:p>
        </p:txBody>
      </p:sp>
      <p:sp>
        <p:nvSpPr>
          <p:cNvPr id="2" name="CaixaDeTexto 1">
            <a:extLst>
              <a:ext uri="{FF2B5EF4-FFF2-40B4-BE49-F238E27FC236}">
                <a16:creationId xmlns:a16="http://schemas.microsoft.com/office/drawing/2014/main" id="{587E377C-DF6B-D39E-BFAC-389F4372166C}"/>
              </a:ext>
            </a:extLst>
          </p:cNvPr>
          <p:cNvSpPr txBox="1"/>
          <p:nvPr/>
        </p:nvSpPr>
        <p:spPr>
          <a:xfrm>
            <a:off x="683141" y="2531129"/>
            <a:ext cx="5384758" cy="646331"/>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just"/>
            <a:br>
              <a:rPr lang="en-US"/>
            </a:br>
            <a:endParaRPr lang="en-US">
              <a:ea typeface="Calibri" panose="020F0502020204030204"/>
              <a:cs typeface="Calibri" panose="020F0502020204030204"/>
            </a:endParaRPr>
          </a:p>
        </p:txBody>
      </p:sp>
      <p:sp>
        <p:nvSpPr>
          <p:cNvPr id="7" name="CaixaDeTexto 6">
            <a:extLst>
              <a:ext uri="{FF2B5EF4-FFF2-40B4-BE49-F238E27FC236}">
                <a16:creationId xmlns:a16="http://schemas.microsoft.com/office/drawing/2014/main" id="{8F13605B-648B-C528-FA73-3F32590C06C6}"/>
              </a:ext>
            </a:extLst>
          </p:cNvPr>
          <p:cNvSpPr txBox="1"/>
          <p:nvPr/>
        </p:nvSpPr>
        <p:spPr>
          <a:xfrm>
            <a:off x="350865" y="1197778"/>
            <a:ext cx="6156069" cy="8388000"/>
          </a:xfrm>
          <a:prstGeom prst="rect">
            <a:avLst/>
          </a:prstGeom>
          <a:noFill/>
          <a:effectLst/>
        </p:spPr>
        <p:txBody>
          <a:bodyPr wrap="square" lIns="91440" tIns="45720" rIns="91440" bIns="45720" numCol="2" spcCol="288000" rtlCol="0" anchor="t">
            <a:spAutoFit/>
          </a:bodyPr>
          <a:lstStyle>
            <a:defPPr>
              <a:defRPr lang="en-US"/>
            </a:defPPr>
            <a:lvl1pPr indent="132715" algn="just">
              <a:lnSpc>
                <a:spcPct val="150000"/>
              </a:lnSpc>
              <a:defRPr sz="1100">
                <a:solidFill>
                  <a:srgbClr val="111111"/>
                </a:solidFill>
                <a:ea typeface="+mn-lt"/>
                <a:cs typeface="+mn-lt"/>
              </a:defRPr>
            </a:lvl1pPr>
          </a:lstStyle>
          <a:p>
            <a:pPr indent="0"/>
            <a:r>
              <a:rPr lang="pt-BR" b="1"/>
              <a:t>-Indicadores de produção: </a:t>
            </a:r>
            <a:r>
              <a:rPr lang="pt-BR" err="1"/>
              <a:t>Coletados </a:t>
            </a:r>
            <a:r>
              <a:rPr lang="pt-BR"/>
              <a:t>pelo IBGE na Pesquisa Industrial Mensal - Produção Física são uma medida aproximada da evolução de curto prazo do valor adicionado da indústria no mês de referência</a:t>
            </a:r>
          </a:p>
          <a:p>
            <a:pPr indent="0"/>
            <a:r>
              <a:rPr lang="pt-BR" b="1">
                <a:cs typeface="Arial"/>
              </a:rPr>
              <a:t>-Bens de capital: </a:t>
            </a:r>
            <a:r>
              <a:rPr lang="pt-BR">
                <a:cs typeface="Arial"/>
              </a:rPr>
              <a:t>Produção de bens que serão utilizados como meio de produção de outros bens.</a:t>
            </a:r>
            <a:endParaRPr lang="pt-BR" b="1">
              <a:cs typeface="Arial"/>
            </a:endParaRPr>
          </a:p>
          <a:p>
            <a:pPr indent="0"/>
            <a:r>
              <a:rPr lang="pt-BR" b="1">
                <a:cs typeface="Arial"/>
              </a:rPr>
              <a:t>-Bens intermediários: </a:t>
            </a:r>
            <a:r>
              <a:rPr lang="pt-BR">
                <a:cs typeface="Arial"/>
              </a:rPr>
              <a:t>Bens utilizados na produção de outros bens, mas em forma de insumos em um processo produtivo.</a:t>
            </a:r>
            <a:endParaRPr lang="pt-BR" b="1">
              <a:cs typeface="Arial"/>
            </a:endParaRPr>
          </a:p>
          <a:p>
            <a:pPr indent="0"/>
            <a:r>
              <a:rPr lang="pt-BR" b="1">
                <a:cs typeface="Arial"/>
              </a:rPr>
              <a:t>-Bens de consumo: </a:t>
            </a:r>
            <a:r>
              <a:rPr lang="pt-BR">
                <a:cs typeface="Arial"/>
              </a:rPr>
              <a:t>Bens adquiridos e utilizados diretamente pelo consumidor final, como itens de alimentação, vestuário e eletrodomésticos, entre outros.</a:t>
            </a:r>
            <a:endParaRPr lang="pt-BR" b="1">
              <a:cs typeface="Calibri"/>
            </a:endParaRPr>
          </a:p>
          <a:p>
            <a:pPr indent="0"/>
            <a:r>
              <a:rPr lang="pt-BR" b="1">
                <a:cs typeface="Calibri"/>
              </a:rPr>
              <a:t>-Formação bruta de capital fixo:</a:t>
            </a:r>
            <a:r>
              <a:rPr lang="pt-BR">
                <a:cs typeface="Calibri"/>
              </a:rPr>
              <a:t> Mede quanto as empresas aumentaram seus bens de capital, ou seja, aqueles bens que servem para produzir outros bens (IPEA, 2004). O indicador utilizado no Boletim é o indicador mensal de FBCF do IPEA, sendo encontrado nas Cartas de Conjuntura do instituto.</a:t>
            </a:r>
            <a:endParaRPr lang="en-US">
              <a:cs typeface="Calibri"/>
            </a:endParaRPr>
          </a:p>
          <a:p>
            <a:pPr indent="0"/>
            <a:r>
              <a:rPr lang="pt-BR" b="1">
                <a:cs typeface="Calibri"/>
              </a:rPr>
              <a:t>-Consumo aparente de bens industriais: </a:t>
            </a:r>
            <a:r>
              <a:rPr lang="pt-BR">
                <a:cs typeface="Calibri"/>
              </a:rPr>
              <a:t>O indicador é uma representação aproximada da demanda interna por bens industriais – definido como a parcela da produção industrial doméstica destinada ao mercado interno, acrescida das importações (IPEA). O indicador é calculado, também, pelo IPEA e pode ser encontrado na Carta de Conjuntura.</a:t>
            </a:r>
          </a:p>
          <a:p>
            <a:pPr indent="0"/>
            <a:r>
              <a:rPr lang="pt-BR" b="1">
                <a:cs typeface="Arial"/>
              </a:rPr>
              <a:t>-Utilização da capacidade instalada: </a:t>
            </a:r>
            <a:r>
              <a:rPr lang="pt-BR">
                <a:cs typeface="Arial"/>
              </a:rPr>
              <a:t>Porcentagem média da utilização da capacidade industrial instalada, podendo variar de 0% a 100%.</a:t>
            </a:r>
            <a:endParaRPr lang="pt-BR" b="1">
              <a:cs typeface="Arial"/>
            </a:endParaRPr>
          </a:p>
          <a:p>
            <a:pPr indent="0"/>
            <a:r>
              <a:rPr lang="pt-BR" b="1">
                <a:cs typeface="Arial"/>
              </a:rPr>
              <a:t>-Indicadores do preço: </a:t>
            </a:r>
            <a:r>
              <a:rPr lang="pt-BR">
                <a:cs typeface="Arial"/>
              </a:rPr>
              <a:t>Variação mensal e acumulada do preço de 26 tipos de aço, entre nacionais e importados, coletados no INFOMET.</a:t>
            </a:r>
            <a:endParaRPr lang="pt-BR" b="1">
              <a:cs typeface="Arial"/>
            </a:endParaRPr>
          </a:p>
          <a:p>
            <a:pPr indent="0"/>
            <a:r>
              <a:rPr lang="pt-BR" b="1">
                <a:cs typeface="Arial"/>
              </a:rPr>
              <a:t>-Preços dos metais (LME): </a:t>
            </a:r>
            <a:r>
              <a:rPr lang="pt-BR">
                <a:cs typeface="Arial"/>
              </a:rPr>
              <a:t>Preço de diversos metais de base negociados na bolsa de metais de Londres, coletados geralmente no último dia do mês de referência.</a:t>
            </a:r>
          </a:p>
          <a:p>
            <a:pPr indent="0"/>
            <a:r>
              <a:rPr lang="pt-BR" b="1">
                <a:cs typeface="Arial"/>
              </a:rPr>
              <a:t>-Balança comercial: </a:t>
            </a:r>
            <a:r>
              <a:rPr lang="pt-BR">
                <a:cs typeface="Arial"/>
              </a:rPr>
              <a:t>Estatísticas acerca do comércio exterior realizado pelo Brasil. O resultado da balança comercial é igual à diferença entre as exportações e importações realizadas no período, sendo negativa quando há mais importações do que exportações, e positiva quando o contrário acontece.</a:t>
            </a:r>
          </a:p>
          <a:p>
            <a:pPr indent="0"/>
            <a:r>
              <a:rPr lang="pt-BR">
                <a:cs typeface="Arial"/>
              </a:rPr>
              <a:t>Os indicadores utilizados pelo boletim são expressos de diversas maneiras, como em percentual de variação e índice, podendo ser dessazonalizados ou não:</a:t>
            </a:r>
          </a:p>
          <a:p>
            <a:pPr indent="0"/>
            <a:r>
              <a:rPr lang="pt-BR">
                <a:cs typeface="Arial"/>
              </a:rPr>
              <a:t>-</a:t>
            </a:r>
            <a:r>
              <a:rPr lang="pt-BR" b="1">
                <a:cs typeface="Arial"/>
              </a:rPr>
              <a:t>Percentual de variação: </a:t>
            </a:r>
            <a:r>
              <a:rPr lang="pt-BR">
                <a:cs typeface="Arial"/>
              </a:rPr>
              <a:t>Variação em porcentagem em relação ao período anterior. </a:t>
            </a:r>
            <a:r>
              <a:rPr lang="pt-BR" err="1">
                <a:cs typeface="Arial"/>
              </a:rPr>
              <a:t>Ex</a:t>
            </a:r>
            <a:r>
              <a:rPr lang="pt-BR">
                <a:cs typeface="Arial"/>
              </a:rPr>
              <a:t>: Indicadores de preço, Indicadores de produção.</a:t>
            </a:r>
          </a:p>
          <a:p>
            <a:pPr indent="0"/>
            <a:r>
              <a:rPr lang="pt-BR">
                <a:cs typeface="Arial"/>
              </a:rPr>
              <a:t>-</a:t>
            </a:r>
            <a:r>
              <a:rPr lang="pt-BR" b="1">
                <a:cs typeface="Arial"/>
              </a:rPr>
              <a:t>Índice: </a:t>
            </a:r>
            <a:r>
              <a:rPr lang="pt-BR">
                <a:cs typeface="Arial"/>
              </a:rPr>
              <a:t>Indicador que utiliza os dados de um período, chamado de base fixa, como ponto de partida. Geralmente, atribui-se à base fixa o número 100. Assim, um índice de 110 indicaria um aumento de 10% em relação ao período base.</a:t>
            </a:r>
          </a:p>
          <a:p>
            <a:pPr indent="0"/>
            <a:r>
              <a:rPr lang="pt-BR">
                <a:cs typeface="Arial"/>
              </a:rPr>
              <a:t>-</a:t>
            </a:r>
            <a:r>
              <a:rPr lang="pt-BR" b="1">
                <a:cs typeface="Arial"/>
              </a:rPr>
              <a:t>Dessazonalização: </a:t>
            </a:r>
            <a:r>
              <a:rPr lang="pt-BR">
                <a:cs typeface="Arial"/>
              </a:rPr>
              <a:t>Eliminação estatística do efeito de eventos sazonais, como as estações, datas comemorativas, safra, entre outros, a fim de verificar variações reais.</a:t>
            </a:r>
            <a:endParaRPr lang="en-US"/>
          </a:p>
        </p:txBody>
      </p:sp>
    </p:spTree>
    <p:extLst>
      <p:ext uri="{BB962C8B-B14F-4D97-AF65-F5344CB8AC3E}">
        <p14:creationId xmlns:p14="http://schemas.microsoft.com/office/powerpoint/2010/main" val="110184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F1320762-B4AD-A8C7-42CA-BA791CB6C3E9}"/>
              </a:ext>
            </a:extLst>
          </p:cNvPr>
          <p:cNvSpPr/>
          <p:nvPr/>
        </p:nvSpPr>
        <p:spPr>
          <a:xfrm>
            <a:off x="350866" y="906026"/>
            <a:ext cx="6156268" cy="8458200"/>
          </a:xfrm>
          <a:prstGeom prst="rect">
            <a:avLst/>
          </a:prstGeom>
          <a:noFill/>
          <a:ln>
            <a:solidFill>
              <a:schemeClr val="accent1">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Espaço Reservado para Número de Slide 3">
            <a:extLst>
              <a:ext uri="{FF2B5EF4-FFF2-40B4-BE49-F238E27FC236}">
                <a16:creationId xmlns:a16="http://schemas.microsoft.com/office/drawing/2014/main" id="{9A1A1F39-35F7-545A-23FC-38318B546BA1}"/>
              </a:ext>
            </a:extLst>
          </p:cNvPr>
          <p:cNvSpPr>
            <a:spLocks noGrp="1"/>
          </p:cNvSpPr>
          <p:nvPr>
            <p:ph type="sldNum" sz="quarter" idx="12"/>
          </p:nvPr>
        </p:nvSpPr>
        <p:spPr/>
        <p:txBody>
          <a:bodyPr/>
          <a:lstStyle/>
          <a:p>
            <a:fld id="{DBDBA070-BF11-4ECF-A255-AE5E34372AE1}" type="slidenum">
              <a:rPr lang="pt-BR" smtClean="0"/>
              <a:t>36</a:t>
            </a:fld>
            <a:endParaRPr lang="pt-BR"/>
          </a:p>
        </p:txBody>
      </p:sp>
      <p:pic>
        <p:nvPicPr>
          <p:cNvPr id="5" name="Google Shape;374;p15" descr="Homem de uniforme  Descrição gerada automaticamente">
            <a:extLst>
              <a:ext uri="{FF2B5EF4-FFF2-40B4-BE49-F238E27FC236}">
                <a16:creationId xmlns:a16="http://schemas.microsoft.com/office/drawing/2014/main" id="{D71896BB-D5AE-8444-B276-11BF1B4E6BEB}"/>
              </a:ext>
            </a:extLst>
          </p:cNvPr>
          <p:cNvPicPr preferRelativeResize="0"/>
          <p:nvPr/>
        </p:nvPicPr>
        <p:blipFill rotWithShape="1">
          <a:blip r:embed="rId3"/>
          <a:srcRect l="7988" r="7988"/>
          <a:stretch/>
        </p:blipFill>
        <p:spPr>
          <a:xfrm>
            <a:off x="0" y="361859"/>
            <a:ext cx="6858000" cy="4383314"/>
          </a:xfrm>
          <a:prstGeom prst="rect">
            <a:avLst/>
          </a:prstGeom>
          <a:noFill/>
          <a:ln>
            <a:noFill/>
          </a:ln>
        </p:spPr>
      </p:pic>
      <p:sp>
        <p:nvSpPr>
          <p:cNvPr id="6" name="Freeform 2">
            <a:extLst>
              <a:ext uri="{FF2B5EF4-FFF2-40B4-BE49-F238E27FC236}">
                <a16:creationId xmlns:a16="http://schemas.microsoft.com/office/drawing/2014/main" id="{1E2A03B3-F2B8-4406-966F-33D038CFA5F2}"/>
              </a:ext>
            </a:extLst>
          </p:cNvPr>
          <p:cNvSpPr/>
          <p:nvPr/>
        </p:nvSpPr>
        <p:spPr>
          <a:xfrm rot="10800000">
            <a:off x="0" y="-1323110"/>
            <a:ext cx="6858000" cy="2353028"/>
          </a:xfrm>
          <a:custGeom>
            <a:avLst/>
            <a:gdLst/>
            <a:ahLst/>
            <a:cxnLst/>
            <a:rect l="l" t="t" r="r" b="b"/>
            <a:pathLst>
              <a:path w="7223784" h="2383849">
                <a:moveTo>
                  <a:pt x="0" y="0"/>
                </a:moveTo>
                <a:lnTo>
                  <a:pt x="7223784" y="0"/>
                </a:lnTo>
                <a:lnTo>
                  <a:pt x="7223784" y="2383849"/>
                </a:lnTo>
                <a:lnTo>
                  <a:pt x="0" y="23838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pt-BR"/>
          </a:p>
        </p:txBody>
      </p:sp>
      <p:sp>
        <p:nvSpPr>
          <p:cNvPr id="9" name="Google Shape;375;p15">
            <a:extLst>
              <a:ext uri="{FF2B5EF4-FFF2-40B4-BE49-F238E27FC236}">
                <a16:creationId xmlns:a16="http://schemas.microsoft.com/office/drawing/2014/main" id="{0BCC9341-C65C-D48B-DC86-03C82E99400B}"/>
              </a:ext>
            </a:extLst>
          </p:cNvPr>
          <p:cNvSpPr/>
          <p:nvPr/>
        </p:nvSpPr>
        <p:spPr>
          <a:xfrm>
            <a:off x="0" y="4722710"/>
            <a:ext cx="6858000" cy="189900"/>
          </a:xfrm>
          <a:prstGeom prst="rect">
            <a:avLst/>
          </a:prstGeom>
          <a:solidFill>
            <a:srgbClr val="2F68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368;p15">
            <a:extLst>
              <a:ext uri="{FF2B5EF4-FFF2-40B4-BE49-F238E27FC236}">
                <a16:creationId xmlns:a16="http://schemas.microsoft.com/office/drawing/2014/main" id="{2B87E158-E040-C718-15DC-F4122AC1C1DC}"/>
              </a:ext>
            </a:extLst>
          </p:cNvPr>
          <p:cNvSpPr txBox="1">
            <a:spLocks/>
          </p:cNvSpPr>
          <p:nvPr/>
        </p:nvSpPr>
        <p:spPr>
          <a:xfrm>
            <a:off x="433047" y="6446169"/>
            <a:ext cx="2965982" cy="2269390"/>
          </a:xfrm>
          <a:prstGeom prst="rect">
            <a:avLst/>
          </a:prstGeom>
          <a:noFill/>
          <a:ln>
            <a:noFill/>
          </a:ln>
        </p:spPr>
        <p:txBody>
          <a:bodyPr spcFirstLastPara="1" vert="horz" wrap="square" lIns="91425" tIns="91425" rIns="91425" bIns="91425" rtlCol="0"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00000"/>
              </a:lnSpc>
              <a:spcBef>
                <a:spcPts val="100"/>
              </a:spcBef>
              <a:buSzPts val="1300"/>
              <a:buFont typeface="Arial" panose="020B0604020202020204" pitchFamily="34" charset="0"/>
              <a:buNone/>
            </a:pPr>
            <a:r>
              <a:rPr lang="pt-BR" b="1" dirty="0">
                <a:latin typeface="Nunito"/>
                <a:ea typeface="Nunito"/>
                <a:cs typeface="Nunito"/>
                <a:sym typeface="Nunito"/>
              </a:rPr>
              <a:t>Autores</a:t>
            </a:r>
          </a:p>
          <a:p>
            <a:pPr marL="0" indent="0" algn="just">
              <a:lnSpc>
                <a:spcPct val="100000"/>
              </a:lnSpc>
              <a:spcBef>
                <a:spcPts val="100"/>
              </a:spcBef>
              <a:buSzPts val="1300"/>
              <a:buFont typeface="Arial" panose="020B0604020202020204" pitchFamily="34" charset="0"/>
              <a:buNone/>
            </a:pPr>
            <a:endParaRPr lang="pt-BR" sz="900" b="1" dirty="0">
              <a:latin typeface="Nunito"/>
              <a:ea typeface="Nunito"/>
              <a:cs typeface="Nunito"/>
            </a:endParaRPr>
          </a:p>
          <a:p>
            <a:pPr marL="0" indent="0" algn="just">
              <a:lnSpc>
                <a:spcPct val="100000"/>
              </a:lnSpc>
              <a:spcBef>
                <a:spcPts val="100"/>
              </a:spcBef>
              <a:buSzPts val="1300"/>
              <a:buFont typeface="Arial" panose="020B0604020202020204" pitchFamily="34" charset="0"/>
              <a:buNone/>
            </a:pPr>
            <a:r>
              <a:rPr lang="pt-BR" sz="1100" dirty="0">
                <a:latin typeface="Nunito"/>
                <a:ea typeface="Nunito"/>
                <a:cs typeface="Nunito"/>
                <a:sym typeface="Nunito"/>
              </a:rPr>
              <a:t>Carlos Eduardo de Freitas Vian</a:t>
            </a:r>
            <a:endParaRPr lang="pt-BR" sz="1100" dirty="0">
              <a:latin typeface="Nunito"/>
              <a:ea typeface="Nunito"/>
              <a:cs typeface="Nunito"/>
            </a:endParaRPr>
          </a:p>
          <a:p>
            <a:pPr marL="0" indent="0" algn="just">
              <a:lnSpc>
                <a:spcPct val="100000"/>
              </a:lnSpc>
              <a:spcBef>
                <a:spcPts val="100"/>
              </a:spcBef>
              <a:buFont typeface="Arial" panose="020B0604020202020204" pitchFamily="34" charset="0"/>
              <a:buNone/>
            </a:pPr>
            <a:r>
              <a:rPr lang="pt-BR" sz="1100" dirty="0">
                <a:latin typeface="Nunito"/>
                <a:ea typeface="Nunito"/>
                <a:cs typeface="Nunito"/>
                <a:sym typeface="Nunito"/>
              </a:rPr>
              <a:t>Bruno </a:t>
            </a:r>
            <a:r>
              <a:rPr lang="pt-BR" sz="1100" dirty="0" err="1">
                <a:latin typeface="Nunito"/>
                <a:ea typeface="Nunito"/>
                <a:cs typeface="Nunito"/>
                <a:sym typeface="Nunito"/>
              </a:rPr>
              <a:t>Pissinato</a:t>
            </a:r>
            <a:endParaRPr lang="pt-BR" sz="1100" dirty="0">
              <a:latin typeface="Nunito"/>
              <a:ea typeface="Nunito"/>
              <a:cs typeface="Nunito"/>
            </a:endParaRPr>
          </a:p>
          <a:p>
            <a:pPr marL="0" indent="0" algn="just">
              <a:lnSpc>
                <a:spcPct val="100000"/>
              </a:lnSpc>
              <a:spcBef>
                <a:spcPts val="100"/>
              </a:spcBef>
              <a:buSzPts val="1300"/>
              <a:buFont typeface="Arial" panose="020B0604020202020204" pitchFamily="34" charset="0"/>
              <a:buNone/>
            </a:pPr>
            <a:r>
              <a:rPr lang="pt-BR" sz="1100" dirty="0">
                <a:latin typeface="Nunito"/>
                <a:ea typeface="Nunito"/>
                <a:cs typeface="Nunito"/>
              </a:rPr>
              <a:t>Carlos Henrique de Araujo</a:t>
            </a:r>
          </a:p>
          <a:p>
            <a:pPr marL="0" indent="0" algn="just">
              <a:lnSpc>
                <a:spcPct val="100000"/>
              </a:lnSpc>
              <a:spcBef>
                <a:spcPts val="100"/>
              </a:spcBef>
              <a:buFont typeface="Arial" panose="020B0604020202020204" pitchFamily="34" charset="0"/>
              <a:buNone/>
            </a:pPr>
            <a:r>
              <a:rPr lang="pt-BR" sz="1100" dirty="0">
                <a:latin typeface="Nunito"/>
              </a:rPr>
              <a:t>Guilherme </a:t>
            </a:r>
            <a:r>
              <a:rPr lang="pt-BR" sz="1100" dirty="0" err="1">
                <a:latin typeface="Nunito"/>
              </a:rPr>
              <a:t>Schrnoveber</a:t>
            </a:r>
            <a:r>
              <a:rPr lang="pt-BR" sz="1100" dirty="0">
                <a:latin typeface="Nunito"/>
              </a:rPr>
              <a:t> Assunção</a:t>
            </a:r>
          </a:p>
          <a:p>
            <a:pPr marL="0" indent="0" algn="just">
              <a:lnSpc>
                <a:spcPct val="100000"/>
              </a:lnSpc>
              <a:spcBef>
                <a:spcPts val="100"/>
              </a:spcBef>
              <a:buFont typeface="Arial" panose="020B0604020202020204" pitchFamily="34" charset="0"/>
              <a:buNone/>
            </a:pPr>
            <a:r>
              <a:rPr lang="pt-BR" sz="1100" dirty="0">
                <a:latin typeface="Nunito"/>
              </a:rPr>
              <a:t>Pedro Henrique </a:t>
            </a:r>
            <a:r>
              <a:rPr lang="pt-BR" sz="1100" dirty="0" err="1">
                <a:latin typeface="Nunito"/>
              </a:rPr>
              <a:t>Rigueto</a:t>
            </a:r>
            <a:endParaRPr lang="pt-BR" sz="1000" dirty="0">
              <a:latin typeface="Nunito"/>
            </a:endParaRPr>
          </a:p>
          <a:p>
            <a:pPr marL="0" indent="0" algn="just">
              <a:lnSpc>
                <a:spcPct val="100000"/>
              </a:lnSpc>
              <a:spcBef>
                <a:spcPts val="100"/>
              </a:spcBef>
              <a:buFont typeface="Arial" panose="020B0604020202020204" pitchFamily="34" charset="0"/>
              <a:buNone/>
            </a:pPr>
            <a:r>
              <a:rPr lang="pt-BR" sz="1100" dirty="0">
                <a:latin typeface="Nunito" pitchFamily="2" charset="0"/>
                <a:ea typeface="Nunito"/>
                <a:cs typeface="Nunito"/>
              </a:rPr>
              <a:t>Samuel </a:t>
            </a:r>
            <a:r>
              <a:rPr lang="pt-BR" sz="1100" dirty="0" err="1">
                <a:latin typeface="Nunito" pitchFamily="2" charset="0"/>
                <a:ea typeface="Nunito"/>
                <a:cs typeface="Nunito"/>
              </a:rPr>
              <a:t>Darck</a:t>
            </a:r>
            <a:endParaRPr lang="pt-BR" sz="1100" dirty="0">
              <a:latin typeface="Nunito" pitchFamily="2" charset="0"/>
              <a:ea typeface="Nunito"/>
              <a:cs typeface="Nunito"/>
            </a:endParaRPr>
          </a:p>
          <a:p>
            <a:pPr marL="0" indent="0" algn="just">
              <a:lnSpc>
                <a:spcPct val="100000"/>
              </a:lnSpc>
              <a:spcBef>
                <a:spcPts val="100"/>
              </a:spcBef>
              <a:buFont typeface="Arial" panose="020B0604020202020204" pitchFamily="34" charset="0"/>
              <a:buNone/>
            </a:pPr>
            <a:r>
              <a:rPr lang="pt-BR" sz="1100" dirty="0">
                <a:latin typeface="Nunito" pitchFamily="2" charset="0"/>
                <a:ea typeface="Nunito"/>
                <a:cs typeface="Nunito"/>
              </a:rPr>
              <a:t>Victório Meireles </a:t>
            </a:r>
            <a:r>
              <a:rPr lang="pt-BR" sz="1100" dirty="0" err="1">
                <a:latin typeface="Nunito" pitchFamily="2" charset="0"/>
                <a:ea typeface="Nunito"/>
                <a:cs typeface="Nunito"/>
              </a:rPr>
              <a:t>Clais</a:t>
            </a:r>
            <a:endParaRPr lang="pt-BR" sz="1100" dirty="0">
              <a:latin typeface="Nunito" pitchFamily="2" charset="0"/>
              <a:ea typeface="Nunito"/>
              <a:cs typeface="Nunito"/>
            </a:endParaRPr>
          </a:p>
        </p:txBody>
      </p:sp>
      <p:sp>
        <p:nvSpPr>
          <p:cNvPr id="11" name="Google Shape;369;p15">
            <a:extLst>
              <a:ext uri="{FF2B5EF4-FFF2-40B4-BE49-F238E27FC236}">
                <a16:creationId xmlns:a16="http://schemas.microsoft.com/office/drawing/2014/main" id="{F79962DA-7477-671D-6342-0600A0E79F5C}"/>
              </a:ext>
            </a:extLst>
          </p:cNvPr>
          <p:cNvSpPr txBox="1"/>
          <p:nvPr/>
        </p:nvSpPr>
        <p:spPr>
          <a:xfrm>
            <a:off x="3399029" y="6446169"/>
            <a:ext cx="2965982" cy="85405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100"/>
              </a:spcBef>
              <a:spcAft>
                <a:spcPts val="0"/>
              </a:spcAft>
              <a:buClr>
                <a:srgbClr val="000000"/>
              </a:buClr>
              <a:buSzPts val="1300"/>
              <a:buFont typeface="Arial"/>
              <a:buNone/>
            </a:pPr>
            <a:r>
              <a:rPr lang="pt-BR" sz="2100" b="1" i="0" u="none" strike="noStrike" cap="none" dirty="0">
                <a:latin typeface="Nunito"/>
                <a:ea typeface="Nunito"/>
                <a:cs typeface="Nunito"/>
                <a:sym typeface="Nunito"/>
              </a:rPr>
              <a:t>SIMESPI</a:t>
            </a:r>
          </a:p>
          <a:p>
            <a:pPr marL="0" marR="0" lvl="0" indent="0" algn="just" rtl="0">
              <a:lnSpc>
                <a:spcPct val="100000"/>
              </a:lnSpc>
              <a:spcBef>
                <a:spcPts val="100"/>
              </a:spcBef>
              <a:spcAft>
                <a:spcPts val="0"/>
              </a:spcAft>
              <a:buClr>
                <a:srgbClr val="000000"/>
              </a:buClr>
              <a:buSzPts val="1300"/>
              <a:buFont typeface="Arial"/>
              <a:buNone/>
            </a:pPr>
            <a:endParaRPr sz="900" b="1" i="0" u="none" strike="noStrike" cap="none" dirty="0">
              <a:latin typeface="Nunito"/>
              <a:ea typeface="Nunito"/>
              <a:cs typeface="Nunito"/>
              <a:sym typeface="Nunito"/>
            </a:endParaRPr>
          </a:p>
          <a:p>
            <a:pPr marL="0" marR="0" lvl="0" indent="0" algn="just" rtl="0">
              <a:lnSpc>
                <a:spcPct val="100000"/>
              </a:lnSpc>
              <a:spcBef>
                <a:spcPts val="100"/>
              </a:spcBef>
              <a:spcAft>
                <a:spcPts val="0"/>
              </a:spcAft>
              <a:buClr>
                <a:srgbClr val="000000"/>
              </a:buClr>
              <a:buSzPts val="1100"/>
              <a:buFont typeface="Arial"/>
              <a:buNone/>
            </a:pPr>
            <a:r>
              <a:rPr lang="pt-BR" sz="1100" b="0" i="0" u="none" strike="noStrike" cap="none">
                <a:latin typeface="Nunito"/>
                <a:ea typeface="Nunito"/>
                <a:cs typeface="Nunito"/>
                <a:sym typeface="Nunito"/>
              </a:rPr>
              <a:t>Gestão</a:t>
            </a:r>
            <a:endParaRPr sz="1100" b="0" i="0" u="none" strike="noStrike" cap="none" dirty="0">
              <a:latin typeface="Nunito"/>
              <a:ea typeface="Nunito"/>
              <a:cs typeface="Nunito"/>
              <a:sym typeface="Nunito"/>
            </a:endParaRPr>
          </a:p>
        </p:txBody>
      </p:sp>
      <p:sp>
        <p:nvSpPr>
          <p:cNvPr id="12" name="Google Shape;370;p15">
            <a:extLst>
              <a:ext uri="{FF2B5EF4-FFF2-40B4-BE49-F238E27FC236}">
                <a16:creationId xmlns:a16="http://schemas.microsoft.com/office/drawing/2014/main" id="{AA515FA5-232B-775C-E92D-7AEF89DAA2B5}"/>
              </a:ext>
            </a:extLst>
          </p:cNvPr>
          <p:cNvSpPr txBox="1"/>
          <p:nvPr/>
        </p:nvSpPr>
        <p:spPr>
          <a:xfrm>
            <a:off x="443253" y="5075340"/>
            <a:ext cx="5981700" cy="1361881"/>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100"/>
              </a:spcBef>
              <a:spcAft>
                <a:spcPts val="0"/>
              </a:spcAft>
              <a:buClr>
                <a:srgbClr val="000000"/>
              </a:buClr>
              <a:buSzPts val="1300"/>
              <a:buFont typeface="Arial"/>
              <a:buNone/>
            </a:pPr>
            <a:r>
              <a:rPr lang="pt-BR" sz="2100" b="1" i="0" u="none" strike="noStrike" cap="none">
                <a:latin typeface="Nunito"/>
                <a:ea typeface="Nunito"/>
                <a:cs typeface="Nunito"/>
                <a:sym typeface="Nunito"/>
              </a:rPr>
              <a:t>Expediente </a:t>
            </a:r>
          </a:p>
          <a:p>
            <a:pPr marL="0" marR="0" lvl="0" indent="0" algn="just" rtl="0">
              <a:lnSpc>
                <a:spcPct val="100000"/>
              </a:lnSpc>
              <a:spcBef>
                <a:spcPts val="100"/>
              </a:spcBef>
              <a:spcAft>
                <a:spcPts val="0"/>
              </a:spcAft>
              <a:buClr>
                <a:srgbClr val="000000"/>
              </a:buClr>
              <a:buSzPts val="1300"/>
              <a:buFont typeface="Arial"/>
              <a:buNone/>
            </a:pPr>
            <a:endParaRPr lang="pt-BR" sz="900" b="1" i="0" u="none" strike="noStrike" cap="none">
              <a:latin typeface="Nunito"/>
              <a:ea typeface="Nunito"/>
              <a:cs typeface="Nunito"/>
              <a:sym typeface="Nunito"/>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a:ln>
                  <a:noFill/>
                </a:ln>
                <a:effectLst/>
                <a:uLnTx/>
                <a:uFillTx/>
                <a:ea typeface="+mn-ea"/>
                <a:cs typeface="Arial" panose="020B0604020202020204" pitchFamily="34" charset="0"/>
              </a:rPr>
              <a:t>O Boletim de Conjuntura Industrial de Piracicaba é elaborado mensalmente pelo Grupo de Extensão em Economia e Gestão e Desenvolvimento sustentável – GEEDES e Grupo de Extensão e Pesquisa em História e Evolução da Agricultura e dos Complexos Agroindustriais – GEPHAC.</a:t>
            </a:r>
          </a:p>
          <a:p>
            <a:pPr marL="0" marR="0" lvl="0" indent="0" algn="just" rtl="0">
              <a:lnSpc>
                <a:spcPct val="100000"/>
              </a:lnSpc>
              <a:spcBef>
                <a:spcPts val="100"/>
              </a:spcBef>
              <a:spcAft>
                <a:spcPts val="0"/>
              </a:spcAft>
              <a:buClr>
                <a:srgbClr val="000000"/>
              </a:buClr>
              <a:buSzPts val="1100"/>
              <a:buFont typeface="Arial"/>
              <a:buNone/>
            </a:pPr>
            <a:endParaRPr lang="pt-BR" sz="1100" b="0" i="0" u="none" strike="noStrike" cap="none">
              <a:latin typeface="Nunito"/>
              <a:ea typeface="Nunito"/>
              <a:cs typeface="Nunito"/>
              <a:sym typeface="Nunito"/>
            </a:endParaRPr>
          </a:p>
        </p:txBody>
      </p:sp>
      <p:sp>
        <p:nvSpPr>
          <p:cNvPr id="14" name="Freeform 6">
            <a:extLst>
              <a:ext uri="{FF2B5EF4-FFF2-40B4-BE49-F238E27FC236}">
                <a16:creationId xmlns:a16="http://schemas.microsoft.com/office/drawing/2014/main" id="{D1ED0886-0642-2429-4886-8988C26C4F47}"/>
              </a:ext>
            </a:extLst>
          </p:cNvPr>
          <p:cNvSpPr/>
          <p:nvPr/>
        </p:nvSpPr>
        <p:spPr>
          <a:xfrm>
            <a:off x="0" y="-839086"/>
            <a:ext cx="6858000" cy="899160"/>
          </a:xfrm>
          <a:custGeom>
            <a:avLst/>
            <a:gdLst/>
            <a:ahLst/>
            <a:cxnLst/>
            <a:rect l="l" t="t" r="r" b="b"/>
            <a:pathLst>
              <a:path w="8154980" h="1173807">
                <a:moveTo>
                  <a:pt x="0" y="0"/>
                </a:moveTo>
                <a:lnTo>
                  <a:pt x="8154981" y="0"/>
                </a:lnTo>
                <a:lnTo>
                  <a:pt x="8154981" y="1173807"/>
                </a:lnTo>
                <a:lnTo>
                  <a:pt x="0" y="1173807"/>
                </a:lnTo>
                <a:lnTo>
                  <a:pt x="0" y="0"/>
                </a:lnTo>
                <a:close/>
              </a:path>
            </a:pathLst>
          </a:custGeom>
          <a:blipFill>
            <a:blip r:embed="rId6">
              <a:alphaModFix amt="84000"/>
            </a:blip>
            <a:stretch>
              <a:fillRect t="-53401" b="-52781"/>
            </a:stretch>
          </a:blipFill>
        </p:spPr>
        <p:txBody>
          <a:bodyPr/>
          <a:lstStyle/>
          <a:p>
            <a:endParaRPr lang="pt-BR"/>
          </a:p>
        </p:txBody>
      </p:sp>
      <p:sp>
        <p:nvSpPr>
          <p:cNvPr id="13" name="Freeform 6">
            <a:extLst>
              <a:ext uri="{FF2B5EF4-FFF2-40B4-BE49-F238E27FC236}">
                <a16:creationId xmlns:a16="http://schemas.microsoft.com/office/drawing/2014/main" id="{B94EC208-AD24-0DFA-4E1F-C892D359B2C3}"/>
              </a:ext>
            </a:extLst>
          </p:cNvPr>
          <p:cNvSpPr/>
          <p:nvPr/>
        </p:nvSpPr>
        <p:spPr>
          <a:xfrm>
            <a:off x="1694976" y="-590630"/>
            <a:ext cx="1268812" cy="546180"/>
          </a:xfrm>
          <a:custGeom>
            <a:avLst/>
            <a:gdLst/>
            <a:ahLst/>
            <a:cxnLst/>
            <a:rect l="l" t="t" r="r" b="b"/>
            <a:pathLst>
              <a:path w="1745062" h="732088">
                <a:moveTo>
                  <a:pt x="0" y="0"/>
                </a:moveTo>
                <a:lnTo>
                  <a:pt x="1745062" y="0"/>
                </a:lnTo>
                <a:lnTo>
                  <a:pt x="1745062" y="732087"/>
                </a:lnTo>
                <a:lnTo>
                  <a:pt x="0" y="732087"/>
                </a:lnTo>
                <a:lnTo>
                  <a:pt x="0" y="0"/>
                </a:lnTo>
                <a:close/>
              </a:path>
            </a:pathLst>
          </a:custGeom>
          <a:blipFill>
            <a:blip r:embed="rId7"/>
            <a:stretch>
              <a:fillRect b="-22868"/>
            </a:stretch>
          </a:blipFill>
        </p:spPr>
        <p:txBody>
          <a:bodyPr/>
          <a:lstStyle/>
          <a:p>
            <a:endParaRPr lang="pt-BR"/>
          </a:p>
        </p:txBody>
      </p:sp>
      <p:sp>
        <p:nvSpPr>
          <p:cNvPr id="15" name="Freeform 7">
            <a:extLst>
              <a:ext uri="{FF2B5EF4-FFF2-40B4-BE49-F238E27FC236}">
                <a16:creationId xmlns:a16="http://schemas.microsoft.com/office/drawing/2014/main" id="{E06A0FBF-D4E6-41B5-06CC-890677555FE2}"/>
              </a:ext>
            </a:extLst>
          </p:cNvPr>
          <p:cNvSpPr/>
          <p:nvPr/>
        </p:nvSpPr>
        <p:spPr>
          <a:xfrm>
            <a:off x="112327" y="-533400"/>
            <a:ext cx="1470322" cy="469900"/>
          </a:xfrm>
          <a:custGeom>
            <a:avLst/>
            <a:gdLst/>
            <a:ahLst/>
            <a:cxnLst/>
            <a:rect l="l" t="t" r="r" b="b"/>
            <a:pathLst>
              <a:path w="2026315" h="709210">
                <a:moveTo>
                  <a:pt x="0" y="0"/>
                </a:moveTo>
                <a:lnTo>
                  <a:pt x="2026316" y="0"/>
                </a:lnTo>
                <a:lnTo>
                  <a:pt x="2026316" y="709210"/>
                </a:lnTo>
                <a:lnTo>
                  <a:pt x="0" y="709210"/>
                </a:lnTo>
                <a:lnTo>
                  <a:pt x="0" y="0"/>
                </a:lnTo>
                <a:close/>
              </a:path>
            </a:pathLst>
          </a:custGeom>
          <a:blipFill>
            <a:blip r:embed="rId8"/>
            <a:stretch>
              <a:fillRect/>
            </a:stretch>
          </a:blipFill>
        </p:spPr>
        <p:txBody>
          <a:bodyPr/>
          <a:lstStyle/>
          <a:p>
            <a:endParaRPr lang="pt-BR"/>
          </a:p>
        </p:txBody>
      </p:sp>
      <p:pic>
        <p:nvPicPr>
          <p:cNvPr id="23" name="Imagem 22">
            <a:extLst>
              <a:ext uri="{FF2B5EF4-FFF2-40B4-BE49-F238E27FC236}">
                <a16:creationId xmlns:a16="http://schemas.microsoft.com/office/drawing/2014/main" id="{6A032A6C-772A-FC3A-3AA6-4A70CB8DCBE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78801" y="8448111"/>
            <a:ext cx="1946152" cy="869084"/>
          </a:xfrm>
          <a:prstGeom prst="rect">
            <a:avLst/>
          </a:prstGeom>
        </p:spPr>
      </p:pic>
    </p:spTree>
    <p:extLst>
      <p:ext uri="{BB962C8B-B14F-4D97-AF65-F5344CB8AC3E}">
        <p14:creationId xmlns:p14="http://schemas.microsoft.com/office/powerpoint/2010/main" val="786870795"/>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137</TotalTime>
  <Words>8935</Words>
  <Application>Microsoft Office PowerPoint</Application>
  <PresentationFormat>Papel A4 (210 x 297 mm)</PresentationFormat>
  <Paragraphs>597</Paragraphs>
  <Slides>36</Slides>
  <Notes>3</Notes>
  <HiddenSlides>0</HiddenSlides>
  <MMClips>0</MMClips>
  <ScaleCrop>false</ScaleCrop>
  <HeadingPairs>
    <vt:vector size="4" baseType="variant">
      <vt:variant>
        <vt:lpstr>Tema</vt:lpstr>
      </vt:variant>
      <vt:variant>
        <vt:i4>1</vt:i4>
      </vt:variant>
      <vt:variant>
        <vt:lpstr>Títulos de slides</vt:lpstr>
      </vt:variant>
      <vt:variant>
        <vt:i4>36</vt:i4>
      </vt:variant>
    </vt:vector>
  </HeadingPairs>
  <TitlesOfParts>
    <vt:vector size="37"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Hebrom Bispo</dc:creator>
  <cp:lastModifiedBy>Bruno Pissinato</cp:lastModifiedBy>
  <cp:revision>8</cp:revision>
  <dcterms:created xsi:type="dcterms:W3CDTF">2023-07-11T18:27:02Z</dcterms:created>
  <dcterms:modified xsi:type="dcterms:W3CDTF">2026-09-02T20:12:12Z</dcterms:modified>
</cp:coreProperties>
</file>